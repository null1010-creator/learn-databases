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99" r:id="rId2"/>
    <p:sldId id="399" r:id="rId3"/>
    <p:sldId id="431" r:id="rId4"/>
    <p:sldId id="543" r:id="rId5"/>
    <p:sldId id="544" r:id="rId6"/>
    <p:sldId id="545" r:id="rId7"/>
    <p:sldId id="546" r:id="rId8"/>
    <p:sldId id="547" r:id="rId9"/>
    <p:sldId id="548" r:id="rId10"/>
    <p:sldId id="549" r:id="rId11"/>
    <p:sldId id="550" r:id="rId12"/>
    <p:sldId id="552" r:id="rId13"/>
    <p:sldId id="551" r:id="rId14"/>
    <p:sldId id="553" r:id="rId15"/>
    <p:sldId id="542" r:id="rId16"/>
  </p:sldIdLst>
  <p:sldSz cx="9144000" cy="5143500" type="screen16x9"/>
  <p:notesSz cx="6858000" cy="9144000"/>
  <p:embeddedFontLst>
    <p:embeddedFont>
      <p:font typeface="方正粗黑宋简体" panose="02000000000000000000" pitchFamily="2" charset="-122"/>
      <p:regular r:id="rId19"/>
    </p:embeddedFont>
    <p:embeddedFont>
      <p:font typeface="汉仪糯米团简" panose="02010600030101010101" charset="-122"/>
      <p:regular r:id="rId20"/>
    </p:embeddedFont>
    <p:embeddedFont>
      <p:font typeface="微软雅黑" panose="020B0503020204020204" pitchFamily="34" charset="-122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Helvetica" panose="020B0604020202020204" pitchFamily="34" charset="0"/>
      <p:regular r:id="rId27"/>
      <p:bold r:id="rId28"/>
      <p:italic r:id="rId29"/>
      <p:boldItalic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方正姚体" panose="02010601030101010101" pitchFamily="2" charset="-122"/>
      <p:regular r:id="rId33"/>
    </p:embeddedFont>
    <p:embeddedFont>
      <p:font typeface="华文彩云" panose="02010800040101010101" pitchFamily="2" charset="-122"/>
      <p:regular r:id="rId34"/>
    </p:embeddedFont>
    <p:embeddedFont>
      <p:font typeface="华文琥珀" panose="02010800040101010101" pitchFamily="2" charset="-122"/>
      <p:regular r:id="rId35"/>
    </p:embeddedFont>
    <p:embeddedFont>
      <p:font typeface="华文楷体" panose="02010600040101010101" pitchFamily="2" charset="-122"/>
      <p:regular r:id="rId36"/>
    </p:embeddedFont>
  </p:embeddedFontLst>
  <p:custDataLst>
    <p:tags r:id="rId37"/>
  </p:custData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1" clrIdx="0"/>
  <p:cmAuthor id="2" name="陈波" initials="陈波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3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7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 userDrawn="1">
            <p:custDataLst>
              <p:tags r:id="rId1"/>
            </p:custDataLst>
          </p:nvPr>
        </p:nvSpPr>
        <p:spPr>
          <a:xfrm>
            <a:off x="6858000" y="0"/>
            <a:ext cx="2283714" cy="3010662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Ellipse 3 (Stroke)_#color-2050&amp;12715"/>
          <p:cNvSpPr/>
          <p:nvPr userDrawn="1">
            <p:custDataLst>
              <p:tags r:id="rId2"/>
            </p:custDataLst>
          </p:nvPr>
        </p:nvSpPr>
        <p:spPr>
          <a:xfrm>
            <a:off x="4638294" y="1453896"/>
            <a:ext cx="4505706" cy="3689604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3"/>
            </p:custDataLst>
          </p:nvPr>
        </p:nvSpPr>
        <p:spPr>
          <a:xfrm>
            <a:off x="3984498" y="3435858"/>
            <a:ext cx="473202" cy="1488186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4"/>
            </p:custDataLst>
          </p:nvPr>
        </p:nvSpPr>
        <p:spPr>
          <a:xfrm>
            <a:off x="5054346" y="1460754"/>
            <a:ext cx="4087368" cy="1645920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309878" cy="124129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654844" y="1358265"/>
            <a:ext cx="4324350" cy="1557338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05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628650" y="3171825"/>
            <a:ext cx="1991201" cy="4548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1"/>
            </p:custDataLst>
          </p:nvPr>
        </p:nvSpPr>
        <p:spPr>
          <a:xfrm>
            <a:off x="2462022" y="0"/>
            <a:ext cx="1728216" cy="5143500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504438" cy="5143500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3"/>
            </p:custDataLst>
          </p:nvPr>
        </p:nvSpPr>
        <p:spPr>
          <a:xfrm>
            <a:off x="0" y="2969514"/>
            <a:ext cx="3435858" cy="2173986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35644" y="2079331"/>
            <a:ext cx="1993511" cy="984909"/>
          </a:xfrm>
        </p:spPr>
        <p:txBody>
          <a:bodyPr wrap="square" anchor="ctr" anchorCtr="0">
            <a:normAutofit/>
          </a:bodyPr>
          <a:lstStyle>
            <a:lvl1pPr>
              <a:defRPr sz="36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1"/>
            </p:custDataLst>
          </p:nvPr>
        </p:nvSpPr>
        <p:spPr>
          <a:xfrm>
            <a:off x="1143" y="0"/>
            <a:ext cx="9141714" cy="51435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106674" cy="3408426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3"/>
            </p:custDataLst>
          </p:nvPr>
        </p:nvSpPr>
        <p:spPr>
          <a:xfrm>
            <a:off x="0" y="1049274"/>
            <a:ext cx="4574286" cy="4094226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4"/>
            </p:custDataLst>
          </p:nvPr>
        </p:nvSpPr>
        <p:spPr>
          <a:xfrm>
            <a:off x="0" y="1049274"/>
            <a:ext cx="4155948" cy="1645920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4970621" y="2352675"/>
            <a:ext cx="3545205" cy="1487329"/>
          </a:xfrm>
        </p:spPr>
        <p:txBody>
          <a:bodyPr wrap="square" anchor="t">
            <a:normAutofit/>
          </a:bodyPr>
          <a:lstStyle>
            <a:lvl1pPr algn="l">
              <a:defRPr sz="337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364808" y="2452238"/>
            <a:ext cx="3845052" cy="2069658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92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521970" y="976313"/>
            <a:ext cx="3992880" cy="3656888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29150" y="976313"/>
            <a:ext cx="3992880" cy="3656888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2197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n-ea"/>
                <a:ea typeface="+mn-ea"/>
                <a:cs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52197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>
          <a:xfrm>
            <a:off x="462915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n-ea"/>
                <a:ea typeface="+mn-ea"/>
                <a:cs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462915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1970" y="270034"/>
            <a:ext cx="8101489" cy="4363403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521970" y="97631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n-lt"/>
                <a:ea typeface="+mn-lt"/>
                <a:cs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1714" cy="51435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50000"/>
            </a:schemeClr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2"/>
            </p:custDataLst>
          </p:nvPr>
        </p:nvSpPr>
        <p:spPr>
          <a:xfrm>
            <a:off x="6668262" y="0"/>
            <a:ext cx="2475738" cy="2907792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3"/>
            </p:custDataLst>
          </p:nvPr>
        </p:nvSpPr>
        <p:spPr>
          <a:xfrm>
            <a:off x="6947154" y="1042416"/>
            <a:ext cx="2194560" cy="1858518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4"/>
            </p:custDataLst>
          </p:nvPr>
        </p:nvSpPr>
        <p:spPr>
          <a:xfrm>
            <a:off x="8037576" y="2866644"/>
            <a:ext cx="1104138" cy="630936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5"/>
            </p:custDataLst>
          </p:nvPr>
        </p:nvSpPr>
        <p:spPr>
          <a:xfrm>
            <a:off x="0" y="2571750"/>
            <a:ext cx="2441448" cy="2571750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6"/>
            </p:custDataLst>
          </p:nvPr>
        </p:nvSpPr>
        <p:spPr>
          <a:xfrm>
            <a:off x="628650" y="342900"/>
            <a:ext cx="7886250" cy="22491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0"/>
            </p:custDataLst>
          </p:nvPr>
        </p:nvSpPr>
        <p:spPr>
          <a:xfrm>
            <a:off x="628650" y="2931263"/>
            <a:ext cx="7886250" cy="93042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CA376F-0FB5-4F3D-85ED-EBB6E2487A89}" type="datetime1">
              <a:rPr lang="zh-CN" altLang="en-US"/>
              <a:pPr>
                <a:defRPr/>
              </a:pPr>
              <a:t>2024-12-22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3EC0BA-F120-4B15-A79B-5375E013FB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101278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309878" cy="124129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/>
          </a:p>
        </p:txBody>
      </p:sp>
      <p:sp>
        <p:nvSpPr>
          <p:cNvPr id="8" name="Ellipse 3 (Stroke)_#color-2050&amp;12745"/>
          <p:cNvSpPr/>
          <p:nvPr userDrawn="1">
            <p:custDataLst>
              <p:tags r:id="rId15"/>
            </p:custDataLst>
          </p:nvPr>
        </p:nvSpPr>
        <p:spPr>
          <a:xfrm>
            <a:off x="8453438" y="4329589"/>
            <a:ext cx="688658" cy="81343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6"/>
            </p:custDataLst>
          </p:nvPr>
        </p:nvSpPr>
        <p:spPr>
          <a:xfrm>
            <a:off x="8572024" y="4329589"/>
            <a:ext cx="570071" cy="455295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2024-12-22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6" r:id="rId12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bm_hjy@cqu.edu.c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microsoft.com/office/2007/relationships/hdphoto" Target="../media/hdphoto6.wdp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microsoft.com/office/2007/relationships/hdphoto" Target="../media/hdphoto6.wdp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microsoft.com/office/2007/relationships/hdphoto" Target="../media/hdphoto11.wdp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33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336215" y="1561750"/>
            <a:ext cx="2828074" cy="50783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defRPr/>
            </a:pPr>
            <a:r>
              <a:rPr lang="zh-CN" altLang="en-US" sz="27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C++程序设计</a:t>
            </a:r>
            <a:endParaRPr lang="en-US" altLang="zh-CN" sz="27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9" name="Picture 1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493292" y="1648079"/>
            <a:ext cx="2893219" cy="1920378"/>
          </a:xfrm>
          <a:prstGeom prst="rect">
            <a:avLst/>
          </a:prstGeom>
        </p:spPr>
      </p:pic>
      <p:sp>
        <p:nvSpPr>
          <p:cNvPr id="10" name="文本框 62"/>
          <p:cNvSpPr txBox="1"/>
          <p:nvPr/>
        </p:nvSpPr>
        <p:spPr>
          <a:xfrm>
            <a:off x="4455820" y="2712740"/>
            <a:ext cx="2372422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75" spc="21" dirty="0">
                <a:solidFill>
                  <a:srgbClr val="9933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开课学院： 计算机学院</a:t>
            </a:r>
          </a:p>
        </p:txBody>
      </p:sp>
      <p:sp>
        <p:nvSpPr>
          <p:cNvPr id="11" name="文本框 30"/>
          <p:cNvSpPr txBox="1"/>
          <p:nvPr/>
        </p:nvSpPr>
        <p:spPr>
          <a:xfrm>
            <a:off x="4455820" y="2296645"/>
            <a:ext cx="2708468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75" spc="21" dirty="0">
                <a:solidFill>
                  <a:srgbClr val="993300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任课教师： 何静媛</a:t>
            </a:r>
          </a:p>
        </p:txBody>
      </p:sp>
      <p:sp>
        <p:nvSpPr>
          <p:cNvPr id="12" name="文本框 48"/>
          <p:cNvSpPr txBox="1"/>
          <p:nvPr/>
        </p:nvSpPr>
        <p:spPr>
          <a:xfrm>
            <a:off x="4458666" y="3213037"/>
            <a:ext cx="325304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75" spc="21" dirty="0">
                <a:solidFill>
                  <a:srgbClr val="003399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邮箱： </a:t>
            </a:r>
            <a:r>
              <a:rPr lang="en-US" altLang="zh-CN" sz="1575" spc="21" dirty="0">
                <a:solidFill>
                  <a:srgbClr val="003399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  <a:hlinkClick r:id="rId3"/>
              </a:rPr>
              <a:t>ibm_</a:t>
            </a:r>
            <a:r>
              <a:rPr lang="en-US" altLang="zh-CN" sz="1575" spc="21">
                <a:solidFill>
                  <a:srgbClr val="003399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  <a:hlinkClick r:id="rId3"/>
              </a:rPr>
              <a:t>hjy@cqu.edu.cn</a:t>
            </a:r>
            <a:endParaRPr lang="en-US" altLang="zh-CN" sz="1575" spc="21">
              <a:solidFill>
                <a:srgbClr val="003399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Arial" panose="020B0604020202020204" pitchFamily="34" charset="0"/>
            </a:endParaRPr>
          </a:p>
          <a:p>
            <a:endParaRPr lang="zh-CN" altLang="en-US" sz="1575" spc="21" dirty="0">
              <a:solidFill>
                <a:srgbClr val="003399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文本框 76"/>
          <p:cNvSpPr txBox="1"/>
          <p:nvPr/>
        </p:nvSpPr>
        <p:spPr>
          <a:xfrm>
            <a:off x="4455820" y="3566179"/>
            <a:ext cx="3393454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75" spc="21" dirty="0">
                <a:solidFill>
                  <a:srgbClr val="003399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联系电话： </a:t>
            </a:r>
            <a:r>
              <a:rPr lang="en-US" altLang="zh-CN" sz="1575" spc="21" dirty="0">
                <a:solidFill>
                  <a:srgbClr val="003399"/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Arial" panose="020B0604020202020204" pitchFamily="34" charset="0"/>
              </a:rPr>
              <a:t>15086836595</a:t>
            </a:r>
            <a:endParaRPr lang="zh-CN" altLang="en-US" sz="1575" spc="21" dirty="0">
              <a:solidFill>
                <a:srgbClr val="003399"/>
              </a:solidFill>
              <a:latin typeface="方正姚体" panose="02010601030101010101" pitchFamily="2" charset="-122"/>
              <a:ea typeface="方正姚体" panose="02010601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TextBox 5"/>
          <p:cNvSpPr txBox="1"/>
          <p:nvPr/>
        </p:nvSpPr>
        <p:spPr>
          <a:xfrm>
            <a:off x="1655676" y="357505"/>
            <a:ext cx="2592288" cy="33470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defRPr/>
            </a:pPr>
            <a:r>
              <a:rPr lang="zh-CN" altLang="en-US" sz="1575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重庆大学 </a:t>
            </a:r>
            <a:r>
              <a:rPr lang="zh-CN" altLang="en-US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计算机学院 </a:t>
            </a:r>
            <a:endParaRPr lang="en-US" altLang="zh-CN" dirty="0">
              <a:solidFill>
                <a:srgbClr val="00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 txBox="1">
            <a:spLocks/>
          </p:cNvSpPr>
          <p:nvPr/>
        </p:nvSpPr>
        <p:spPr bwMode="auto">
          <a:xfrm>
            <a:off x="594522" y="173600"/>
            <a:ext cx="2268251" cy="285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400" b="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 algn="l"/>
            <a:r>
              <a:rPr lang="zh-CN" altLang="en-US" sz="21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教学要求</a:t>
            </a:r>
          </a:p>
        </p:txBody>
      </p:sp>
      <p:pic>
        <p:nvPicPr>
          <p:cNvPr id="6" name="Picture 3" descr="PE01561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0133" y="3709455"/>
            <a:ext cx="1908500" cy="126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F345FA-EC6B-4251-A0DB-19E64E8FC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06" y="511965"/>
            <a:ext cx="7918369" cy="446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13099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211AD1D-0363-45B5-A805-60FF918C6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10" y="236246"/>
            <a:ext cx="7911044" cy="4422710"/>
          </a:xfrm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24BB30-86A2-4B37-BED6-C61814A0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F65B00-CB7F-4526-8B8C-13B6BBE3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3EC0BA-F120-4B15-A79B-5375E013FB4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AF1A88-B84E-4633-AE4D-A85F1C9A1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921" y="3016898"/>
            <a:ext cx="13335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4609"/>
      </p:ext>
    </p:extLst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CB9B487-C951-2921-C20C-BB3F1E8B74B4}"/>
              </a:ext>
            </a:extLst>
          </p:cNvPr>
          <p:cNvSpPr txBox="1"/>
          <p:nvPr/>
        </p:nvSpPr>
        <p:spPr>
          <a:xfrm>
            <a:off x="211818" y="234475"/>
            <a:ext cx="5904058" cy="920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>
              <a:spcAft>
                <a:spcPts val="750"/>
              </a:spcAft>
            </a:pPr>
            <a:r>
              <a:rPr lang="en-US" altLang="zh-CN" b="1" dirty="0">
                <a:effectLst/>
              </a:rPr>
              <a:t>【</a:t>
            </a:r>
            <a:r>
              <a:rPr lang="zh-CN" altLang="en-US" b="1" dirty="0">
                <a:effectLst/>
              </a:rPr>
              <a:t>问题描述</a:t>
            </a:r>
            <a:r>
              <a:rPr lang="en-US" altLang="zh-CN" b="1" dirty="0">
                <a:effectLst/>
              </a:rPr>
              <a:t>】</a:t>
            </a:r>
          </a:p>
          <a:p>
            <a:pPr latinLnBrk="1">
              <a:spcAft>
                <a:spcPts val="750"/>
              </a:spcAft>
            </a:pPr>
            <a:r>
              <a:rPr lang="zh-CN" altLang="en-US" b="1" dirty="0">
                <a:effectLst/>
              </a:rPr>
              <a:t>输入欠款金额和百分比的年利率，可以使用下列公式计算每个月月供的利息。</a:t>
            </a:r>
          </a:p>
          <a:p>
            <a:pPr latinLnBrk="1">
              <a:spcAft>
                <a:spcPts val="750"/>
              </a:spcAft>
            </a:pPr>
            <a:r>
              <a:rPr lang="zh-CN" altLang="en-US" b="1" dirty="0">
                <a:effectLst/>
              </a:rPr>
              <a:t>利息</a:t>
            </a:r>
            <a:r>
              <a:rPr lang="en-US" altLang="zh-CN" b="1" dirty="0">
                <a:effectLst/>
              </a:rPr>
              <a:t>=</a:t>
            </a:r>
            <a:r>
              <a:rPr lang="zh-CN" altLang="en-US" b="1" dirty="0">
                <a:effectLst/>
              </a:rPr>
              <a:t>欠款*（年利率</a:t>
            </a:r>
            <a:r>
              <a:rPr lang="en-US" altLang="zh-CN" b="1" dirty="0">
                <a:effectLst/>
              </a:rPr>
              <a:t>/1200)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6D26BC-1C01-B03E-71A4-9051440E1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487" y="1870345"/>
            <a:ext cx="1531132" cy="234173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53BBD63-9485-228F-08EB-EE6AEC47E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895" y="1637583"/>
            <a:ext cx="4943475" cy="25146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C387F30-06EE-4E7E-B96C-2DBF1A003B5E}"/>
              </a:ext>
            </a:extLst>
          </p:cNvPr>
          <p:cNvSpPr txBox="1"/>
          <p:nvPr/>
        </p:nvSpPr>
        <p:spPr>
          <a:xfrm>
            <a:off x="3638549" y="1925641"/>
            <a:ext cx="1242833" cy="2154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1079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0EE84CC-4B20-6A44-E4F9-78FEA00F101A}"/>
              </a:ext>
            </a:extLst>
          </p:cNvPr>
          <p:cNvSpPr txBox="1"/>
          <p:nvPr/>
        </p:nvSpPr>
        <p:spPr>
          <a:xfrm>
            <a:off x="0" y="-94398"/>
            <a:ext cx="7926947" cy="1258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spcAft>
                <a:spcPts val="750"/>
              </a:spcAft>
            </a:pP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【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问题描述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】</a:t>
            </a:r>
          </a:p>
          <a:p>
            <a:pPr algn="l" latinLnBrk="1">
              <a:lnSpc>
                <a:spcPct val="150000"/>
              </a:lnSpc>
              <a:spcAft>
                <a:spcPts val="750"/>
              </a:spcAft>
            </a:pP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程序完成求平面两点（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x1,y1)h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和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(x2,y2)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Helvetica Neue"/>
              </a:rPr>
              <a:t>之间的距离，两点的坐标值按照浮点数输入，每个数之间用逗号隔开；输出结果是两点之间的距离，输出结果用双精度。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7C5182-3126-3B54-3107-32BFDA7F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54" y="1881187"/>
            <a:ext cx="866775" cy="1381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2DDDA6-718F-959A-9642-30CEA7AD92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72023" y="1254753"/>
            <a:ext cx="4819650" cy="3686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372C6D8-9E5B-E3A4-E09E-8C5BE3FD8D1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06223" y="3097840"/>
            <a:ext cx="1714500" cy="190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77A8589-97F3-9970-0682-69BC83D7255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763054" y="3581771"/>
            <a:ext cx="28194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3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EFE386E-5925-ED40-9E10-A7E4A023D9FB}"/>
              </a:ext>
            </a:extLst>
          </p:cNvPr>
          <p:cNvSpPr txBox="1"/>
          <p:nvPr/>
        </p:nvSpPr>
        <p:spPr>
          <a:xfrm>
            <a:off x="319696" y="310568"/>
            <a:ext cx="2595384" cy="206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spcAft>
                <a:spcPts val="750"/>
              </a:spcAft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题库：球反弹的路程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问题描述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】</a:t>
            </a: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已知一球从高空落下时，每次落地后反弹至原高度的四分之一再落下。编写一程序，从键盘输入整数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，求该球从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米的高空落下后，第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次落地时共经过的路程以及第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次落地后反弹的高度，并输出结果。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473FBA-0944-7DC1-1808-B0B5149B1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257" y="457200"/>
            <a:ext cx="5162550" cy="42291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58591F-E965-6FBC-0C3F-FF6E939F1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93" y="2489856"/>
            <a:ext cx="101917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33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F274F11-4C30-4CC8-BB0F-A97D13CDF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3511" y="266520"/>
            <a:ext cx="1152525" cy="1571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F136AAD-F136-7963-D6D4-FAD8BE952328}"/>
              </a:ext>
            </a:extLst>
          </p:cNvPr>
          <p:cNvSpPr txBox="1"/>
          <p:nvPr/>
        </p:nvSpPr>
        <p:spPr>
          <a:xfrm>
            <a:off x="106565" y="123416"/>
            <a:ext cx="2430379" cy="486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750"/>
              </a:spcAft>
            </a:pPr>
            <a:r>
              <a:rPr lang="zh-CN" altLang="en-US" b="1" dirty="0">
                <a:effectLst/>
              </a:rPr>
              <a:t>题库：不吉利的车牌号</a:t>
            </a:r>
            <a:br>
              <a:rPr lang="zh-CN" altLang="en-US" dirty="0"/>
            </a:br>
            <a:r>
              <a:rPr lang="en-US" altLang="zh-CN" dirty="0">
                <a:effectLst/>
              </a:rPr>
              <a:t>【</a:t>
            </a:r>
            <a:r>
              <a:rPr lang="zh-CN" altLang="en-US" dirty="0">
                <a:effectLst/>
              </a:rPr>
              <a:t>问题描述</a:t>
            </a:r>
            <a:r>
              <a:rPr lang="en-US" altLang="zh-CN" dirty="0">
                <a:effectLst/>
              </a:rPr>
              <a:t>】 </a:t>
            </a:r>
          </a:p>
          <a:p>
            <a:pPr latinLnBrk="1">
              <a:spcAft>
                <a:spcPts val="750"/>
              </a:spcAft>
            </a:pPr>
            <a:r>
              <a:rPr lang="zh-CN" altLang="en-US" dirty="0">
                <a:effectLst/>
              </a:rPr>
              <a:t>杭州人称那些傻乎乎粘嗒嗒的人为</a:t>
            </a:r>
            <a:r>
              <a:rPr lang="en-US" altLang="zh-CN" dirty="0">
                <a:effectLst/>
              </a:rPr>
              <a:t>62</a:t>
            </a:r>
            <a:r>
              <a:rPr lang="zh-CN" altLang="en-US" dirty="0">
                <a:effectLst/>
              </a:rPr>
              <a:t>（音：</a:t>
            </a:r>
            <a:r>
              <a:rPr lang="en-US" altLang="zh-CN" dirty="0" err="1">
                <a:effectLst/>
              </a:rPr>
              <a:t>laoer</a:t>
            </a:r>
            <a:r>
              <a:rPr lang="zh-CN" altLang="en-US" dirty="0">
                <a:effectLst/>
              </a:rPr>
              <a:t>）。 杭州交通管理局经常会扩充一些的士车牌照，新近出来一个好消息，以后上牌照，不再含有不吉利的数字了，这样一来，就可以消除个别的士司机和乘客的心理障碍，更安全地服务大众。 不吉利的数字为所有含有</a:t>
            </a:r>
            <a:r>
              <a:rPr lang="en-US" altLang="zh-CN" dirty="0">
                <a:effectLst/>
              </a:rPr>
              <a:t>4</a:t>
            </a:r>
            <a:r>
              <a:rPr lang="zh-CN" altLang="en-US" dirty="0">
                <a:effectLst/>
              </a:rPr>
              <a:t>或</a:t>
            </a:r>
            <a:r>
              <a:rPr lang="en-US" altLang="zh-CN" dirty="0">
                <a:effectLst/>
              </a:rPr>
              <a:t>62</a:t>
            </a:r>
            <a:r>
              <a:rPr lang="zh-CN" altLang="en-US" dirty="0">
                <a:effectLst/>
              </a:rPr>
              <a:t>的号码。例如：</a:t>
            </a:r>
            <a:r>
              <a:rPr lang="en-US" altLang="zh-CN" dirty="0">
                <a:effectLst/>
              </a:rPr>
              <a:t>62315 73418 88914 </a:t>
            </a:r>
            <a:r>
              <a:rPr lang="zh-CN" altLang="en-US" dirty="0">
                <a:effectLst/>
              </a:rPr>
              <a:t>都属于不吉利号码。但是，</a:t>
            </a:r>
            <a:r>
              <a:rPr lang="en-US" altLang="zh-CN" dirty="0">
                <a:effectLst/>
              </a:rPr>
              <a:t>61152</a:t>
            </a:r>
            <a:r>
              <a:rPr lang="zh-CN" altLang="en-US" dirty="0">
                <a:effectLst/>
              </a:rPr>
              <a:t>虽然含有</a:t>
            </a:r>
            <a:r>
              <a:rPr lang="en-US" altLang="zh-CN" dirty="0">
                <a:effectLst/>
              </a:rPr>
              <a:t>6</a:t>
            </a:r>
            <a:r>
              <a:rPr lang="zh-CN" altLang="en-US" dirty="0">
                <a:effectLst/>
              </a:rPr>
              <a:t>和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，但不是</a:t>
            </a:r>
            <a:r>
              <a:rPr lang="en-US" altLang="zh-CN" dirty="0">
                <a:effectLst/>
              </a:rPr>
              <a:t>62</a:t>
            </a:r>
            <a:r>
              <a:rPr lang="zh-CN" altLang="en-US" dirty="0">
                <a:effectLst/>
              </a:rPr>
              <a:t>连号，所以不属于不吉利数字之列。 你的任务是，对于每次给出的一个牌照区间号，推断出交管局今次又要实际上给多少辆新的士车上牌照了。</a:t>
            </a:r>
          </a:p>
          <a:p>
            <a:br>
              <a:rPr lang="zh-CN" altLang="en-US" dirty="0">
                <a:effectLst/>
              </a:rPr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72959A-7D18-2AAB-E75E-DB551161A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913" y="196319"/>
            <a:ext cx="3037329" cy="3464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AC45D14-AB14-F057-9EA0-3C020F347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034" y="3111479"/>
            <a:ext cx="2610207" cy="20153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929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CA3B95-4ABE-1E96-CF4E-BD0730814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3" y="340831"/>
            <a:ext cx="3396342" cy="190821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【问题描述】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已知分段函数如下：</a:t>
            </a:r>
            <a:endParaRPr kumimoji="0" lang="zh-CN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        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|2x-5|          (-10≤x≤10)</a:t>
            </a:r>
            <a:endParaRPr kumimoji="0" lang="en-US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  y =    x</a:t>
            </a:r>
            <a:r>
              <a:rPr kumimoji="0" lang="en-US" altLang="zh-CN" sz="9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            (10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＜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x≤20)</a:t>
            </a:r>
            <a:endParaRPr kumimoji="0" lang="en-US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         x/2+10         (25≤x≤35)</a:t>
            </a:r>
            <a:endParaRPr kumimoji="0" lang="en-US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编程实现其后所述功能：从键盘输入一个“双精度实数”存入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双精度变量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(x)"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中，计算“分段函数”结果存入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双精度变量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(y)"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中，并输出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的值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位小数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，如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值不在段内，则输出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"No answer."(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输出信息不含双引号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079AB7-004A-9780-0A38-B432DD186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5053" y="2894454"/>
            <a:ext cx="1126524" cy="18181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39B488-2777-14E4-8995-747C6C639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415" y="500062"/>
            <a:ext cx="52387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0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8281B4C-F69E-C403-68B4-B89B9F97DAEE}"/>
              </a:ext>
            </a:extLst>
          </p:cNvPr>
          <p:cNvSpPr txBox="1"/>
          <p:nvPr/>
        </p:nvSpPr>
        <p:spPr>
          <a:xfrm>
            <a:off x="285320" y="138770"/>
            <a:ext cx="7758650" cy="27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spcAft>
                <a:spcPts val="750"/>
              </a:spcAft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题库：数据标准化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问题描述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】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min-max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标准化是对数组中的元素进行变换，使结果落到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[0,1]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区间。变换的具体过程是：      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找出数据集中的最大值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(max)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和最小值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(min);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利用公式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y</a:t>
            </a:r>
            <a:r>
              <a:rPr lang="en-US" altLang="zh-CN" b="0" i="0" baseline="-2500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=(x</a:t>
            </a:r>
            <a:r>
              <a:rPr lang="en-US" altLang="zh-CN" b="0" i="0" baseline="-2500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-min)/(max-min)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对数据集中的第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i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元素进行标准化，其中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x</a:t>
            </a:r>
            <a:r>
              <a:rPr lang="en-US" altLang="zh-CN" b="0" i="0" baseline="-2500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为数据集中的每个元素，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en-US" altLang="zh-CN" b="0" i="0" baseline="-2500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为标准化后第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个的元素。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lnSpc>
                <a:spcPts val="1875"/>
              </a:lnSpc>
              <a:spcBef>
                <a:spcPts val="150"/>
              </a:spcBef>
              <a:spcAft>
                <a:spcPts val="1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现有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个从键盘输入的整数，请对其每个元素进行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min-max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标准化，并按照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lf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格式控制符输出标准化后的元素。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br>
              <a:rPr lang="zh-CN" altLang="en-US" dirty="0"/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C2C4E2-12E2-0A86-C721-5B71F810E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5145" y="2992282"/>
            <a:ext cx="3619500" cy="1524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1026F5A-7AF4-5CE2-DD30-D680DBD18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t="1" r="5904" b="27067"/>
          <a:stretch/>
        </p:blipFill>
        <p:spPr>
          <a:xfrm>
            <a:off x="4342111" y="4886326"/>
            <a:ext cx="4624709" cy="18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0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F8519E1-D20B-DB73-4E29-6690F92A5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5886" y="298247"/>
            <a:ext cx="4695825" cy="43148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5F072A-C487-448D-67F6-A798A3BE4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t="1" r="5904" b="27067"/>
          <a:stretch/>
        </p:blipFill>
        <p:spPr>
          <a:xfrm>
            <a:off x="327002" y="4591301"/>
            <a:ext cx="4624709" cy="18756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2BB3935-93BF-0151-3290-CFE97F139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340" y="1425778"/>
            <a:ext cx="5591175" cy="341947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399B7E5-19B4-4C31-8EC5-F5C568A9271C}"/>
              </a:ext>
            </a:extLst>
          </p:cNvPr>
          <p:cNvSpPr txBox="1"/>
          <p:nvPr/>
        </p:nvSpPr>
        <p:spPr>
          <a:xfrm>
            <a:off x="5565571" y="2756951"/>
            <a:ext cx="1560042" cy="3000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CN">
                <a:solidFill>
                  <a:srgbClr val="FF0000"/>
                </a:solidFill>
              </a:rPr>
              <a:t>new  double</a:t>
            </a:r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46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56D1687-7C1A-429F-B21C-FAE7B6F66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457" y="3519773"/>
            <a:ext cx="5974145" cy="131523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AFF812A-BEB6-00CC-9321-F9FA38574AEE}"/>
              </a:ext>
            </a:extLst>
          </p:cNvPr>
          <p:cNvSpPr txBox="1"/>
          <p:nvPr/>
        </p:nvSpPr>
        <p:spPr>
          <a:xfrm>
            <a:off x="72190" y="140267"/>
            <a:ext cx="4572000" cy="3198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latinLnBrk="1">
              <a:spcAft>
                <a:spcPts val="750"/>
              </a:spcAft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题库：统计各个分数段的人数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问题描述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】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从键盘输入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名学生的百分制成绩，统计各个分数段的人数，然后根据输入指定分数段查询该分数段的人数。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分数段的定义如下：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段：成绩大于等于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90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分；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段：成绩大于等于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80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，且小于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90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段：成绩大于等于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70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，且小于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80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段：成绩大于等于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60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，且小于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70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段：成绩小于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rPr>
              <a:t>60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 latinLnBrk="1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备注：学生的成绩，以及所要查询的分数段均从键盘输入。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01CB1F-BAE4-26E3-D0AD-5ABBBB2C1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294" y="920667"/>
            <a:ext cx="2505075" cy="39147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5598D8C-46A3-45D3-8651-EA76D2B68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060" y="1277854"/>
            <a:ext cx="20193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5CC67C-69B4-4487-8C2F-8B5CDBFCD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939" y="462133"/>
            <a:ext cx="4102913" cy="42192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9DDCC3-2226-4C72-84CA-FA1CDBCA5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12" y="462133"/>
            <a:ext cx="250507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01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7A48CEF-7384-8D63-4BC1-9A4477722607}"/>
              </a:ext>
            </a:extLst>
          </p:cNvPr>
          <p:cNvSpPr txBox="1"/>
          <p:nvPr/>
        </p:nvSpPr>
        <p:spPr>
          <a:xfrm>
            <a:off x="134066" y="418359"/>
            <a:ext cx="457200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问题描述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】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对输入的字符串中的字母字符进行大小写转换，如果是大写字母，则转换为小写字母，如果是小写字母，则转换为大写字母，若是其他字符，则不变，最后输出转换后的字符串，其每个字符对应的位置不变。</a:t>
            </a:r>
            <a:endParaRPr lang="zh-CN" altLang="en-US" dirty="0"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752F3C-7878-6CD8-AE3A-913135B1D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455" y="2110683"/>
            <a:ext cx="1466278" cy="14789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ECBD4F-B23E-8818-1801-F85DE3B0B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766" y="1867032"/>
            <a:ext cx="2665668" cy="2858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D14797-8DF3-95C8-681D-B2A3970A8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441" y="3445328"/>
            <a:ext cx="2275669" cy="15097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8A4B0D4-4882-9BD2-C716-C7912D747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5576" y="435065"/>
            <a:ext cx="2171700" cy="1085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667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7F37CFF-B63D-422C-8484-F024C99E6EBE}"/>
              </a:ext>
            </a:extLst>
          </p:cNvPr>
          <p:cNvSpPr txBox="1"/>
          <p:nvPr/>
        </p:nvSpPr>
        <p:spPr>
          <a:xfrm>
            <a:off x="72188" y="610082"/>
            <a:ext cx="4097255" cy="12984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i="0">
                <a:solidFill>
                  <a:srgbClr val="333333"/>
                </a:solidFill>
                <a:effectLst/>
                <a:latin typeface="Helvetica Neue"/>
              </a:rPr>
              <a:t>【</a:t>
            </a:r>
            <a:r>
              <a:rPr lang="zh-CN" altLang="en-US" b="1" i="0">
                <a:solidFill>
                  <a:srgbClr val="333333"/>
                </a:solidFill>
                <a:effectLst/>
                <a:latin typeface="Helvetica Neue"/>
              </a:rPr>
              <a:t>问题描述</a:t>
            </a:r>
            <a:r>
              <a:rPr lang="en-US" altLang="zh-CN" b="1" i="0">
                <a:solidFill>
                  <a:srgbClr val="333333"/>
                </a:solidFill>
                <a:effectLst/>
                <a:latin typeface="Helvetica Neue"/>
              </a:rPr>
              <a:t>】</a:t>
            </a:r>
            <a:r>
              <a:rPr lang="zh-CN" altLang="en-US" b="1" i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对输入的字符串</a:t>
            </a:r>
            <a:r>
              <a:rPr lang="en-US" altLang="zh-CN" b="1" i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zh-CN" altLang="en-US" b="1" i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长度</a:t>
            </a:r>
            <a:r>
              <a:rPr lang="en-US" altLang="zh-CN" b="1" i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&lt;100</a:t>
            </a:r>
            <a:r>
              <a:rPr lang="zh-CN" altLang="en-US" b="1" i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）进行数字字符和其他字符的提取，然后将提取得到的其他字符重新组成一个新的字符串输出，将提取得到的数字字符组合为一个整数，并输出该整数的两倍的值。</a:t>
            </a:r>
            <a:endParaRPr lang="zh-CN" altLang="en-US" b="1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0E5616-DB0D-47BA-AB55-D2A741AFDD27}"/>
              </a:ext>
            </a:extLst>
          </p:cNvPr>
          <p:cNvSpPr txBox="1"/>
          <p:nvPr/>
        </p:nvSpPr>
        <p:spPr>
          <a:xfrm>
            <a:off x="-55002" y="248174"/>
            <a:ext cx="17359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0" i="0">
                <a:solidFill>
                  <a:schemeClr val="accent6">
                    <a:lumMod val="50000"/>
                  </a:schemeClr>
                </a:soli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字符串分类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A46C7F-7133-4C89-AF8E-75EE0DA20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67" y="2070039"/>
            <a:ext cx="1438275" cy="12096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41E698B-0350-480D-B03B-96C88582F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262" y="248174"/>
            <a:ext cx="4029075" cy="4476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21E19D2-1393-4249-96C6-DAFE92189797}"/>
              </a:ext>
            </a:extLst>
          </p:cNvPr>
          <p:cNvSpPr/>
          <p:nvPr/>
        </p:nvSpPr>
        <p:spPr>
          <a:xfrm>
            <a:off x="4819507" y="1715580"/>
            <a:ext cx="1361287" cy="1791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75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>
                <a:latin typeface="汉仪糯米团简" panose="00020600040101010101" charset="-122"/>
                <a:ea typeface="汉仪糯米团简" panose="00020600040101010101" charset="-122"/>
              </a:rPr>
              <a:t>End of Chapter 1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重庆大学</a:t>
            </a:r>
            <a:r>
              <a:rPr lang="en-US" altLang="zh-CN"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 </a:t>
            </a:r>
            <a:r>
              <a:rPr lang="zh-CN" altLang="en-US">
                <a:latin typeface="汉仪糯米团简" panose="00020600040101010101" charset="-122"/>
                <a:ea typeface="汉仪糯米团简" panose="00020600040101010101" charset="-122"/>
                <a:cs typeface="汉仪糯米团简" panose="00020600040101010101" charset="-122"/>
              </a:rPr>
              <a:t>海洋饼干叔叔</a:t>
            </a:r>
          </a:p>
        </p:txBody>
      </p:sp>
      <p:pic>
        <p:nvPicPr>
          <p:cNvPr id="2" name="图片 1" descr="7b0a20202020227069636672616d65646573223a20222670666d38393230353231313335262673707432312d312626626474303026267764743235353026266f726773697a653030262670667431313126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/>
                </a14:imgProps>
              </a:ext>
            </a:extLst>
          </a:blip>
          <a:srcRect/>
          <a:stretch>
            <a:fillRect/>
          </a:stretch>
        </p:blipFill>
        <p:spPr>
          <a:xfrm>
            <a:off x="7490460" y="3777615"/>
            <a:ext cx="1319530" cy="1297305"/>
          </a:xfrm>
          <a:prstGeom prst="rect">
            <a:avLst/>
          </a:prstGeom>
          <a:effectLst/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COMMONDATA" val="eyJjb3VudCI6ODAsImhkaWQiOiJkOWI5YzYzM2VmOTg1M2E2OWZlOGZmNzE0YTVjZDRmYiIsInVzZXJDb3VudCI6ODB9"/>
  <p:tag name="RESOURCE_RECORD_KEY" val="{&quot;65&quot;:[20233105],&quot;70&quot;:[3327915,3314655,332799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105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105"/>
  <p:tag name="KSO_WM_SLIDE_TYPE" val="endPage"/>
  <p:tag name="KSO_WM_SLIDE_SUBTYPE" val="pureTxt"/>
  <p:tag name="KSO_WM_SLIDE_LAYOUT" val="a_f"/>
  <p:tag name="KSO_WM_SLIDE_LAYOUT_CNT" val="1_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9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 YOU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9*f*4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SUBTYPE" val="b"/>
  <p:tag name="KSO_WM_UNIT_NOCLEAR" val="0"/>
  <p:tag name="KSO_WM_UNIT_VALUE" val="8"/>
  <p:tag name="KSO_WM_UNIT_TYPE" val="f"/>
  <p:tag name="KSO_WM_UNIT_INDEX" val="4"/>
  <p:tag name="KSO_WM_UNIT_PRESET_TEXT" val="汇报人：WPS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043,&quot;width&quot;:2078}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B4D40"/>
      </a:accent1>
      <a:accent2>
        <a:srgbClr val="005390"/>
      </a:accent2>
      <a:accent3>
        <a:srgbClr val="EB4D40"/>
      </a:accent3>
      <a:accent4>
        <a:srgbClr val="005390"/>
      </a:accent4>
      <a:accent5>
        <a:srgbClr val="EB4D40"/>
      </a:accent5>
      <a:accent6>
        <a:srgbClr val="005390"/>
      </a:accent6>
      <a:hlink>
        <a:srgbClr val="0070C0"/>
      </a:hlink>
      <a:folHlink>
        <a:srgbClr val="0070C0"/>
      </a:folHlink>
    </a:clrScheme>
    <a:fontScheme name="自定义 3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776</TotalTime>
  <Words>846</Words>
  <Application>Microsoft Office PowerPoint</Application>
  <PresentationFormat>全屏显示(16:9)</PresentationFormat>
  <Paragraphs>45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华文楷体</vt:lpstr>
      <vt:lpstr>Helvetica Neue</vt:lpstr>
      <vt:lpstr>Helvetica</vt:lpstr>
      <vt:lpstr>微软雅黑</vt:lpstr>
      <vt:lpstr>华文彩云</vt:lpstr>
      <vt:lpstr>方正姚体</vt:lpstr>
      <vt:lpstr>Arial</vt:lpstr>
      <vt:lpstr>汉仪糯米团简</vt:lpstr>
      <vt:lpstr>宋体</vt:lpstr>
      <vt:lpstr>华文琥珀</vt:lpstr>
      <vt:lpstr>方正粗黑宋简体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End of Chapter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243</cp:revision>
  <dcterms:created xsi:type="dcterms:W3CDTF">2017-08-18T03:02:00Z</dcterms:created>
  <dcterms:modified xsi:type="dcterms:W3CDTF">2024-12-22T16:48:27Z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KSOTemplateUUID">
    <vt:lpwstr>v1.0_mb_r1+MPYW2ICFoIaE6KPbogQ==</vt:lpwstr>
  </property>
  <property fmtid="{D5CDD505-2E9C-101B-9397-08002B2CF9AE}" pid="4" name="ICV">
    <vt:lpwstr>6A2F3E093E9D4683AD1AF4279CE6F444_11</vt:lpwstr>
  </property>
</Properties>
</file>