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403" r:id="rId3"/>
    <p:sldId id="651" r:id="rId4"/>
    <p:sldId id="653" r:id="rId5"/>
    <p:sldId id="711" r:id="rId6"/>
    <p:sldId id="652" r:id="rId7"/>
    <p:sldId id="713" r:id="rId8"/>
    <p:sldId id="654" r:id="rId9"/>
    <p:sldId id="714" r:id="rId10"/>
    <p:sldId id="715" r:id="rId11"/>
    <p:sldId id="716" r:id="rId12"/>
    <p:sldId id="717" r:id="rId13"/>
    <p:sldId id="718" r:id="rId14"/>
    <p:sldId id="780" r:id="rId15"/>
    <p:sldId id="781" r:id="rId16"/>
    <p:sldId id="782" r:id="rId17"/>
    <p:sldId id="783" r:id="rId18"/>
    <p:sldId id="784" r:id="rId19"/>
    <p:sldId id="719" r:id="rId20"/>
    <p:sldId id="720" r:id="rId21"/>
    <p:sldId id="762" r:id="rId22"/>
    <p:sldId id="763" r:id="rId23"/>
    <p:sldId id="764" r:id="rId24"/>
    <p:sldId id="765" r:id="rId25"/>
    <p:sldId id="766" r:id="rId26"/>
    <p:sldId id="768" r:id="rId27"/>
    <p:sldId id="769" r:id="rId28"/>
    <p:sldId id="770" r:id="rId29"/>
    <p:sldId id="767" r:id="rId30"/>
    <p:sldId id="771" r:id="rId31"/>
    <p:sldId id="774" r:id="rId32"/>
    <p:sldId id="775" r:id="rId33"/>
    <p:sldId id="776" r:id="rId34"/>
    <p:sldId id="777" r:id="rId35"/>
    <p:sldId id="778" r:id="rId36"/>
    <p:sldId id="405" r:id="rId37"/>
  </p:sldIdLst>
  <p:sldSz cx="12192000" cy="6858000"/>
  <p:notesSz cx="6858000" cy="9144000"/>
  <p:custDataLst>
    <p:tags r:id="rId39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9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99CCFF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7"/>
    <p:restoredTop sz="86352"/>
  </p:normalViewPr>
  <p:slideViewPr>
    <p:cSldViewPr showGuides="1">
      <p:cViewPr varScale="1">
        <p:scale>
          <a:sx n="53" d="100"/>
          <a:sy n="53" d="100"/>
        </p:scale>
        <p:origin x="36" y="420"/>
      </p:cViewPr>
      <p:guideLst>
        <p:guide orient="horz" pos="2158"/>
        <p:guide pos="3949"/>
      </p:guideLst>
    </p:cSldViewPr>
  </p:slideViewPr>
  <p:outlineViewPr>
    <p:cViewPr>
      <p:scale>
        <a:sx n="33" d="100"/>
        <a:sy n="33" d="100"/>
      </p:scale>
      <p:origin x="0" y="22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E119409-6C52-4574-BDC8-7D7A8A79503A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2024-11-27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22590AA-DB8C-4F5F-94DE-8AD7FEF8C5B9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 userDrawn="1"/>
        </p:nvGrpSpPr>
        <p:grpSpPr>
          <a:xfrm>
            <a:off x="0" y="3155950"/>
            <a:ext cx="12012084" cy="1052513"/>
            <a:chOff x="0" y="1536"/>
            <a:chExt cx="5675" cy="663"/>
          </a:xfrm>
        </p:grpSpPr>
        <p:grpSp>
          <p:nvGrpSpPr>
            <p:cNvPr id="2056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0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7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8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2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208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4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4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440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400"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4003F8-76D8-40E2-8852-AD17ED6E138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1245" y="-635"/>
            <a:ext cx="861060" cy="8839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6400" y="1371600"/>
            <a:ext cx="56388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371600"/>
            <a:ext cx="56388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17000" y="228600"/>
            <a:ext cx="2870200" cy="6400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6400" y="228600"/>
            <a:ext cx="8407400" cy="6400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 userDrawn="1"/>
        </p:nvSpPr>
        <p:spPr bwMode="ltGray">
          <a:xfrm>
            <a:off x="488951" y="168910"/>
            <a:ext cx="6223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 userDrawn="1"/>
        </p:nvSpPr>
        <p:spPr bwMode="ltGray">
          <a:xfrm>
            <a:off x="999067" y="168910"/>
            <a:ext cx="465667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 userDrawn="1"/>
        </p:nvSpPr>
        <p:spPr bwMode="ltGray">
          <a:xfrm>
            <a:off x="654051" y="591185"/>
            <a:ext cx="599017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 userDrawn="1"/>
        </p:nvSpPr>
        <p:spPr bwMode="ltGray">
          <a:xfrm>
            <a:off x="1147233" y="591185"/>
            <a:ext cx="52281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 userDrawn="1"/>
        </p:nvSpPr>
        <p:spPr bwMode="ltGray">
          <a:xfrm>
            <a:off x="304800" y="546735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gray">
          <a:xfrm>
            <a:off x="948267" y="60960"/>
            <a:ext cx="99484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 userDrawn="1"/>
        </p:nvSpPr>
        <p:spPr bwMode="gray">
          <a:xfrm>
            <a:off x="522817" y="851535"/>
            <a:ext cx="11669184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45167" y="104775"/>
            <a:ext cx="94488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156335"/>
            <a:ext cx="11480800" cy="55797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231245" y="-635"/>
            <a:ext cx="861060" cy="8839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8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1265" y="1308735"/>
            <a:ext cx="10690225" cy="282765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sz="8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《</a:t>
            </a:r>
            <a:r>
              <a:rPr kumimoji="1" lang="en-US" altLang="zh-CN" sz="8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C++</a:t>
            </a:r>
            <a:r>
              <a:rPr kumimoji="1" lang="zh-CN" altLang="en-US" sz="8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程序设计技术</a:t>
            </a:r>
            <a:r>
              <a:rPr kumimoji="1" lang="en-US" altLang="zh-CN" sz="8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II</a:t>
            </a:r>
            <a:r>
              <a:rPr kumimoji="1" lang="zh-CN" altLang="en-US" sz="8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》</a:t>
            </a:r>
            <a:br>
              <a:rPr kumimoji="1" lang="zh-CN" altLang="en-US" sz="8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</a:br>
            <a:r>
              <a:rPr kumimoji="1" lang="zh-CN" altLang="en-US" sz="8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综合实验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subTitle" idx="1"/>
          </p:nvPr>
        </p:nvSpPr>
        <p:spPr>
          <a:xfrm>
            <a:off x="3215323" y="4794885"/>
            <a:ext cx="5864225" cy="1990725"/>
          </a:xfrm>
        </p:spPr>
        <p:txBody>
          <a:bodyPr vert="horz" wrap="square" lIns="91440" tIns="45720" rIns="91440" bIns="45720" anchor="t"/>
          <a:lstStyle/>
          <a:p>
            <a:pPr algn="ctr" eaLnBrk="1" hangingPunct="1">
              <a:lnSpc>
                <a:spcPct val="130000"/>
              </a:lnSpc>
              <a:buSzPct val="60000"/>
            </a:pPr>
            <a:r>
              <a:rPr kumimoji="1" lang="zh-CN" altLang="en-US" sz="24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陈恒鑫</a:t>
            </a:r>
          </a:p>
          <a:p>
            <a:pPr algn="ctr" eaLnBrk="1" hangingPunct="1">
              <a:lnSpc>
                <a:spcPct val="130000"/>
              </a:lnSpc>
              <a:buSzPct val="60000"/>
            </a:pPr>
            <a:r>
              <a:rPr kumimoji="1" lang="zh-CN" altLang="en-US" sz="24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重庆大学计算机学院</a:t>
            </a:r>
          </a:p>
          <a:p>
            <a:pPr algn="ctr" eaLnBrk="1" hangingPunct="1">
              <a:lnSpc>
                <a:spcPct val="130000"/>
              </a:lnSpc>
              <a:buSzPct val="60000"/>
            </a:pPr>
            <a:r>
              <a:rPr kumimoji="1" lang="en-US" altLang="zh-CN" sz="24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E-Mail:  chenhengxin@cqu.edu.cn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综合实验</a:t>
            </a:r>
          </a:p>
        </p:txBody>
      </p:sp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xfrm>
            <a:off x="2748280" y="908685"/>
            <a:ext cx="5661660" cy="5829300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实验总体介绍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任务一：绘制界面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知识点补充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已有程序框架介绍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任务二：建图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辅助编码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实验报告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任务三：清扫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任务四：定点清扫（选做）</a:t>
            </a:r>
            <a:endParaRPr kumimoji="1"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2171700" y="1412558"/>
            <a:ext cx="576263" cy="0"/>
          </a:xfrm>
          <a:prstGeom prst="straightConnector1">
            <a:avLst/>
          </a:prstGeom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" name="矩形 2"/>
          <p:cNvSpPr/>
          <p:nvPr/>
        </p:nvSpPr>
        <p:spPr>
          <a:xfrm>
            <a:off x="3108325" y="1125220"/>
            <a:ext cx="4408805" cy="2397760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08325" y="3677285"/>
            <a:ext cx="4408805" cy="1734185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08325" y="5565140"/>
            <a:ext cx="4430395" cy="1182370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/>
        </p:nvSpPr>
        <p:spPr>
          <a:xfrm>
            <a:off x="7932420" y="2077720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第一次课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/>
        </p:nvSpPr>
        <p:spPr>
          <a:xfrm>
            <a:off x="7932420" y="4298315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第二次课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/>
        </p:nvSpPr>
        <p:spPr>
          <a:xfrm>
            <a:off x="7967980" y="5910580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第三次课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实验总体介绍</a:t>
            </a:r>
            <a:r>
              <a:rPr lang="en-US" altLang="zh-CN" dirty="0"/>
              <a:t>--</a:t>
            </a:r>
            <a:r>
              <a:rPr lang="zh-CN" altLang="en-US" dirty="0"/>
              <a:t>题目与主要内容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052830"/>
            <a:ext cx="10820400" cy="5608320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altLang="en-US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题目：扫地机器人模拟系统</a:t>
            </a: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endParaRPr kumimoji="0" lang="zh-CN" altLang="en-US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endParaRPr kumimoji="0" lang="zh-CN" altLang="en-US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endParaRPr kumimoji="0" lang="zh-CN" altLang="en-US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endParaRPr kumimoji="0" lang="zh-CN" altLang="en-US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endParaRPr kumimoji="0" lang="zh-CN" altLang="en-US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altLang="en-US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主要内容：模拟扫地机器人的工作过程</a:t>
            </a:r>
            <a:r>
              <a:rPr kumimoji="0" lang="en-US" altLang="zh-CN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--</a:t>
            </a:r>
            <a:r>
              <a:rPr kumimoji="0" lang="zh-CN" altLang="en-US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建图、清扫。</a:t>
            </a: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altLang="en-US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难点：发现、绕过障碍物。发现</a:t>
            </a:r>
            <a:r>
              <a:rPr kumimoji="0" lang="en-US" altLang="zh-CN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--</a:t>
            </a:r>
            <a:r>
              <a:rPr kumimoji="0" lang="zh-CN" altLang="en-US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模拟激光雷达；绕过</a:t>
            </a:r>
            <a:r>
              <a:rPr kumimoji="0" lang="en-US" altLang="zh-CN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--</a:t>
            </a:r>
            <a:r>
              <a:rPr kumimoji="0" lang="zh-CN" altLang="en-US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最短路径规划</a:t>
            </a:r>
          </a:p>
        </p:txBody>
      </p:sp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695325" y="2276475"/>
            <a:ext cx="3027680" cy="22148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3"/>
          <a:stretch>
            <a:fillRect/>
          </a:stretch>
        </p:blipFill>
        <p:spPr>
          <a:xfrm>
            <a:off x="4079240" y="2276475"/>
            <a:ext cx="3688080" cy="22142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图片 101"/>
          <p:cNvPicPr/>
          <p:nvPr/>
        </p:nvPicPr>
        <p:blipFill>
          <a:blip r:embed="rId4"/>
          <a:stretch>
            <a:fillRect/>
          </a:stretch>
        </p:blipFill>
        <p:spPr>
          <a:xfrm>
            <a:off x="8040370" y="1557020"/>
            <a:ext cx="3496945" cy="32397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ym typeface="+mn-ea"/>
              </a:rPr>
              <a:t>实验总体介绍</a:t>
            </a:r>
            <a:r>
              <a:rPr lang="en-US" altLang="zh-CN" dirty="0">
                <a:sym typeface="+mn-ea"/>
              </a:rPr>
              <a:t>--</a:t>
            </a:r>
            <a:r>
              <a:rPr lang="zh-CN" altLang="en-US" dirty="0">
                <a:sym typeface="+mn-ea"/>
              </a:rPr>
              <a:t>建图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124585"/>
            <a:ext cx="10807700" cy="207708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3000"/>
              </a:spcBef>
              <a:defRPr/>
            </a:pPr>
            <a:r>
              <a:rPr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扫地机器人通过建图，能够全面了解家庭环境的布局，包括房间大小、家具位置等。这使得机器人在清扫过程中能够精准定位自身位置，并规划出最优的清扫路径。</a:t>
            </a:r>
          </a:p>
          <a:p>
            <a:pPr marL="0" indent="0" eaLnBrk="1" hangingPunct="1">
              <a:lnSpc>
                <a:spcPct val="150000"/>
              </a:lnSpc>
              <a:spcBef>
                <a:spcPts val="3000"/>
              </a:spcBef>
              <a:buNone/>
              <a:defRPr/>
            </a:pPr>
            <a:endParaRPr lang="en-US" altLang="zh-CN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03" name="图片 102"/>
          <p:cNvPicPr/>
          <p:nvPr/>
        </p:nvPicPr>
        <p:blipFill>
          <a:blip r:embed="rId2"/>
          <a:stretch>
            <a:fillRect/>
          </a:stretch>
        </p:blipFill>
        <p:spPr>
          <a:xfrm>
            <a:off x="479425" y="3284855"/>
            <a:ext cx="3727450" cy="32937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图片 103"/>
          <p:cNvPicPr/>
          <p:nvPr/>
        </p:nvPicPr>
        <p:blipFill>
          <a:blip r:embed="rId3"/>
          <a:stretch>
            <a:fillRect/>
          </a:stretch>
        </p:blipFill>
        <p:spPr>
          <a:xfrm>
            <a:off x="4583430" y="3356610"/>
            <a:ext cx="2679065" cy="32848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图片 104"/>
          <p:cNvPicPr/>
          <p:nvPr/>
        </p:nvPicPr>
        <p:blipFill>
          <a:blip r:embed="rId4"/>
          <a:stretch>
            <a:fillRect/>
          </a:stretch>
        </p:blipFill>
        <p:spPr>
          <a:xfrm>
            <a:off x="7639050" y="3343275"/>
            <a:ext cx="4184650" cy="32981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ym typeface="+mn-ea"/>
              </a:rPr>
              <a:t>实验总体介绍</a:t>
            </a:r>
            <a:r>
              <a:rPr lang="en-US" altLang="zh-CN" dirty="0">
                <a:sym typeface="+mn-ea"/>
              </a:rPr>
              <a:t>--</a:t>
            </a:r>
            <a:r>
              <a:rPr lang="zh-CN" altLang="en-US" dirty="0">
                <a:sym typeface="+mn-ea"/>
              </a:rPr>
              <a:t>难点与解决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124585"/>
            <a:ext cx="10807700" cy="2077085"/>
          </a:xfrm>
        </p:spPr>
        <p:txBody>
          <a:bodyPr/>
          <a:lstStyle/>
          <a:p>
            <a:pPr eaLnBrk="1" latinLnBrk="0" hangingPunct="1">
              <a:lnSpc>
                <a:spcPct val="100000"/>
              </a:lnSpc>
              <a:spcBef>
                <a:spcPts val="3000"/>
              </a:spcBef>
              <a:defRPr/>
            </a:pPr>
            <a:r>
              <a:rPr lang="zh-CN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发现障碍物</a:t>
            </a:r>
          </a:p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使用老师给的函数模拟调用激光雷达，判断前方是否有障碍物。</a:t>
            </a:r>
          </a:p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endParaRPr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ct val="100000"/>
              </a:lnSpc>
              <a:spcBef>
                <a:spcPts val="3000"/>
              </a:spcBef>
              <a:buFont typeface="Wingdings" panose="05000000000000000000" charset="0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绕过障碍物</a:t>
            </a:r>
          </a:p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使用老师给的函数调用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Dijkstra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算法获取最短路径</a:t>
            </a:r>
          </a:p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endParaRPr lang="zh-CN" altLang="en-US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具体使用办法请见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已有程序框架介绍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9870" y="4076700"/>
            <a:ext cx="2957195" cy="20459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ym typeface="+mn-ea"/>
              </a:rPr>
              <a:t>实验总体介绍</a:t>
            </a:r>
            <a:r>
              <a:rPr lang="en-US" altLang="zh-CN" dirty="0">
                <a:sym typeface="+mn-ea"/>
              </a:rPr>
              <a:t>--</a:t>
            </a:r>
            <a:r>
              <a:rPr lang="zh-CN" altLang="en-US" dirty="0">
                <a:sym typeface="+mn-ea"/>
              </a:rPr>
              <a:t>效果展示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124585"/>
            <a:ext cx="10807700" cy="669290"/>
          </a:xfrm>
        </p:spPr>
        <p:txBody>
          <a:bodyPr/>
          <a:lstStyle/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altLang="en-US" sz="36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程序演示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8070" y="2564765"/>
            <a:ext cx="3114040" cy="4114800"/>
          </a:xfrm>
          <a:prstGeom prst="rect">
            <a:avLst/>
          </a:prstGeom>
        </p:spPr>
      </p:pic>
      <p:sp>
        <p:nvSpPr>
          <p:cNvPr id="7" name="Rectangle 3"/>
          <p:cNvSpPr>
            <a:spLocks noGrp="1" noChangeArrowheads="1"/>
          </p:cNvSpPr>
          <p:nvPr/>
        </p:nvSpPr>
        <p:spPr>
          <a:xfrm>
            <a:off x="8472170" y="1701165"/>
            <a:ext cx="3698240" cy="7410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如果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系统出现的界面不正确，请按图修改控制台属性页选项。</a:t>
            </a:r>
          </a:p>
        </p:txBody>
      </p:sp>
      <p:pic>
        <p:nvPicPr>
          <p:cNvPr id="2" name="0. 运行视频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3230" y="1827530"/>
            <a:ext cx="7972425" cy="49314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综合实验</a:t>
            </a:r>
          </a:p>
        </p:txBody>
      </p:sp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xfrm>
            <a:off x="2748280" y="908685"/>
            <a:ext cx="5661660" cy="5829300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实验总体介绍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任务一：绘制界面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知识点补充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已有程序框架介绍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任务二：建图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辅助编码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实验报告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任务三：清扫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任务四：定点清扫（选做）</a:t>
            </a:r>
            <a:endParaRPr kumimoji="1"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2171700" y="2058353"/>
            <a:ext cx="576263" cy="0"/>
          </a:xfrm>
          <a:prstGeom prst="straightConnector1">
            <a:avLst/>
          </a:prstGeom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" name="矩形 2"/>
          <p:cNvSpPr/>
          <p:nvPr/>
        </p:nvSpPr>
        <p:spPr>
          <a:xfrm>
            <a:off x="3108325" y="1125220"/>
            <a:ext cx="4408805" cy="2397760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08325" y="3677285"/>
            <a:ext cx="4408805" cy="1734185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08325" y="5565140"/>
            <a:ext cx="4430395" cy="1182370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/>
        </p:nvSpPr>
        <p:spPr>
          <a:xfrm>
            <a:off x="7932420" y="2077720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第一次课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/>
        </p:nvSpPr>
        <p:spPr>
          <a:xfrm>
            <a:off x="7932420" y="4298315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第二次课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/>
        </p:nvSpPr>
        <p:spPr>
          <a:xfrm>
            <a:off x="7967980" y="5910580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第三次课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ym typeface="+mn-ea"/>
              </a:rPr>
              <a:t>任务一：绘制界面</a:t>
            </a:r>
            <a:endParaRPr lang="zh-CN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124585"/>
            <a:ext cx="10868660" cy="5257800"/>
          </a:xfrm>
        </p:spPr>
        <p:txBody>
          <a:bodyPr/>
          <a:lstStyle/>
          <a:p>
            <a:pPr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原则：在控制台中将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个空格符号合起来作为一个房间区域，指定符号的不同背景颜色来作为房间区域的不同状态</a:t>
            </a: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将控制台设置为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虚拟终端序列模式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，使其能够支持可控制的光标移动、彩色文本等功能。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280" y="2638425"/>
            <a:ext cx="3590925" cy="21050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16090" y="5217160"/>
            <a:ext cx="52768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https://learn.microsoft.com/zh-cn/windows/console/console-virtual-terminal-sequences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87845" y="6274435"/>
            <a:ext cx="33362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【例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】打印彩色字体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2566670"/>
            <a:ext cx="5850890" cy="42208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ym typeface="+mn-ea"/>
              </a:rPr>
              <a:t>任务一：绘制界面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07035" y="1268730"/>
            <a:ext cx="33362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【例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】控制空格背景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" y="1916430"/>
            <a:ext cx="7562850" cy="46767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270" y="3284855"/>
            <a:ext cx="3476625" cy="27717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256270" y="6283960"/>
            <a:ext cx="216852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（输出的是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个空格）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ym typeface="+mn-ea"/>
              </a:rPr>
              <a:t>任务一：绘制界面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23570" y="1196340"/>
            <a:ext cx="33362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【例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】控制光标位置</a:t>
            </a:r>
          </a:p>
        </p:txBody>
      </p:sp>
      <p:graphicFrame>
        <p:nvGraphicFramePr>
          <p:cNvPr id="2" name="对象 1"/>
          <p:cNvGraphicFramePr/>
          <p:nvPr/>
        </p:nvGraphicFramePr>
        <p:xfrm>
          <a:off x="6960235" y="980440"/>
          <a:ext cx="4538980" cy="2669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r:id="rId3" imgW="6042025" imgH="3639820" progId="Visio.Drawing.15">
                  <p:embed/>
                </p:oleObj>
              </mc:Choice>
              <mc:Fallback>
                <p:oleObj r:id="rId3" imgW="6042025" imgH="3639820" progId="Visio.Drawing.15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60235" y="980440"/>
                        <a:ext cx="4538980" cy="26695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3745" y="5017135"/>
            <a:ext cx="3015615" cy="16351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620" y="1880870"/>
            <a:ext cx="6444615" cy="477139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013065" y="3501390"/>
            <a:ext cx="25063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控制台光标位置坐标系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103745" y="4004945"/>
            <a:ext cx="481647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注意：讨论坐标系时，用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(x,y)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；讨论数组元素时用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room[y][x]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023475" y="6283960"/>
            <a:ext cx="216852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（输出的是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个空格）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ym typeface="+mn-ea"/>
              </a:rPr>
              <a:t>任务一：绘制界面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23570" y="1196340"/>
            <a:ext cx="33362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【例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】打印房间区域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" y="3429000"/>
            <a:ext cx="4920615" cy="32308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565" y="116840"/>
            <a:ext cx="5402580" cy="6685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ym typeface="+mn-ea"/>
              </a:rPr>
              <a:t>任务一：绘制界面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23570" y="1052830"/>
            <a:ext cx="24796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【例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】动画展示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5280" y="1916430"/>
            <a:ext cx="439991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策略：每隔一段时间让光标回到起点，重新打印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25" y="4436745"/>
            <a:ext cx="4788535" cy="9848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010" y="44450"/>
            <a:ext cx="6939915" cy="67576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综合实验</a:t>
            </a:r>
          </a:p>
        </p:txBody>
      </p:sp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xfrm>
            <a:off x="2748280" y="908685"/>
            <a:ext cx="5661660" cy="5829300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实验总体介绍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任务一：绘制界面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知识点补充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已有程序框架介绍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任务二：建图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辅助编码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实验报告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任务三：清扫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任务四：定点清扫（选做）</a:t>
            </a:r>
            <a:endParaRPr kumimoji="1"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2171700" y="2632393"/>
            <a:ext cx="576263" cy="0"/>
          </a:xfrm>
          <a:prstGeom prst="straightConnector1">
            <a:avLst/>
          </a:prstGeom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" name="矩形 2"/>
          <p:cNvSpPr/>
          <p:nvPr/>
        </p:nvSpPr>
        <p:spPr>
          <a:xfrm>
            <a:off x="3108325" y="1125220"/>
            <a:ext cx="4408805" cy="2397760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08325" y="3677285"/>
            <a:ext cx="4408805" cy="1734185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08325" y="5565140"/>
            <a:ext cx="4430395" cy="1182370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/>
        </p:nvSpPr>
        <p:spPr>
          <a:xfrm>
            <a:off x="7932420" y="2077720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第一次课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/>
        </p:nvSpPr>
        <p:spPr>
          <a:xfrm>
            <a:off x="7932420" y="4298315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第二次课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/>
        </p:nvSpPr>
        <p:spPr>
          <a:xfrm>
            <a:off x="7967980" y="5910580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第三次课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ym typeface="+mn-ea"/>
              </a:rPr>
              <a:t>补充知识点：</a:t>
            </a:r>
            <a:r>
              <a:rPr lang="en-US" altLang="zh-CN" dirty="0">
                <a:sym typeface="+mn-ea"/>
              </a:rPr>
              <a:t>vector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23570" y="1052830"/>
            <a:ext cx="1105852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vector是C++自带STL（Standard Template Library）的模板类，封装了更安全、更方便的</a:t>
            </a:r>
            <a:r>
              <a:rPr lang="zh-CN" altLang="en-US" kern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动态数组</a:t>
            </a:r>
          </a:p>
          <a:p>
            <a:pPr marL="342900" indent="-342900">
              <a:buClr>
                <a:srgbClr val="0070C0"/>
              </a:buClr>
              <a:buFont typeface="Wingdings" panose="05000000000000000000" charset="0"/>
              <a:buChar char="n"/>
            </a:pPr>
            <a:endParaRPr lang="zh-CN" altLang="en-US" kern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342900" indent="-342900"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vector是STL的一种容器，其中可以容纳任何相同类型的数据元素。元素的类型需要在声明时用类型参数的形式给出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615" y="5635625"/>
            <a:ext cx="1649730" cy="10375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70" y="2990850"/>
            <a:ext cx="6208395" cy="3723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ym typeface="+mn-ea"/>
              </a:rPr>
              <a:t>补充知识点：</a:t>
            </a:r>
            <a:r>
              <a:rPr lang="en-US" altLang="zh-CN" dirty="0">
                <a:sym typeface="+mn-ea"/>
              </a:rPr>
              <a:t>vector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23570" y="1052830"/>
            <a:ext cx="1105852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vector</a:t>
            </a: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是用链表结构实现的动态数组，也可以用数组相同的下标方式访问元素</a:t>
            </a:r>
          </a:p>
          <a:p>
            <a:pPr>
              <a:buClr>
                <a:srgbClr val="0070C0"/>
              </a:buClr>
              <a:buFont typeface="Wingdings" panose="05000000000000000000" charset="0"/>
            </a:pPr>
            <a:endParaRPr lang="zh-CN" altLang="en-US" kern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342900" indent="-342900">
              <a:buClr>
                <a:srgbClr val="0070C0"/>
              </a:buClr>
              <a:buFont typeface="Wingdings" panose="05000000000000000000" charset="0"/>
              <a:buChar char="n"/>
            </a:pPr>
            <a:endParaRPr lang="zh-CN" altLang="en-US" kern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342900" indent="-342900">
              <a:buClr>
                <a:srgbClr val="0070C0"/>
              </a:buClr>
              <a:buFont typeface="Wingdings" panose="05000000000000000000" charset="0"/>
              <a:buChar char="n"/>
            </a:pPr>
            <a:endParaRPr lang="zh-CN" altLang="en-US" kern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342900" indent="-342900"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STL</a:t>
            </a: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推荐使用迭代器（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Iterator</a:t>
            </a: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）的方式遍历容器的元素，但支持其它方式进行遍历。</a:t>
            </a:r>
            <a:endParaRPr lang="en-US" altLang="zh-CN" kern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995" y="1616710"/>
            <a:ext cx="4610100" cy="8096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615" y="2073910"/>
            <a:ext cx="1114425" cy="3524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280" y="4688205"/>
            <a:ext cx="1049020" cy="20358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7805" y="3295015"/>
            <a:ext cx="4722495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ym typeface="+mn-ea"/>
              </a:rPr>
              <a:t>补充知识点：</a:t>
            </a:r>
            <a:r>
              <a:rPr lang="en-US" altLang="zh-CN" dirty="0">
                <a:sym typeface="+mn-ea"/>
              </a:rPr>
              <a:t>vector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23570" y="1052830"/>
            <a:ext cx="11058525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en-US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vector</a:t>
            </a: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常用操作总结：</a:t>
            </a:r>
          </a:p>
          <a:p>
            <a:pPr>
              <a:buClr>
                <a:srgbClr val="0070C0"/>
              </a:buClr>
              <a:buFont typeface="Wingdings" panose="05000000000000000000" charset="0"/>
            </a:pPr>
            <a:endParaRPr lang="zh-CN" altLang="en-US" kern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914400" lvl="2" indent="457200">
              <a:buClr>
                <a:srgbClr val="0070C0"/>
              </a:buClr>
              <a:buFont typeface="Wingdings" panose="05000000000000000000" charset="0"/>
            </a:pP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https://blog.csdn.net/Flag_ing/article/details/123380655</a:t>
            </a:r>
          </a:p>
          <a:p>
            <a:pPr marL="342900" indent="-342900">
              <a:buClr>
                <a:srgbClr val="0070C0"/>
              </a:buClr>
              <a:buFont typeface="Wingdings" panose="05000000000000000000" charset="0"/>
              <a:buChar char="n"/>
            </a:pPr>
            <a:endParaRPr lang="zh-CN" altLang="en-US" kern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342900" indent="-342900">
              <a:buClr>
                <a:srgbClr val="0070C0"/>
              </a:buClr>
              <a:buFont typeface="Wingdings" panose="05000000000000000000" charset="0"/>
              <a:buChar char="n"/>
            </a:pPr>
            <a:endParaRPr lang="zh-CN" altLang="en-US" kern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342900" indent="-342900"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vector</a:t>
            </a: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官方参考文档：</a:t>
            </a:r>
          </a:p>
          <a:p>
            <a:pPr>
              <a:buClr>
                <a:srgbClr val="0070C0"/>
              </a:buClr>
              <a:buFont typeface="Wingdings" panose="05000000000000000000" charset="0"/>
            </a:pPr>
            <a:endParaRPr lang="zh-CN" altLang="en-US" kern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914400" lvl="2" indent="457200">
              <a:buClr>
                <a:srgbClr val="0070C0"/>
              </a:buClr>
              <a:buFont typeface="Wingdings" panose="05000000000000000000" charset="0"/>
            </a:pP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https://en.cppreference.com/w/cpp/container/vector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ym typeface="+mn-ea"/>
              </a:rPr>
              <a:t>补充知识点：</a:t>
            </a:r>
            <a:r>
              <a:rPr lang="en-US" altLang="zh-CN" dirty="0">
                <a:sym typeface="+mn-ea"/>
              </a:rPr>
              <a:t>pair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23570" y="1052830"/>
            <a:ext cx="1105852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pair</a:t>
            </a: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是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STL</a:t>
            </a: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模板库中容纳一对数据的容器，这一对数据的类型可以不一致</a:t>
            </a:r>
          </a:p>
          <a:p>
            <a:pPr>
              <a:buClr>
                <a:srgbClr val="0070C0"/>
              </a:buClr>
              <a:buFont typeface="Wingdings" panose="05000000000000000000" charset="0"/>
            </a:pPr>
            <a:endParaRPr lang="zh-CN" altLang="en-US" kern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342900" indent="-342900">
              <a:buClr>
                <a:srgbClr val="0070C0"/>
              </a:buClr>
              <a:buFont typeface="Wingdings" panose="05000000000000000000" charset="0"/>
              <a:buChar char="n"/>
            </a:pPr>
            <a:endParaRPr lang="en-US" altLang="zh-CN" kern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342900" indent="-342900"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pair</a:t>
            </a: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对象包裹了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2</a:t>
            </a: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个数据，分别用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first</a:t>
            </a: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、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second</a:t>
            </a: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两个数据成员引用</a:t>
            </a:r>
          </a:p>
          <a:p>
            <a:pPr marL="342900" indent="-342900">
              <a:buClr>
                <a:srgbClr val="0070C0"/>
              </a:buClr>
              <a:buFont typeface="Wingdings" panose="05000000000000000000" charset="0"/>
              <a:buChar char="n"/>
            </a:pPr>
            <a:endParaRPr lang="zh-CN" altLang="en-US" kern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280" y="5713730"/>
            <a:ext cx="1943100" cy="7239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895" y="3284855"/>
            <a:ext cx="4191000" cy="31527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ym typeface="+mn-ea"/>
              </a:rPr>
              <a:t>补充知识点：</a:t>
            </a:r>
            <a:r>
              <a:rPr lang="en-US" altLang="zh-CN" dirty="0">
                <a:sym typeface="+mn-ea"/>
              </a:rPr>
              <a:t>pair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23570" y="1052830"/>
            <a:ext cx="1105852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例子：用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vector</a:t>
            </a: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做参数，容纳最短路径，每个元素是一个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pair</a:t>
            </a: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对象，包裹了路径点的两个坐标值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624060" y="2204720"/>
            <a:ext cx="24911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【例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】寻找路径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050" y="4932045"/>
            <a:ext cx="914400" cy="17335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70" y="1988820"/>
            <a:ext cx="8829675" cy="46767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综合实验</a:t>
            </a:r>
          </a:p>
        </p:txBody>
      </p:sp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xfrm>
            <a:off x="2748280" y="908685"/>
            <a:ext cx="5661660" cy="5829300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实验总体介绍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任务一：绘制界面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知识点补充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已有程序框架介绍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任务二：建图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辅助编码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实验报告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任务三：清扫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任务四：定点清扫（选做）</a:t>
            </a:r>
            <a:endParaRPr kumimoji="1"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2171700" y="3278188"/>
            <a:ext cx="576263" cy="0"/>
          </a:xfrm>
          <a:prstGeom prst="straightConnector1">
            <a:avLst/>
          </a:prstGeom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" name="矩形 2"/>
          <p:cNvSpPr/>
          <p:nvPr/>
        </p:nvSpPr>
        <p:spPr>
          <a:xfrm>
            <a:off x="3108325" y="1125220"/>
            <a:ext cx="4408805" cy="2397760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08325" y="3677285"/>
            <a:ext cx="4408805" cy="1734185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08325" y="5565140"/>
            <a:ext cx="4430395" cy="1182370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/>
        </p:nvSpPr>
        <p:spPr>
          <a:xfrm>
            <a:off x="7932420" y="2077720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第一次课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/>
        </p:nvSpPr>
        <p:spPr>
          <a:xfrm>
            <a:off x="7932420" y="4298315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第二次课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/>
        </p:nvSpPr>
        <p:spPr>
          <a:xfrm>
            <a:off x="7967980" y="5910580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第三次课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ym typeface="+mn-ea"/>
              </a:rPr>
              <a:t>已有程序框架介绍</a:t>
            </a:r>
            <a:endParaRPr lang="zh-CN" altLang="en-US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052830"/>
            <a:ext cx="5973445" cy="2866390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altLang="en-US" sz="20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下发的资料中，已经给了程序框架，框架体现了模块化程序设计的思想。这是推荐的结构，也可以不按照这个框架来实现程序。</a:t>
            </a: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endParaRPr kumimoji="0" lang="zh-CN" altLang="en-US" sz="2000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altLang="en-US" sz="20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kumimoji="0" lang="en-US" altLang="zh-CN" sz="20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</a:t>
            </a:r>
            <a:r>
              <a:rPr kumimoji="0" lang="zh-CN" altLang="en-US" sz="20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个文件放到同一个文件夹下，需要实现的只有</a:t>
            </a:r>
            <a:r>
              <a:rPr kumimoji="0" lang="en-US" altLang="zh-CN" sz="20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cpp</a:t>
            </a:r>
            <a:r>
              <a:rPr kumimoji="0" lang="zh-CN" altLang="en-US" sz="20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endParaRPr kumimoji="0" lang="zh-CN" altLang="en-US" sz="2000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endParaRPr kumimoji="0" lang="zh-CN" altLang="en-US" sz="2000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endParaRPr kumimoji="0" lang="zh-CN" altLang="en-US" sz="2000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endParaRPr kumimoji="0" lang="zh-CN" altLang="en-US" sz="2000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altLang="en-US" sz="20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为了使用</a:t>
            </a:r>
            <a:r>
              <a:rPr kumimoji="0" lang="en-US" altLang="zh-CN" sz="20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lib</a:t>
            </a:r>
            <a:r>
              <a:rPr kumimoji="0" lang="zh-CN" altLang="en-US" sz="20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文件中的函数，需要如右设置编译器参数：</a:t>
            </a: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endParaRPr kumimoji="0" lang="zh-CN" altLang="en-US" sz="2000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450" y="3919220"/>
            <a:ext cx="1917065" cy="15722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525" y="1268730"/>
            <a:ext cx="4625340" cy="51739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ym typeface="+mn-ea"/>
              </a:rPr>
              <a:t>已有程序框架介绍</a:t>
            </a:r>
            <a:endParaRPr lang="zh-CN" altLang="en-US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052830"/>
            <a:ext cx="11231245" cy="5536565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altLang="en-US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已有程序框架介绍</a:t>
            </a:r>
            <a:r>
              <a:rPr kumimoji="0" lang="en-US" altLang="zh-CN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--</a:t>
            </a:r>
            <a:r>
              <a:rPr kumimoji="0" lang="zh-CN" altLang="en-US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代码讲解：</a:t>
            </a:r>
          </a:p>
          <a:p>
            <a:pPr marL="0" indent="0" algn="l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0" lang="en-US" altLang="zh-CN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</a:p>
          <a:p>
            <a:pPr marL="0" indent="0" algn="l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0" lang="en-US" altLang="zh-CN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	</a:t>
            </a:r>
            <a:r>
              <a:rPr kumimoji="0" lang="zh-CN" altLang="en-US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https://www.bilibili.com/video/BV1Ans3exEj7/</a:t>
            </a: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endParaRPr kumimoji="0" lang="zh-CN" altLang="en-US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altLang="en-US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实现房间区域打印函数print_room_map：</a:t>
            </a:r>
          </a:p>
          <a:p>
            <a:pPr marL="0" indent="457200" algn="l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kumimoji="0" lang="zh-CN" altLang="en-US" sz="2400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457200" lvl="1" indent="457200" algn="l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0" lang="zh-CN" altLang="en-US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https://www.bilibili.com/video/BV1pns3exEC9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综合实验</a:t>
            </a:r>
          </a:p>
        </p:txBody>
      </p:sp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xfrm>
            <a:off x="2748280" y="908685"/>
            <a:ext cx="5661660" cy="5829300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实验总体介绍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任务一：绘制界面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知识点补充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已有程序框架介绍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任务二：建图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辅助编码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实验报告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任务三：清扫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任务四：定点清扫（选做）</a:t>
            </a:r>
            <a:endParaRPr kumimoji="1"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2171700" y="3923983"/>
            <a:ext cx="576263" cy="0"/>
          </a:xfrm>
          <a:prstGeom prst="straightConnector1">
            <a:avLst/>
          </a:prstGeom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" name="矩形 2"/>
          <p:cNvSpPr/>
          <p:nvPr/>
        </p:nvSpPr>
        <p:spPr>
          <a:xfrm>
            <a:off x="3108325" y="1125220"/>
            <a:ext cx="4408805" cy="2397760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08325" y="3677285"/>
            <a:ext cx="4408805" cy="1734185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08325" y="5565140"/>
            <a:ext cx="4430395" cy="1182370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/>
        </p:nvSpPr>
        <p:spPr>
          <a:xfrm>
            <a:off x="7932420" y="2077720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第一次课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/>
        </p:nvSpPr>
        <p:spPr>
          <a:xfrm>
            <a:off x="7932420" y="4298315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第二次课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/>
        </p:nvSpPr>
        <p:spPr>
          <a:xfrm>
            <a:off x="7967980" y="5910580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第三次课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ym typeface="+mn-ea"/>
              </a:rPr>
              <a:t>任务二：建图</a:t>
            </a:r>
            <a:endParaRPr lang="zh-CN" altLang="en-US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052830"/>
            <a:ext cx="11523980" cy="5536565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altLang="en-US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路径规划：</a:t>
            </a:r>
          </a:p>
          <a:p>
            <a:pPr marL="0" indent="457200" algn="l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0" lang="zh-CN" altLang="en-US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https://www.bilibili.com/video/BV1wns3exE97</a:t>
            </a:r>
          </a:p>
          <a:p>
            <a:pPr marL="0" indent="457200" algn="l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0" lang="zh-CN" altLang="en-US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Dijkstra算法：https://blog.csdn.net/qq_35644234/article/details/60870719</a:t>
            </a: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endParaRPr kumimoji="0" lang="zh-CN" altLang="en-US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altLang="en-US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不考虑障碍物（不使用激光雷达）的情况下建图：</a:t>
            </a:r>
            <a:endParaRPr kumimoji="0" lang="zh-CN" altLang="en-US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457200" algn="l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https://www.bilibili.com/video/BV1Ans3exEJL</a:t>
            </a: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endParaRPr kumimoji="0" lang="zh-CN" altLang="en-US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altLang="en-US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有障碍物的建图：</a:t>
            </a:r>
          </a:p>
          <a:p>
            <a:pPr marL="0" indent="457200" algn="l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0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https://www.bilibili.com/video/BV1k3nZe5EDc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综合实验</a:t>
            </a:r>
          </a:p>
        </p:txBody>
      </p:sp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xfrm>
            <a:off x="2748280" y="908685"/>
            <a:ext cx="5661660" cy="5829300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实验总体介绍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任务一：绘制界面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知识点补充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已有程序框架介绍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任务二：建图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辅助编码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实验报告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任务三：清扫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任务四：定点清扫（选做）</a:t>
            </a:r>
            <a:endParaRPr kumimoji="1"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2171700" y="4569778"/>
            <a:ext cx="576263" cy="0"/>
          </a:xfrm>
          <a:prstGeom prst="straightConnector1">
            <a:avLst/>
          </a:prstGeom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" name="矩形 2"/>
          <p:cNvSpPr/>
          <p:nvPr/>
        </p:nvSpPr>
        <p:spPr>
          <a:xfrm>
            <a:off x="3108325" y="1125220"/>
            <a:ext cx="4408805" cy="2397760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08325" y="3677285"/>
            <a:ext cx="4408805" cy="1734185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08325" y="5565140"/>
            <a:ext cx="4430395" cy="1182370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/>
        </p:nvSpPr>
        <p:spPr>
          <a:xfrm>
            <a:off x="7932420" y="2077720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第一次课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/>
        </p:nvSpPr>
        <p:spPr>
          <a:xfrm>
            <a:off x="7932420" y="4298315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第二次课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/>
        </p:nvSpPr>
        <p:spPr>
          <a:xfrm>
            <a:off x="7967980" y="5910580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第三次课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ym typeface="+mn-ea"/>
              </a:rPr>
              <a:t>AI</a:t>
            </a:r>
            <a:r>
              <a:rPr lang="zh-CN" altLang="en-US" dirty="0">
                <a:sym typeface="+mn-ea"/>
              </a:rPr>
              <a:t>辅助编码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052830"/>
            <a:ext cx="11231245" cy="5536565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altLang="en-US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利用大语言模型，</a:t>
            </a:r>
            <a:r>
              <a:rPr kumimoji="0" lang="en-US" altLang="zh-CN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AI</a:t>
            </a:r>
            <a:r>
              <a:rPr kumimoji="0" lang="zh-CN" altLang="en-US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可以根据上下文（代码、注释）辅助程序员：</a:t>
            </a: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kumimoji="0" lang="zh-CN" altLang="en-US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补全代码</a:t>
            </a: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kumimoji="0" lang="zh-CN" altLang="en-US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生成代码</a:t>
            </a: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kumimoji="0" lang="zh-CN" altLang="en-US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修正</a:t>
            </a:r>
            <a:r>
              <a:rPr kumimoji="0" lang="en-US" altLang="zh-CN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Bug</a:t>
            </a:r>
            <a:endParaRPr kumimoji="0" lang="zh-CN" altLang="en-US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目前知名的</a:t>
            </a:r>
            <a:r>
              <a:rPr kumimoji="0" lang="en-US" altLang="zh-CN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AI</a:t>
            </a:r>
            <a:r>
              <a:rPr kumimoji="0" lang="zh-CN" altLang="en-US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辅助编码产品有很多</a:t>
            </a:r>
            <a:endParaRPr kumimoji="0" lang="zh-CN" altLang="en-US" sz="2400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/>
          <p:nvPr/>
        </p:nvPicPr>
        <p:blipFill>
          <a:blip r:embed="rId2"/>
        </p:blipFill>
        <p:spPr>
          <a:xfrm>
            <a:off x="1282700" y="4149090"/>
            <a:ext cx="2303780" cy="1228090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3"/>
        </p:blipFill>
        <p:spPr>
          <a:xfrm>
            <a:off x="4762500" y="4154805"/>
            <a:ext cx="2877185" cy="123317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4"/>
        </p:blipFill>
        <p:spPr>
          <a:xfrm>
            <a:off x="8832215" y="4186555"/>
            <a:ext cx="2430145" cy="119062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5"/>
        </p:blipFill>
        <p:spPr>
          <a:xfrm>
            <a:off x="983615" y="5517515"/>
            <a:ext cx="2622550" cy="127000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6"/>
        </p:blipFill>
        <p:spPr>
          <a:xfrm>
            <a:off x="4817745" y="5733415"/>
            <a:ext cx="2617470" cy="69977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</p:blipFill>
        <p:spPr>
          <a:xfrm>
            <a:off x="8646795" y="5862955"/>
            <a:ext cx="2800985" cy="5238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70" y="3644900"/>
            <a:ext cx="9801225" cy="1409700"/>
          </a:xfrm>
          <a:prstGeom prst="rect">
            <a:avLst/>
          </a:prstGeom>
        </p:spPr>
      </p:pic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ym typeface="+mn-ea"/>
              </a:rPr>
              <a:t>AI</a:t>
            </a:r>
            <a:r>
              <a:rPr lang="zh-CN" altLang="en-US" dirty="0">
                <a:sym typeface="+mn-ea"/>
              </a:rPr>
              <a:t>辅助编码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052830"/>
            <a:ext cx="11231245" cy="626110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使用文心快码示例：</a:t>
            </a:r>
            <a:r>
              <a:rPr lang="zh-CN" altLang="en-US" sz="2400" b="0">
                <a:sym typeface="+mn-ea"/>
              </a:rPr>
              <a:t>https://comate.baidu.com/zh/chat</a:t>
            </a:r>
            <a:endParaRPr lang="zh-CN" altLang="en-US" sz="2400" b="0"/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endParaRPr kumimoji="0" lang="zh-CN" sz="2400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1941195"/>
            <a:ext cx="9867900" cy="10001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7575" y="302260"/>
            <a:ext cx="3654425" cy="6253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ym typeface="+mn-ea"/>
              </a:rPr>
              <a:t>AI</a:t>
            </a:r>
            <a:r>
              <a:rPr lang="zh-CN" altLang="en-US" dirty="0">
                <a:sym typeface="+mn-ea"/>
              </a:rPr>
              <a:t>辅助编码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052830"/>
            <a:ext cx="11231245" cy="626110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使用文心快码示例：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" y="260985"/>
            <a:ext cx="6536690" cy="64141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175" y="908685"/>
            <a:ext cx="7362825" cy="5314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ym typeface="+mn-ea"/>
              </a:rPr>
              <a:t>AI</a:t>
            </a:r>
            <a:r>
              <a:rPr lang="zh-CN" altLang="en-US" dirty="0">
                <a:sym typeface="+mn-ea"/>
              </a:rPr>
              <a:t>辅助编码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052830"/>
            <a:ext cx="11231245" cy="626110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使用文心快码示例：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25" y="45085"/>
            <a:ext cx="6783705" cy="67240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820" y="104775"/>
            <a:ext cx="7410450" cy="3933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ym typeface="+mn-ea"/>
              </a:rPr>
              <a:t>AI</a:t>
            </a:r>
            <a:r>
              <a:rPr lang="zh-CN" altLang="en-US" dirty="0">
                <a:sym typeface="+mn-ea"/>
              </a:rPr>
              <a:t>辅助编码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052830"/>
            <a:ext cx="11231245" cy="5536565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绝大多数</a:t>
            </a:r>
            <a:r>
              <a:rPr kumimoji="0" lang="en-US" altLang="zh-CN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AI</a:t>
            </a:r>
            <a:r>
              <a:rPr kumimoji="0" lang="zh-CN" altLang="en-US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辅助编码产品都是配合</a:t>
            </a:r>
            <a:r>
              <a:rPr kumimoji="0" lang="en-US" altLang="zh-CN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IDE</a:t>
            </a:r>
            <a:r>
              <a:rPr kumimoji="0" lang="zh-CN" altLang="en-US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使用，推荐使用</a:t>
            </a:r>
            <a:r>
              <a:rPr kumimoji="0" lang="en-US" altLang="zh-CN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endParaRPr kumimoji="0" lang="en-US" altLang="zh-CN" sz="2400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endParaRPr kumimoji="0" lang="en-US" altLang="zh-CN" sz="2400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endParaRPr kumimoji="0" lang="en-US" altLang="zh-CN" sz="2400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altLang="en-US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下载并</a:t>
            </a:r>
            <a:r>
              <a:rPr kumimoji="0" lang="en-US" altLang="zh-CN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安装Visual Studio Code：</a:t>
            </a:r>
          </a:p>
          <a:p>
            <a:pPr marL="0" indent="457200" algn="l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0" lang="en-US" altLang="zh-CN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https://code.visualstudio.com/download</a:t>
            </a: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endParaRPr kumimoji="0" lang="en-US" altLang="zh-CN" sz="2400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en-US" altLang="zh-CN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VS Code是个代码编辑平台，需要安装插件才能进行C++编程开发</a:t>
            </a:r>
            <a:r>
              <a:rPr kumimoji="0" lang="zh-CN" altLang="en-US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kumimoji="0" lang="en-US" altLang="zh-CN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https://www.bilibili.com/video/BV1EJ411V7uN/?from=search&amp;seid=524810549462501130</a:t>
            </a: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endParaRPr kumimoji="0" lang="zh-CN" altLang="en-US" sz="2400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9" name="图片 8"/>
          <p:cNvPicPr/>
          <p:nvPr/>
        </p:nvPicPr>
        <p:blipFill>
          <a:blip r:embed="rId2"/>
        </p:blipFill>
        <p:spPr>
          <a:xfrm>
            <a:off x="3968750" y="1772920"/>
            <a:ext cx="4253865" cy="138557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综合实验</a:t>
            </a:r>
          </a:p>
        </p:txBody>
      </p:sp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xfrm>
            <a:off x="2748280" y="908685"/>
            <a:ext cx="5661660" cy="5829300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实验总体介绍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任务一：绘制界面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知识点补充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已有程序框架介绍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任务二：建图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辅助编码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实验报告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任务三：清扫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任务四：定点清扫（选做）</a:t>
            </a:r>
            <a:endParaRPr kumimoji="1"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2171700" y="5215573"/>
            <a:ext cx="576263" cy="0"/>
          </a:xfrm>
          <a:prstGeom prst="straightConnector1">
            <a:avLst/>
          </a:prstGeom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" name="矩形 2"/>
          <p:cNvSpPr/>
          <p:nvPr/>
        </p:nvSpPr>
        <p:spPr>
          <a:xfrm>
            <a:off x="3108325" y="1125220"/>
            <a:ext cx="4408805" cy="2397760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08325" y="3677285"/>
            <a:ext cx="4408805" cy="1734185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08325" y="5565140"/>
            <a:ext cx="4430395" cy="1182370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/>
        </p:nvSpPr>
        <p:spPr>
          <a:xfrm>
            <a:off x="7932420" y="2077720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第一次课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/>
        </p:nvSpPr>
        <p:spPr>
          <a:xfrm>
            <a:off x="7932420" y="4298315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第二次课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/>
        </p:nvSpPr>
        <p:spPr>
          <a:xfrm>
            <a:off x="7967980" y="5910580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第三次课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dirty="0">
                <a:sym typeface="+mn-ea"/>
              </a:rPr>
              <a:t>实验报告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052830"/>
            <a:ext cx="8240395" cy="655320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sz="2400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见《重庆大学程序设计系列课程综合实验报告（C++）》</a:t>
            </a:r>
          </a:p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endParaRPr kumimoji="0" lang="zh-CN" altLang="en-US" sz="2400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775" y="1772920"/>
            <a:ext cx="3185160" cy="480631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综合实验</a:t>
            </a:r>
          </a:p>
        </p:txBody>
      </p:sp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xfrm>
            <a:off x="2748280" y="908685"/>
            <a:ext cx="5661660" cy="5829300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实验总体介绍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任务一：绘制界面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知识点补充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已有程序框架介绍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任务二：建图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辅助编码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实验报告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任务三：清扫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任务四：定点清扫（选做）</a:t>
            </a:r>
            <a:endParaRPr kumimoji="1"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2171700" y="5861368"/>
            <a:ext cx="576263" cy="0"/>
          </a:xfrm>
          <a:prstGeom prst="straightConnector1">
            <a:avLst/>
          </a:prstGeom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" name="矩形 2"/>
          <p:cNvSpPr/>
          <p:nvPr/>
        </p:nvSpPr>
        <p:spPr>
          <a:xfrm>
            <a:off x="3108325" y="1125220"/>
            <a:ext cx="4408805" cy="2397760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08325" y="3677285"/>
            <a:ext cx="4408805" cy="1734185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08325" y="5565140"/>
            <a:ext cx="4430395" cy="1182370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/>
        </p:nvSpPr>
        <p:spPr>
          <a:xfrm>
            <a:off x="7932420" y="2077720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第一次课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/>
        </p:nvSpPr>
        <p:spPr>
          <a:xfrm>
            <a:off x="7932420" y="4298315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第二次课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/>
        </p:nvSpPr>
        <p:spPr>
          <a:xfrm>
            <a:off x="7967980" y="5910580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第三次课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ym typeface="+mn-ea"/>
              </a:rPr>
              <a:t>任务三：清扫</a:t>
            </a:r>
            <a:endParaRPr lang="zh-CN" altLang="en-US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770" y="1052830"/>
            <a:ext cx="3528060" cy="5536565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altLang="en-US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清扫任务主要思路：</a:t>
            </a:r>
            <a:endParaRPr kumimoji="0" lang="zh-CN" altLang="en-US" sz="2400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5" name="图片 4" descr="清扫思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830" y="0"/>
            <a:ext cx="834263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综合实验</a:t>
            </a:r>
          </a:p>
        </p:txBody>
      </p:sp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xfrm>
            <a:off x="2748280" y="908685"/>
            <a:ext cx="5661660" cy="5829300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实验总体介绍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任务一：绘制界面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知识点补充</a:t>
            </a:r>
            <a:endParaRPr kumimoji="1" lang="en-US" altLang="zh-CN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已有程序框架介绍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任务二：建图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辅助编码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实验报告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任务三：清扫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任务四：定点清扫（选做）</a:t>
            </a:r>
            <a:endParaRPr kumimoji="1" lang="zh-CN" altLang="en-US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2171700" y="6507163"/>
            <a:ext cx="576263" cy="0"/>
          </a:xfrm>
          <a:prstGeom prst="straightConnector1">
            <a:avLst/>
          </a:prstGeom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" name="矩形 2"/>
          <p:cNvSpPr/>
          <p:nvPr/>
        </p:nvSpPr>
        <p:spPr>
          <a:xfrm>
            <a:off x="3108325" y="1125220"/>
            <a:ext cx="4408805" cy="2397760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08325" y="3677285"/>
            <a:ext cx="4408805" cy="1734185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08325" y="5565140"/>
            <a:ext cx="4430395" cy="1182370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/>
        </p:nvSpPr>
        <p:spPr>
          <a:xfrm>
            <a:off x="7932420" y="2077720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第一次课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/>
        </p:nvSpPr>
        <p:spPr>
          <a:xfrm>
            <a:off x="7932420" y="4298315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第二次课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/>
        </p:nvSpPr>
        <p:spPr>
          <a:xfrm>
            <a:off x="7967980" y="5910580"/>
            <a:ext cx="188087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eaLnBrk="1" latinLnBrk="0" hangingPunct="1">
              <a:lnSpc>
                <a:spcPct val="100000"/>
              </a:lnSpc>
              <a:spcBef>
                <a:spcPts val="3000"/>
              </a:spcBef>
              <a:buNone/>
              <a:defRPr/>
            </a:pPr>
            <a:r>
              <a:rPr 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第三次课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ym typeface="+mn-ea"/>
              </a:rPr>
              <a:t>任务四：定点清扫（选做）</a:t>
            </a:r>
            <a:endParaRPr lang="zh-CN" altLang="en-US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052830"/>
            <a:ext cx="11231245" cy="5536565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zh-CN" altLang="en-US" b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定点清扫任务主要思路：</a:t>
            </a:r>
          </a:p>
          <a:p>
            <a:pPr marL="0" indent="457200" algn="l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kumimoji="0" lang="zh-CN" altLang="en-US" sz="2400" b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640" y="1917065"/>
            <a:ext cx="2569845" cy="4571365"/>
          </a:xfrm>
          <a:prstGeom prst="rect">
            <a:avLst/>
          </a:prstGeom>
        </p:spPr>
      </p:pic>
      <p:pic>
        <p:nvPicPr>
          <p:cNvPr id="5" name="图片 4" descr="思路：定点清扫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180" y="104775"/>
            <a:ext cx="2142490" cy="63627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28545" y="6524625"/>
            <a:ext cx="4344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/>
              <a:t>在清扫过程中插入发现动态障碍物的过程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824470" y="6489700"/>
            <a:ext cx="1652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/>
              <a:t>定点清扫过程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提问与讨论</a:t>
            </a:r>
          </a:p>
        </p:txBody>
      </p:sp>
      <p:pic>
        <p:nvPicPr>
          <p:cNvPr id="4" name="http://photo-static-api.fotomore.com/creative/vcg/400/new/VCG211248990710.jpg" descr="&amp;pky220_sjzg_VCG211248990710&amp;2&amp;src_toppic_inpsrchzd1&amp;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395" y="1484630"/>
            <a:ext cx="4318000" cy="431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d57c892-e6af-4e38-a903-68dadd506c7c"/>
  <p:tag name="COMMONDATA" val="eyJoZGlkIjoiYjA4MWFjYmU5NjQyMTk2OWM0NDA4MGNmMWMxYTJlN2UifQ=="/>
</p:tagLst>
</file>

<file path=ppt/theme/theme1.xml><?xml version="1.0" encoding="utf-8"?>
<a:theme xmlns:a="http://schemas.openxmlformats.org/drawingml/2006/main" name="程序设计技术课件模板">
  <a:themeElements>
    <a:clrScheme name="程序设计技术课件模板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程序设计技术课件模板">
      <a:majorFont>
        <a:latin typeface="Tahoma"/>
        <a:ea typeface="华文新魏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程序设计技术课件模板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程序设计技术课件模板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程序设计技术课件模板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程序设计技术课件模板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程序设计技术课件模板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程序设计技术课件模板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程序设计技术课件模板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程序设计技术课件模板</Template>
  <TotalTime>0</TotalTime>
  <Words>1444</Words>
  <Application>Microsoft Office PowerPoint</Application>
  <PresentationFormat>宽屏</PresentationFormat>
  <Paragraphs>245</Paragraphs>
  <Slides>36</Slides>
  <Notes>0</Notes>
  <HiddenSlides>0</HiddenSlides>
  <MMClips>1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4" baseType="lpstr">
      <vt:lpstr>华文新魏</vt:lpstr>
      <vt:lpstr>微软雅黑</vt:lpstr>
      <vt:lpstr>Calibri</vt:lpstr>
      <vt:lpstr>Tahoma</vt:lpstr>
      <vt:lpstr>Times New Roman</vt:lpstr>
      <vt:lpstr>Wingdings</vt:lpstr>
      <vt:lpstr>程序设计技术课件模板</vt:lpstr>
      <vt:lpstr>Visio.Drawing.15</vt:lpstr>
      <vt:lpstr>《C++程序设计技术II》 综合实验</vt:lpstr>
      <vt:lpstr>综合实验</vt:lpstr>
      <vt:lpstr>实验总体介绍--题目与主要内容</vt:lpstr>
      <vt:lpstr>实验总体介绍--建图</vt:lpstr>
      <vt:lpstr>实验总体介绍--难点与解决</vt:lpstr>
      <vt:lpstr>实验总体介绍--效果展示</vt:lpstr>
      <vt:lpstr>综合实验</vt:lpstr>
      <vt:lpstr>任务一：绘制界面</vt:lpstr>
      <vt:lpstr>任务一：绘制界面</vt:lpstr>
      <vt:lpstr>任务一：绘制界面</vt:lpstr>
      <vt:lpstr>任务一：绘制界面</vt:lpstr>
      <vt:lpstr>任务一：绘制界面</vt:lpstr>
      <vt:lpstr>综合实验</vt:lpstr>
      <vt:lpstr>补充知识点：vector</vt:lpstr>
      <vt:lpstr>补充知识点：vector</vt:lpstr>
      <vt:lpstr>补充知识点：vector</vt:lpstr>
      <vt:lpstr>补充知识点：pair</vt:lpstr>
      <vt:lpstr>补充知识点：pair</vt:lpstr>
      <vt:lpstr>综合实验</vt:lpstr>
      <vt:lpstr>已有程序框架介绍</vt:lpstr>
      <vt:lpstr>已有程序框架介绍</vt:lpstr>
      <vt:lpstr>综合实验</vt:lpstr>
      <vt:lpstr>任务二：建图</vt:lpstr>
      <vt:lpstr>综合实验</vt:lpstr>
      <vt:lpstr>AI辅助编码</vt:lpstr>
      <vt:lpstr>AI辅助编码</vt:lpstr>
      <vt:lpstr>AI辅助编码</vt:lpstr>
      <vt:lpstr>AI辅助编码</vt:lpstr>
      <vt:lpstr>AI辅助编码</vt:lpstr>
      <vt:lpstr>综合实验</vt:lpstr>
      <vt:lpstr>实验报告</vt:lpstr>
      <vt:lpstr>综合实验</vt:lpstr>
      <vt:lpstr>任务三：清扫</vt:lpstr>
      <vt:lpstr>综合实验</vt:lpstr>
      <vt:lpstr>任务四：定点清扫（选做）</vt:lpstr>
      <vt:lpstr>提问与讨论</vt:lpstr>
    </vt:vector>
  </TitlesOfParts>
  <Company>陈恒鑫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C++综合实验</dc:title>
  <dc:creator>陈恒鑫</dc:creator>
  <cp:lastModifiedBy>Administrator</cp:lastModifiedBy>
  <cp:revision>754</cp:revision>
  <dcterms:created xsi:type="dcterms:W3CDTF">2005-10-02T02:06:00Z</dcterms:created>
  <dcterms:modified xsi:type="dcterms:W3CDTF">2024-11-27T13:16:10Z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61F4DBC2A8C941DBAB1136E8180F34CF</vt:lpwstr>
  </property>
</Properties>
</file>