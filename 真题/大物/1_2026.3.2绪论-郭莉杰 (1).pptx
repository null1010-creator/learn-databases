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notesMasterIdLst>
    <p:notesMasterId r:id="rId6"/>
  </p:notesMasterIdLst>
  <p:sldIdLst>
    <p:sldId id="424" r:id="rId5"/>
    <p:sldId id="744" r:id="rId7"/>
    <p:sldId id="661" r:id="rId8"/>
    <p:sldId id="663" r:id="rId9"/>
    <p:sldId id="665" r:id="rId10"/>
    <p:sldId id="664" r:id="rId11"/>
    <p:sldId id="585" r:id="rId12"/>
    <p:sldId id="483" r:id="rId13"/>
    <p:sldId id="667" r:id="rId14"/>
    <p:sldId id="485" r:id="rId15"/>
    <p:sldId id="484" r:id="rId16"/>
    <p:sldId id="487" r:id="rId17"/>
    <p:sldId id="435" r:id="rId18"/>
    <p:sldId id="445" r:id="rId19"/>
    <p:sldId id="466" r:id="rId20"/>
    <p:sldId id="502" r:id="rId21"/>
    <p:sldId id="504" r:id="rId22"/>
    <p:sldId id="505" r:id="rId23"/>
    <p:sldId id="489" r:id="rId24"/>
    <p:sldId id="468" r:id="rId25"/>
    <p:sldId id="706" r:id="rId26"/>
    <p:sldId id="707" r:id="rId27"/>
    <p:sldId id="708" r:id="rId28"/>
    <p:sldId id="709" r:id="rId29"/>
    <p:sldId id="715" r:id="rId30"/>
    <p:sldId id="739" r:id="rId31"/>
    <p:sldId id="716" r:id="rId32"/>
    <p:sldId id="717" r:id="rId33"/>
    <p:sldId id="740" r:id="rId34"/>
    <p:sldId id="720" r:id="rId35"/>
    <p:sldId id="741" r:id="rId36"/>
    <p:sldId id="721" r:id="rId37"/>
    <p:sldId id="722" r:id="rId38"/>
    <p:sldId id="723" r:id="rId39"/>
    <p:sldId id="742" r:id="rId40"/>
    <p:sldId id="743" r:id="rId41"/>
    <p:sldId id="726" r:id="rId42"/>
    <p:sldId id="727" r:id="rId43"/>
    <p:sldId id="730" r:id="rId44"/>
    <p:sldId id="731" r:id="rId45"/>
    <p:sldId id="732" r:id="rId46"/>
    <p:sldId id="733" r:id="rId47"/>
    <p:sldId id="734" r:id="rId48"/>
    <p:sldId id="735" r:id="rId49"/>
    <p:sldId id="736" r:id="rId50"/>
    <p:sldId id="737" r:id="rId51"/>
    <p:sldId id="738" r:id="rId52"/>
    <p:sldId id="500" r:id="rId53"/>
    <p:sldId id="512" r:id="rId54"/>
  </p:sldIdLst>
  <p:sldSz cx="12192000" cy="6858000"/>
  <p:notesSz cx="6858000" cy="9144000"/>
  <p:custDataLst>
    <p:tags r:id="rId5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gh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66FF"/>
    <a:srgbClr val="0000FF"/>
    <a:srgbClr val="1866E6"/>
    <a:srgbClr val="28EEF8"/>
    <a:srgbClr val="4F81BD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4660"/>
  </p:normalViewPr>
  <p:slideViewPr>
    <p:cSldViewPr showGuides="1">
      <p:cViewPr>
        <p:scale>
          <a:sx n="100" d="100"/>
          <a:sy n="100" d="100"/>
        </p:scale>
        <p:origin x="-72" y="510"/>
      </p:cViewPr>
      <p:guideLst>
        <p:guide orient="horz" pos="211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9" Type="http://schemas.openxmlformats.org/officeDocument/2006/relationships/tags" Target="tags/tag51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F5AE5B-BC17-496F-88B6-66D6B1B69D1D}" type="doc">
      <dgm:prSet loTypeId="urn:microsoft.com/office/officeart/2005/8/layout/hierarchy3" loCatId="hierarchy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BB226A5B-382F-4088-9D1A-B206A30C82FA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b="1" dirty="0"/>
            <a:t>目的</a:t>
          </a:r>
          <a:r>
            <a:rPr lang="zh-CN" altLang="en-US" sz="4000" b="1" dirty="0"/>
            <a:t/>
          </a:r>
          <a:endParaRPr lang="zh-CN" altLang="en-US" sz="4000" b="1" dirty="0"/>
        </a:p>
      </dgm:t>
    </dgm:pt>
    <dgm:pt modelId="{A5D45B0E-D5F1-4C48-883E-BFB98A8B5C80}" cxnId="{BDBBB37A-BE5C-46D1-9129-A9DA4E22328A}" type="parTrans">
      <dgm:prSet/>
      <dgm:spPr/>
      <dgm:t>
        <a:bodyPr/>
        <a:lstStyle/>
        <a:p>
          <a:endParaRPr lang="zh-CN" altLang="en-US"/>
        </a:p>
      </dgm:t>
    </dgm:pt>
    <dgm:pt modelId="{5E877D61-B1ED-4486-AE8A-AE1ED92EAAF4}" cxnId="{BDBBB37A-BE5C-46D1-9129-A9DA4E22328A}" type="sibTrans">
      <dgm:prSet/>
      <dgm:spPr/>
      <dgm:t>
        <a:bodyPr/>
        <a:lstStyle/>
        <a:p>
          <a:endParaRPr lang="zh-CN" altLang="en-US"/>
        </a:p>
      </dgm:t>
    </dgm:pt>
    <dgm:pt modelId="{99681D58-0CA0-4921-A699-BD1E333B2859}">
      <dgm:prSet phldrT="[文本]"/>
      <dgm:spPr/>
      <dgm:t>
        <a:bodyPr/>
        <a:lstStyle/>
        <a:p>
          <a:r>
            <a:rPr lang="zh-CN" dirty="0"/>
            <a:t>基本科学素养</a:t>
          </a:r>
          <a:endParaRPr lang="zh-CN" altLang="en-US" dirty="0"/>
        </a:p>
      </dgm:t>
    </dgm:pt>
    <dgm:pt modelId="{C6A83D3A-48F1-4119-81AD-3DA9A1B2D93A}" cxnId="{98197D63-CCB6-4295-BE39-79EB5B235022}" type="parTrans">
      <dgm:prSet/>
      <dgm:spPr/>
      <dgm:t>
        <a:bodyPr/>
        <a:lstStyle/>
        <a:p>
          <a:endParaRPr lang="zh-CN" altLang="en-US"/>
        </a:p>
      </dgm:t>
    </dgm:pt>
    <dgm:pt modelId="{0B8BB2CE-80A2-416C-BC58-6D64727F5B0C}" cxnId="{98197D63-CCB6-4295-BE39-79EB5B235022}" type="sibTrans">
      <dgm:prSet/>
      <dgm:spPr/>
      <dgm:t>
        <a:bodyPr/>
        <a:lstStyle/>
        <a:p>
          <a:endParaRPr lang="zh-CN" altLang="en-US"/>
        </a:p>
      </dgm:t>
    </dgm:pt>
    <dgm:pt modelId="{A16E1B65-7632-4882-A013-C116B1CC1937}">
      <dgm:prSet phldrT="[文本]"/>
      <dgm:spPr/>
      <dgm:t>
        <a:bodyPr/>
        <a:lstStyle/>
        <a:p>
          <a:r>
            <a:rPr lang="zh-CN" altLang="en-US" dirty="0"/>
            <a:t>知识实践能力</a:t>
          </a:r>
        </a:p>
      </dgm:t>
    </dgm:pt>
    <dgm:pt modelId="{B8C5A18A-2625-4CF0-9F1C-39276C2BF9F8}" cxnId="{5285F298-A0C1-4C00-9EFA-D69DDF180FFE}" type="parTrans">
      <dgm:prSet/>
      <dgm:spPr/>
      <dgm:t>
        <a:bodyPr/>
        <a:lstStyle/>
        <a:p>
          <a:endParaRPr lang="zh-CN" altLang="en-US"/>
        </a:p>
      </dgm:t>
    </dgm:pt>
    <dgm:pt modelId="{7073F305-F4FA-477C-B3FD-18F0326B3244}" cxnId="{5285F298-A0C1-4C00-9EFA-D69DDF180FFE}" type="sibTrans">
      <dgm:prSet/>
      <dgm:spPr/>
      <dgm:t>
        <a:bodyPr/>
        <a:lstStyle/>
        <a:p>
          <a:endParaRPr lang="zh-CN" altLang="en-US"/>
        </a:p>
      </dgm:t>
    </dgm:pt>
    <dgm:pt modelId="{0A681006-69FA-4987-AFE6-39A575367C5C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b="1" dirty="0"/>
            <a:t>意义</a:t>
          </a:r>
          <a:r>
            <a:rPr lang="zh-CN" altLang="en-US" sz="4000" b="1" dirty="0"/>
            <a:t/>
          </a:r>
          <a:endParaRPr lang="zh-CN" altLang="en-US" sz="4000" b="1" dirty="0"/>
        </a:p>
      </dgm:t>
    </dgm:pt>
    <dgm:pt modelId="{B1C9A973-983E-4422-BBE5-8D945B88D212}" cxnId="{FA5DFFB4-4E2C-4950-94CF-8245EF50A382}" type="parTrans">
      <dgm:prSet/>
      <dgm:spPr/>
      <dgm:t>
        <a:bodyPr/>
        <a:lstStyle/>
        <a:p>
          <a:endParaRPr lang="zh-CN" altLang="en-US"/>
        </a:p>
      </dgm:t>
    </dgm:pt>
    <dgm:pt modelId="{AC68336C-3880-454F-9771-BF4C867ACC60}" cxnId="{FA5DFFB4-4E2C-4950-94CF-8245EF50A382}" type="sibTrans">
      <dgm:prSet/>
      <dgm:spPr/>
      <dgm:t>
        <a:bodyPr/>
        <a:lstStyle/>
        <a:p>
          <a:endParaRPr lang="zh-CN" altLang="en-US"/>
        </a:p>
      </dgm:t>
    </dgm:pt>
    <dgm:pt modelId="{8F45D21F-47EE-48AF-BBCA-0D06896DD628}">
      <dgm:prSet phldrT="[文本]"/>
      <dgm:spPr/>
      <dgm:t>
        <a:bodyPr/>
        <a:lstStyle/>
        <a:p>
          <a:r>
            <a:rPr lang="zh-CN" dirty="0"/>
            <a:t>物理实验在自然科学中的重要地位</a:t>
          </a:r>
          <a:endParaRPr lang="zh-CN" altLang="en-US" dirty="0"/>
        </a:p>
      </dgm:t>
    </dgm:pt>
    <dgm:pt modelId="{3460A6D5-B4F1-4817-A64B-FF3B4838CDA5}" cxnId="{4133E61E-90D7-45EC-BC5B-68AF0FF8B47B}" type="parTrans">
      <dgm:prSet/>
      <dgm:spPr/>
      <dgm:t>
        <a:bodyPr/>
        <a:lstStyle/>
        <a:p>
          <a:endParaRPr lang="zh-CN" altLang="en-US"/>
        </a:p>
      </dgm:t>
    </dgm:pt>
    <dgm:pt modelId="{FFE7092F-D8B3-404C-BF39-0F47FF8FE20F}" cxnId="{4133E61E-90D7-45EC-BC5B-68AF0FF8B47B}" type="sibTrans">
      <dgm:prSet/>
      <dgm:spPr/>
      <dgm:t>
        <a:bodyPr/>
        <a:lstStyle/>
        <a:p>
          <a:endParaRPr lang="zh-CN" altLang="en-US"/>
        </a:p>
      </dgm:t>
    </dgm:pt>
    <dgm:pt modelId="{B3D4BDE1-9816-4585-8968-1BB3951DEFD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/>
            <a:t>学生</a:t>
          </a:r>
          <a:r>
            <a:rPr lang="zh-CN" dirty="0"/>
            <a:t>能力培养的重要作用</a:t>
          </a:r>
          <a:r>
            <a:rPr lang="zh-CN" altLang="en-US" dirty="0"/>
            <a:t/>
          </a:r>
          <a:endParaRPr lang="zh-CN" altLang="en-US" dirty="0"/>
        </a:p>
      </dgm:t>
    </dgm:pt>
    <dgm:pt modelId="{7631D427-A8C9-43ED-8890-A62B42A6CFCA}" cxnId="{61A0763C-D75A-497E-B1E6-8B7E70AF746F}" type="parTrans">
      <dgm:prSet/>
      <dgm:spPr/>
      <dgm:t>
        <a:bodyPr/>
        <a:lstStyle/>
        <a:p>
          <a:endParaRPr lang="zh-CN" altLang="en-US"/>
        </a:p>
      </dgm:t>
    </dgm:pt>
    <dgm:pt modelId="{C658714A-8116-419B-B030-1F12D73D859D}" cxnId="{61A0763C-D75A-497E-B1E6-8B7E70AF746F}" type="sibTrans">
      <dgm:prSet/>
      <dgm:spPr/>
      <dgm:t>
        <a:bodyPr/>
        <a:lstStyle/>
        <a:p>
          <a:endParaRPr lang="zh-CN" altLang="en-US"/>
        </a:p>
      </dgm:t>
    </dgm:pt>
    <dgm:pt modelId="{810BFE55-A24D-48E4-B5B7-91A6030A65B6}" type="pres">
      <dgm:prSet presAssocID="{90F5AE5B-BC17-496F-88B6-66D6B1B69D1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0B6542F-691A-40E5-BA64-72C94357EFE8}" type="pres">
      <dgm:prSet presAssocID="{BB226A5B-382F-4088-9D1A-B206A30C82FA}" presName="root" presStyleCnt="0"/>
      <dgm:spPr/>
    </dgm:pt>
    <dgm:pt modelId="{113EABB1-5712-41D0-AABB-77CB119911F1}" type="pres">
      <dgm:prSet presAssocID="{BB226A5B-382F-4088-9D1A-B206A30C82FA}" presName="rootComposite" presStyleCnt="0"/>
      <dgm:spPr/>
    </dgm:pt>
    <dgm:pt modelId="{379CEAAD-BD79-4288-802F-38327A2BD25F}" type="pres">
      <dgm:prSet presAssocID="{BB226A5B-382F-4088-9D1A-B206A30C82FA}" presName="rootText" presStyleLbl="node1" presStyleIdx="0" presStyleCnt="2" custScaleX="137293" custLinFactNeighborX="-23551" custLinFactNeighborY="2392"/>
      <dgm:spPr/>
    </dgm:pt>
    <dgm:pt modelId="{67BB8939-9D78-4E86-8971-48D2C5A7C841}" type="pres">
      <dgm:prSet presAssocID="{BB226A5B-382F-4088-9D1A-B206A30C82FA}" presName="rootConnector" presStyleCnt="0"/>
      <dgm:spPr/>
    </dgm:pt>
    <dgm:pt modelId="{0DAAB466-6591-456D-882F-79FE88BBCDB7}" type="pres">
      <dgm:prSet presAssocID="{BB226A5B-382F-4088-9D1A-B206A30C82FA}" presName="childShape" presStyleCnt="0"/>
      <dgm:spPr/>
    </dgm:pt>
    <dgm:pt modelId="{06A3AB0F-71D0-4685-A818-9A8E214F0DA4}" type="pres">
      <dgm:prSet presAssocID="{C6A83D3A-48F1-4119-81AD-3DA9A1B2D93A}" presName="Name13" presStyleLbl="parChTrans1D2" presStyleIdx="0" presStyleCnt="4" custSzX="318267"/>
      <dgm:spPr/>
    </dgm:pt>
    <dgm:pt modelId="{E8794D3A-2EB4-4030-81A4-88447A679FAF}" type="pres">
      <dgm:prSet presAssocID="{99681D58-0CA0-4921-A699-BD1E333B2859}" presName="childText" presStyleLbl="bgAcc1" presStyleIdx="0" presStyleCnt="4" custScaleX="137293" custLinFactNeighborX="-30505">
        <dgm:presLayoutVars>
          <dgm:bulletEnabled val="1"/>
        </dgm:presLayoutVars>
      </dgm:prSet>
      <dgm:spPr/>
    </dgm:pt>
    <dgm:pt modelId="{173AF228-5051-4997-806C-CCF816660775}" type="pres">
      <dgm:prSet presAssocID="{B8C5A18A-2625-4CF0-9F1C-39276C2BF9F8}" presName="Name13" presStyleLbl="parChTrans1D2" presStyleIdx="1" presStyleCnt="4" custSzX="318267"/>
      <dgm:spPr/>
    </dgm:pt>
    <dgm:pt modelId="{DB264884-BD8F-48CC-B1AE-380F3DCB0E58}" type="pres">
      <dgm:prSet presAssocID="{A16E1B65-7632-4882-A013-C116B1CC1937}" presName="childText" presStyleLbl="bgAcc1" presStyleIdx="1" presStyleCnt="4" custScaleX="137293" custLinFactNeighborX="-30505">
        <dgm:presLayoutVars>
          <dgm:bulletEnabled val="1"/>
        </dgm:presLayoutVars>
      </dgm:prSet>
      <dgm:spPr/>
    </dgm:pt>
    <dgm:pt modelId="{4F96ADD4-4CD1-4A24-B5F4-CCEB6CAA5ADF}" type="pres">
      <dgm:prSet presAssocID="{0A681006-69FA-4987-AFE6-39A575367C5C}" presName="root" presStyleCnt="0"/>
      <dgm:spPr/>
    </dgm:pt>
    <dgm:pt modelId="{177B79F4-A2EC-431A-9303-932A7D8A367F}" type="pres">
      <dgm:prSet presAssocID="{0A681006-69FA-4987-AFE6-39A575367C5C}" presName="rootComposite" presStyleCnt="0"/>
      <dgm:spPr/>
    </dgm:pt>
    <dgm:pt modelId="{92FBA78A-6903-4F55-A961-8D85AE3BF8D2}" type="pres">
      <dgm:prSet presAssocID="{0A681006-69FA-4987-AFE6-39A575367C5C}" presName="rootText" presStyleLbl="node1" presStyleIdx="1" presStyleCnt="2" custScaleX="136512"/>
      <dgm:spPr/>
    </dgm:pt>
    <dgm:pt modelId="{2FC0D947-F7FB-46B2-971B-F17909F5CCBA}" type="pres">
      <dgm:prSet presAssocID="{0A681006-69FA-4987-AFE6-39A575367C5C}" presName="rootConnector" presStyleCnt="0"/>
      <dgm:spPr/>
    </dgm:pt>
    <dgm:pt modelId="{C73B5B12-86B8-4255-B945-01488E303E62}" type="pres">
      <dgm:prSet presAssocID="{0A681006-69FA-4987-AFE6-39A575367C5C}" presName="childShape" presStyleCnt="0"/>
      <dgm:spPr/>
    </dgm:pt>
    <dgm:pt modelId="{FEE4FBA7-0F28-4B5A-B2D8-A88617FAD43E}" type="pres">
      <dgm:prSet presAssocID="{3460A6D5-B4F1-4817-A64B-FF3B4838CDA5}" presName="Name13" presStyleLbl="parChTrans1D2" presStyleIdx="2" presStyleCnt="4" custSzX="316498"/>
      <dgm:spPr/>
    </dgm:pt>
    <dgm:pt modelId="{587216D6-DA0D-4325-A113-8A30652BC9EC}" type="pres">
      <dgm:prSet presAssocID="{8F45D21F-47EE-48AF-BBCA-0D06896DD628}" presName="childText" presStyleLbl="bgAcc1" presStyleIdx="2" presStyleCnt="4" custScaleX="136511">
        <dgm:presLayoutVars>
          <dgm:bulletEnabled val="1"/>
        </dgm:presLayoutVars>
      </dgm:prSet>
      <dgm:spPr/>
    </dgm:pt>
    <dgm:pt modelId="{BF95263E-641B-4745-9D67-B2601B6EB02F}" type="pres">
      <dgm:prSet presAssocID="{7631D427-A8C9-43ED-8890-A62B42A6CFCA}" presName="Name13" presStyleLbl="parChTrans1D2" presStyleIdx="3" presStyleCnt="4" custSzX="316498"/>
      <dgm:spPr/>
    </dgm:pt>
    <dgm:pt modelId="{47F1C3E1-78F9-48A2-86B5-201FB6BD01D5}" type="pres">
      <dgm:prSet presAssocID="{B3D4BDE1-9816-4585-8968-1BB3951DEFD1}" presName="childText" presStyleLbl="bgAcc1" presStyleIdx="3" presStyleCnt="4" custScaleX="136511">
        <dgm:presLayoutVars>
          <dgm:bulletEnabled val="1"/>
        </dgm:presLayoutVars>
      </dgm:prSet>
      <dgm:spPr/>
    </dgm:pt>
  </dgm:ptLst>
  <dgm:cxnLst>
    <dgm:cxn modelId="{BDBBB37A-BE5C-46D1-9129-A9DA4E22328A}" srcId="{90F5AE5B-BC17-496F-88B6-66D6B1B69D1D}" destId="{BB226A5B-382F-4088-9D1A-B206A30C82FA}" srcOrd="0" destOrd="0" parTransId="{A5D45B0E-D5F1-4C48-883E-BFB98A8B5C80}" sibTransId="{5E877D61-B1ED-4486-AE8A-AE1ED92EAAF4}"/>
    <dgm:cxn modelId="{98197D63-CCB6-4295-BE39-79EB5B235022}" srcId="{BB226A5B-382F-4088-9D1A-B206A30C82FA}" destId="{99681D58-0CA0-4921-A699-BD1E333B2859}" srcOrd="0" destOrd="0" parTransId="{C6A83D3A-48F1-4119-81AD-3DA9A1B2D93A}" sibTransId="{0B8BB2CE-80A2-416C-BC58-6D64727F5B0C}"/>
    <dgm:cxn modelId="{5285F298-A0C1-4C00-9EFA-D69DDF180FFE}" srcId="{BB226A5B-382F-4088-9D1A-B206A30C82FA}" destId="{A16E1B65-7632-4882-A013-C116B1CC1937}" srcOrd="1" destOrd="0" parTransId="{B8C5A18A-2625-4CF0-9F1C-39276C2BF9F8}" sibTransId="{7073F305-F4FA-477C-B3FD-18F0326B3244}"/>
    <dgm:cxn modelId="{FA5DFFB4-4E2C-4950-94CF-8245EF50A382}" srcId="{90F5AE5B-BC17-496F-88B6-66D6B1B69D1D}" destId="{0A681006-69FA-4987-AFE6-39A575367C5C}" srcOrd="1" destOrd="0" parTransId="{B1C9A973-983E-4422-BBE5-8D945B88D212}" sibTransId="{AC68336C-3880-454F-9771-BF4C867ACC60}"/>
    <dgm:cxn modelId="{4133E61E-90D7-45EC-BC5B-68AF0FF8B47B}" srcId="{0A681006-69FA-4987-AFE6-39A575367C5C}" destId="{8F45D21F-47EE-48AF-BBCA-0D06896DD628}" srcOrd="0" destOrd="1" parTransId="{3460A6D5-B4F1-4817-A64B-FF3B4838CDA5}" sibTransId="{FFE7092F-D8B3-404C-BF39-0F47FF8FE20F}"/>
    <dgm:cxn modelId="{61A0763C-D75A-497E-B1E6-8B7E70AF746F}" srcId="{0A681006-69FA-4987-AFE6-39A575367C5C}" destId="{B3D4BDE1-9816-4585-8968-1BB3951DEFD1}" srcOrd="1" destOrd="1" parTransId="{7631D427-A8C9-43ED-8890-A62B42A6CFCA}" sibTransId="{C658714A-8116-419B-B030-1F12D73D859D}"/>
    <dgm:cxn modelId="{13260F8B-66B7-42D0-89BA-A13E26448E0D}" type="presOf" srcId="{90F5AE5B-BC17-496F-88B6-66D6B1B69D1D}" destId="{810BFE55-A24D-48E4-B5B7-91A6030A65B6}" srcOrd="0" destOrd="0" presId="urn:microsoft.com/office/officeart/2005/8/layout/hierarchy3"/>
    <dgm:cxn modelId="{DB29050E-9D45-42C1-8BD5-E09DE6E4FD44}" type="presParOf" srcId="{810BFE55-A24D-48E4-B5B7-91A6030A65B6}" destId="{20B6542F-691A-40E5-BA64-72C94357EFE8}" srcOrd="0" destOrd="0" presId="urn:microsoft.com/office/officeart/2005/8/layout/hierarchy3"/>
    <dgm:cxn modelId="{3B9F0F69-0E31-4D60-8589-D3366E0CF6F9}" type="presParOf" srcId="{20B6542F-691A-40E5-BA64-72C94357EFE8}" destId="{113EABB1-5712-41D0-AABB-77CB119911F1}" srcOrd="0" destOrd="0" presId="urn:microsoft.com/office/officeart/2005/8/layout/hierarchy3"/>
    <dgm:cxn modelId="{CD878571-5658-46D3-9B1E-426B0E9F5F7C}" type="presOf" srcId="{BB226A5B-382F-4088-9D1A-B206A30C82FA}" destId="{113EABB1-5712-41D0-AABB-77CB119911F1}" srcOrd="0" destOrd="0" presId="urn:microsoft.com/office/officeart/2005/8/layout/hierarchy3"/>
    <dgm:cxn modelId="{9EAF99FE-4406-4EA2-8E35-9678046843C6}" type="presParOf" srcId="{113EABB1-5712-41D0-AABB-77CB119911F1}" destId="{379CEAAD-BD79-4288-802F-38327A2BD25F}" srcOrd="0" destOrd="0" presId="urn:microsoft.com/office/officeart/2005/8/layout/hierarchy3"/>
    <dgm:cxn modelId="{66B868BD-46B4-4F03-8336-AA05CD3D5479}" type="presOf" srcId="{BB226A5B-382F-4088-9D1A-B206A30C82FA}" destId="{379CEAAD-BD79-4288-802F-38327A2BD25F}" srcOrd="0" destOrd="0" presId="urn:microsoft.com/office/officeart/2005/8/layout/hierarchy3"/>
    <dgm:cxn modelId="{1F0ADBD6-8EE7-4C2A-B515-494658583D89}" type="presParOf" srcId="{113EABB1-5712-41D0-AABB-77CB119911F1}" destId="{67BB8939-9D78-4E86-8971-48D2C5A7C841}" srcOrd="1" destOrd="0" presId="urn:microsoft.com/office/officeart/2005/8/layout/hierarchy3"/>
    <dgm:cxn modelId="{5377ADAB-D397-4327-A551-B3178896A516}" type="presOf" srcId="{BB226A5B-382F-4088-9D1A-B206A30C82FA}" destId="{67BB8939-9D78-4E86-8971-48D2C5A7C841}" srcOrd="0" destOrd="0" presId="urn:microsoft.com/office/officeart/2005/8/layout/hierarchy3"/>
    <dgm:cxn modelId="{9125B22C-3986-41CA-9E1E-9559834C0466}" type="presParOf" srcId="{20B6542F-691A-40E5-BA64-72C94357EFE8}" destId="{0DAAB466-6591-456D-882F-79FE88BBCDB7}" srcOrd="1" destOrd="0" presId="urn:microsoft.com/office/officeart/2005/8/layout/hierarchy3"/>
    <dgm:cxn modelId="{148DC37C-6283-48CD-B5F8-CAD17E3249BB}" type="presParOf" srcId="{0DAAB466-6591-456D-882F-79FE88BBCDB7}" destId="{06A3AB0F-71D0-4685-A818-9A8E214F0DA4}" srcOrd="0" destOrd="1" presId="urn:microsoft.com/office/officeart/2005/8/layout/hierarchy3"/>
    <dgm:cxn modelId="{0AD86C56-70C5-4FE0-B839-40200212349B}" type="presOf" srcId="{C6A83D3A-48F1-4119-81AD-3DA9A1B2D93A}" destId="{06A3AB0F-71D0-4685-A818-9A8E214F0DA4}" srcOrd="0" destOrd="0" presId="urn:microsoft.com/office/officeart/2005/8/layout/hierarchy3"/>
    <dgm:cxn modelId="{8C9BFA25-D2A7-4288-BAEE-28DF8AA517FB}" type="presParOf" srcId="{0DAAB466-6591-456D-882F-79FE88BBCDB7}" destId="{E8794D3A-2EB4-4030-81A4-88447A679FAF}" srcOrd="1" destOrd="1" presId="urn:microsoft.com/office/officeart/2005/8/layout/hierarchy3"/>
    <dgm:cxn modelId="{928B8F20-F604-47D7-9773-78FEF5775025}" type="presOf" srcId="{99681D58-0CA0-4921-A699-BD1E333B2859}" destId="{E8794D3A-2EB4-4030-81A4-88447A679FAF}" srcOrd="0" destOrd="0" presId="urn:microsoft.com/office/officeart/2005/8/layout/hierarchy3"/>
    <dgm:cxn modelId="{C7911459-372A-4CF8-85E2-2867E9ABFEFF}" type="presParOf" srcId="{0DAAB466-6591-456D-882F-79FE88BBCDB7}" destId="{173AF228-5051-4997-806C-CCF816660775}" srcOrd="2" destOrd="1" presId="urn:microsoft.com/office/officeart/2005/8/layout/hierarchy3"/>
    <dgm:cxn modelId="{F43E1C99-D590-433E-A8B6-9E54EFB36FFD}" type="presOf" srcId="{B8C5A18A-2625-4CF0-9F1C-39276C2BF9F8}" destId="{173AF228-5051-4997-806C-CCF816660775}" srcOrd="0" destOrd="0" presId="urn:microsoft.com/office/officeart/2005/8/layout/hierarchy3"/>
    <dgm:cxn modelId="{A2C292B3-89E4-49EC-A6C6-76184996553D}" type="presParOf" srcId="{0DAAB466-6591-456D-882F-79FE88BBCDB7}" destId="{DB264884-BD8F-48CC-B1AE-380F3DCB0E58}" srcOrd="3" destOrd="1" presId="urn:microsoft.com/office/officeart/2005/8/layout/hierarchy3"/>
    <dgm:cxn modelId="{0672CAC8-912B-41DD-90C0-B455759C23EC}" type="presOf" srcId="{A16E1B65-7632-4882-A013-C116B1CC1937}" destId="{DB264884-BD8F-48CC-B1AE-380F3DCB0E58}" srcOrd="0" destOrd="0" presId="urn:microsoft.com/office/officeart/2005/8/layout/hierarchy3"/>
    <dgm:cxn modelId="{C9FE9233-BEE8-40D1-A049-BDF2D9908D55}" type="presParOf" srcId="{810BFE55-A24D-48E4-B5B7-91A6030A65B6}" destId="{4F96ADD4-4CD1-4A24-B5F4-CCEB6CAA5ADF}" srcOrd="1" destOrd="0" presId="urn:microsoft.com/office/officeart/2005/8/layout/hierarchy3"/>
    <dgm:cxn modelId="{8106F4C5-CB91-49D9-B198-E5CAFF5D338B}" type="presParOf" srcId="{4F96ADD4-4CD1-4A24-B5F4-CCEB6CAA5ADF}" destId="{177B79F4-A2EC-431A-9303-932A7D8A367F}" srcOrd="0" destOrd="1" presId="urn:microsoft.com/office/officeart/2005/8/layout/hierarchy3"/>
    <dgm:cxn modelId="{6986271A-BA33-45C5-AB20-E1D7942C5314}" type="presOf" srcId="{0A681006-69FA-4987-AFE6-39A575367C5C}" destId="{177B79F4-A2EC-431A-9303-932A7D8A367F}" srcOrd="0" destOrd="0" presId="urn:microsoft.com/office/officeart/2005/8/layout/hierarchy3"/>
    <dgm:cxn modelId="{7BF17C6C-77A3-4BFB-A072-66278159CB14}" type="presParOf" srcId="{177B79F4-A2EC-431A-9303-932A7D8A367F}" destId="{92FBA78A-6903-4F55-A961-8D85AE3BF8D2}" srcOrd="0" destOrd="0" presId="urn:microsoft.com/office/officeart/2005/8/layout/hierarchy3"/>
    <dgm:cxn modelId="{6ADEFDD4-DC07-4B10-9486-277DA745512F}" type="presOf" srcId="{0A681006-69FA-4987-AFE6-39A575367C5C}" destId="{92FBA78A-6903-4F55-A961-8D85AE3BF8D2}" srcOrd="0" destOrd="0" presId="urn:microsoft.com/office/officeart/2005/8/layout/hierarchy3"/>
    <dgm:cxn modelId="{15B37B33-BD34-45AE-BF03-8AFAD231F924}" type="presParOf" srcId="{177B79F4-A2EC-431A-9303-932A7D8A367F}" destId="{2FC0D947-F7FB-46B2-971B-F17909F5CCBA}" srcOrd="1" destOrd="0" presId="urn:microsoft.com/office/officeart/2005/8/layout/hierarchy3"/>
    <dgm:cxn modelId="{914E0244-9AC8-4E5A-AD40-50E78237E2DF}" type="presOf" srcId="{0A681006-69FA-4987-AFE6-39A575367C5C}" destId="{2FC0D947-F7FB-46B2-971B-F17909F5CCBA}" srcOrd="0" destOrd="0" presId="urn:microsoft.com/office/officeart/2005/8/layout/hierarchy3"/>
    <dgm:cxn modelId="{71D37668-956C-4AFF-BF65-468483DD4A02}" type="presParOf" srcId="{4F96ADD4-4CD1-4A24-B5F4-CCEB6CAA5ADF}" destId="{C73B5B12-86B8-4255-B945-01488E303E62}" srcOrd="1" destOrd="1" presId="urn:microsoft.com/office/officeart/2005/8/layout/hierarchy3"/>
    <dgm:cxn modelId="{A35F5B78-A60C-44FD-A422-0CE4AB87F064}" type="presParOf" srcId="{C73B5B12-86B8-4255-B945-01488E303E62}" destId="{FEE4FBA7-0F28-4B5A-B2D8-A88617FAD43E}" srcOrd="0" destOrd="1" presId="urn:microsoft.com/office/officeart/2005/8/layout/hierarchy3"/>
    <dgm:cxn modelId="{D5A708CB-192C-4C4E-B985-4DAF14575611}" type="presOf" srcId="{3460A6D5-B4F1-4817-A64B-FF3B4838CDA5}" destId="{FEE4FBA7-0F28-4B5A-B2D8-A88617FAD43E}" srcOrd="0" destOrd="0" presId="urn:microsoft.com/office/officeart/2005/8/layout/hierarchy3"/>
    <dgm:cxn modelId="{39504978-99C5-45DD-8A35-971E0031DCF7}" type="presParOf" srcId="{C73B5B12-86B8-4255-B945-01488E303E62}" destId="{587216D6-DA0D-4325-A113-8A30652BC9EC}" srcOrd="1" destOrd="1" presId="urn:microsoft.com/office/officeart/2005/8/layout/hierarchy3"/>
    <dgm:cxn modelId="{17DB2BEC-09E3-449D-B3FB-83D99567B798}" type="presOf" srcId="{8F45D21F-47EE-48AF-BBCA-0D06896DD628}" destId="{587216D6-DA0D-4325-A113-8A30652BC9EC}" srcOrd="0" destOrd="0" presId="urn:microsoft.com/office/officeart/2005/8/layout/hierarchy3"/>
    <dgm:cxn modelId="{BDCBA071-9575-4FA2-8814-F4ECA76D298E}" type="presParOf" srcId="{C73B5B12-86B8-4255-B945-01488E303E62}" destId="{BF95263E-641B-4745-9D67-B2601B6EB02F}" srcOrd="2" destOrd="1" presId="urn:microsoft.com/office/officeart/2005/8/layout/hierarchy3"/>
    <dgm:cxn modelId="{FEF552EB-5FBD-4CEE-B2CE-E75A2BA273D4}" type="presOf" srcId="{7631D427-A8C9-43ED-8890-A62B42A6CFCA}" destId="{BF95263E-641B-4745-9D67-B2601B6EB02F}" srcOrd="0" destOrd="0" presId="urn:microsoft.com/office/officeart/2005/8/layout/hierarchy3"/>
    <dgm:cxn modelId="{90A301A4-4BFA-40C6-8367-0D04E7F18E18}" type="presParOf" srcId="{C73B5B12-86B8-4255-B945-01488E303E62}" destId="{47F1C3E1-78F9-48A2-86B5-201FB6BD01D5}" srcOrd="3" destOrd="1" presId="urn:microsoft.com/office/officeart/2005/8/layout/hierarchy3"/>
    <dgm:cxn modelId="{87BFFF13-F37C-484B-AF49-FE96B27FADC7}" type="presOf" srcId="{B3D4BDE1-9816-4585-8968-1BB3951DEFD1}" destId="{47F1C3E1-78F9-48A2-86B5-201FB6BD01D5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363272" cy="4064000"/>
        <a:chOff x="0" y="0"/>
        <a:chExt cx="8363272" cy="4064000"/>
      </a:xfrm>
    </dsp:grpSpPr>
    <dsp:sp modelId="{379CEAAD-BD79-4288-802F-38327A2BD25F}">
      <dsp:nvSpPr>
        <dsp:cNvPr id="3" name="圆角矩形 2"/>
        <dsp:cNvSpPr/>
      </dsp:nvSpPr>
      <dsp:spPr bwMode="white">
        <a:xfrm>
          <a:off x="165162" y="27775"/>
          <a:ext cx="3188336" cy="1161143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2"/>
        </a:lnRef>
        <a:fillRef idx="2">
          <a:schemeClr val="dk2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76200" tIns="50800" rIns="76200" bIns="508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b="1" dirty="0"/>
            <a:t>目的</a:t>
          </a:r>
          <a:endParaRPr lang="zh-CN" altLang="en-US" sz="4000" b="1" dirty="0"/>
        </a:p>
      </dsp:txBody>
      <dsp:txXfrm>
        <a:off x="165162" y="27775"/>
        <a:ext cx="3188336" cy="1161143"/>
      </dsp:txXfrm>
    </dsp:sp>
    <dsp:sp modelId="{06A3AB0F-71D0-4685-A818-9A8E214F0DA4}">
      <dsp:nvSpPr>
        <dsp:cNvPr id="5" name="任意多边形 4"/>
        <dsp:cNvSpPr/>
      </dsp:nvSpPr>
      <dsp:spPr bwMode="white">
        <a:xfrm>
          <a:off x="483995" y="1188917"/>
          <a:ext cx="299024" cy="843083"/>
        </a:xfrm>
        <a:custGeom>
          <a:avLst/>
          <a:gdLst/>
          <a:ahLst/>
          <a:cxnLst/>
          <a:pathLst>
            <a:path w="471" h="1328">
              <a:moveTo>
                <a:pt x="0" y="0"/>
              </a:moveTo>
              <a:lnTo>
                <a:pt x="0" y="1328"/>
              </a:lnTo>
              <a:lnTo>
                <a:pt x="471" y="1328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483995" y="1188917"/>
        <a:ext cx="299024" cy="843083"/>
      </dsp:txXfrm>
    </dsp:sp>
    <dsp:sp modelId="{E8794D3A-2EB4-4030-81A4-88447A679FAF}">
      <dsp:nvSpPr>
        <dsp:cNvPr id="6" name="圆角矩形 5"/>
        <dsp:cNvSpPr/>
      </dsp:nvSpPr>
      <dsp:spPr bwMode="white">
        <a:xfrm>
          <a:off x="783020" y="1451429"/>
          <a:ext cx="2550669" cy="1161143"/>
        </a:xfrm>
        <a:prstGeom prst="roundRect">
          <a:avLst>
            <a:gd name="adj" fmla="val 10000"/>
          </a:avLst>
        </a:prstGeom>
      </dsp:spPr>
      <dsp:style>
        <a:lnRef idx="1">
          <a:schemeClr val="dk2"/>
        </a:lnRef>
        <a:fillRef idx="1">
          <a:schemeClr val="lt2">
            <a:alpha val="90000"/>
          </a:schemeClr>
        </a:fillRef>
        <a:effectRef idx="0">
          <a:scrgbClr r="0" g="0" b="0"/>
        </a:effectRef>
        <a:fontRef idx="minor"/>
      </dsp:style>
      <dsp:txBody>
        <a:bodyPr lIns="43815" tIns="29210" rIns="43815" bIns="29210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solidFill>
                <a:schemeClr val="dk1"/>
              </a:solidFill>
            </a:rPr>
            <a:t>基本科学素养</a:t>
          </a:r>
          <a:endParaRPr lang="zh-CN" altLang="en-US" dirty="0">
            <a:solidFill>
              <a:schemeClr val="dk1"/>
            </a:solidFill>
          </a:endParaRPr>
        </a:p>
      </dsp:txBody>
      <dsp:txXfrm>
        <a:off x="783020" y="1451429"/>
        <a:ext cx="2550669" cy="1161143"/>
      </dsp:txXfrm>
    </dsp:sp>
    <dsp:sp modelId="{173AF228-5051-4997-806C-CCF816660775}">
      <dsp:nvSpPr>
        <dsp:cNvPr id="7" name="任意多边形 6"/>
        <dsp:cNvSpPr/>
      </dsp:nvSpPr>
      <dsp:spPr bwMode="white">
        <a:xfrm>
          <a:off x="483995" y="1188917"/>
          <a:ext cx="299024" cy="2294511"/>
        </a:xfrm>
        <a:custGeom>
          <a:avLst/>
          <a:gdLst/>
          <a:ahLst/>
          <a:cxnLst/>
          <a:pathLst>
            <a:path w="471" h="3613">
              <a:moveTo>
                <a:pt x="0" y="0"/>
              </a:moveTo>
              <a:lnTo>
                <a:pt x="0" y="3613"/>
              </a:lnTo>
              <a:lnTo>
                <a:pt x="471" y="3613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483995" y="1188917"/>
        <a:ext cx="299024" cy="2294511"/>
      </dsp:txXfrm>
    </dsp:sp>
    <dsp:sp modelId="{DB264884-BD8F-48CC-B1AE-380F3DCB0E58}">
      <dsp:nvSpPr>
        <dsp:cNvPr id="8" name="圆角矩形 7"/>
        <dsp:cNvSpPr/>
      </dsp:nvSpPr>
      <dsp:spPr bwMode="white">
        <a:xfrm>
          <a:off x="783020" y="2902857"/>
          <a:ext cx="2550669" cy="1161143"/>
        </a:xfrm>
        <a:prstGeom prst="roundRect">
          <a:avLst>
            <a:gd name="adj" fmla="val 10000"/>
          </a:avLst>
        </a:prstGeom>
      </dsp:spPr>
      <dsp:style>
        <a:lnRef idx="1">
          <a:schemeClr val="dk2"/>
        </a:lnRef>
        <a:fillRef idx="1">
          <a:schemeClr val="lt2">
            <a:alpha val="90000"/>
          </a:schemeClr>
        </a:fillRef>
        <a:effectRef idx="0">
          <a:scrgbClr r="0" g="0" b="0"/>
        </a:effectRef>
        <a:fontRef idx="minor"/>
      </dsp:style>
      <dsp:txBody>
        <a:bodyPr lIns="43815" tIns="29210" rIns="43815" bIns="29210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知识实践能力</a:t>
          </a:r>
          <a:endParaRPr>
            <a:solidFill>
              <a:schemeClr val="dk1"/>
            </a:solidFill>
          </a:endParaRPr>
        </a:p>
      </dsp:txBody>
      <dsp:txXfrm>
        <a:off x="783020" y="2902857"/>
        <a:ext cx="2550669" cy="1161143"/>
      </dsp:txXfrm>
    </dsp:sp>
    <dsp:sp modelId="{92FBA78A-6903-4F55-A961-8D85AE3BF8D2}">
      <dsp:nvSpPr>
        <dsp:cNvPr id="9" name="圆角矩形 8"/>
        <dsp:cNvSpPr/>
      </dsp:nvSpPr>
      <dsp:spPr bwMode="white">
        <a:xfrm>
          <a:off x="4480990" y="0"/>
          <a:ext cx="3170199" cy="1161143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2"/>
        </a:lnRef>
        <a:fillRef idx="2">
          <a:schemeClr val="dk2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76200" tIns="50800" rIns="76200" bIns="508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b="1" dirty="0"/>
            <a:t>意义</a:t>
          </a:r>
          <a:endParaRPr lang="zh-CN" altLang="en-US" sz="4000" b="1" dirty="0"/>
        </a:p>
      </dsp:txBody>
      <dsp:txXfrm>
        <a:off x="4480990" y="0"/>
        <a:ext cx="3170199" cy="1161143"/>
      </dsp:txXfrm>
    </dsp:sp>
    <dsp:sp modelId="{FEE4FBA7-0F28-4B5A-B2D8-A88617FAD43E}">
      <dsp:nvSpPr>
        <dsp:cNvPr id="11" name="任意多边形 10"/>
        <dsp:cNvSpPr/>
      </dsp:nvSpPr>
      <dsp:spPr bwMode="white">
        <a:xfrm>
          <a:off x="4798010" y="1161143"/>
          <a:ext cx="317020" cy="870857"/>
        </a:xfrm>
        <a:custGeom>
          <a:avLst/>
          <a:gdLst/>
          <a:ahLst/>
          <a:cxnLst/>
          <a:pathLst>
            <a:path w="499" h="1371">
              <a:moveTo>
                <a:pt x="0" y="0"/>
              </a:moveTo>
              <a:lnTo>
                <a:pt x="0" y="1371"/>
              </a:lnTo>
              <a:lnTo>
                <a:pt x="499" y="1371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4798010" y="1161143"/>
        <a:ext cx="317020" cy="870857"/>
      </dsp:txXfrm>
    </dsp:sp>
    <dsp:sp modelId="{587216D6-DA0D-4325-A113-8A30652BC9EC}">
      <dsp:nvSpPr>
        <dsp:cNvPr id="12" name="圆角矩形 11"/>
        <dsp:cNvSpPr/>
      </dsp:nvSpPr>
      <dsp:spPr bwMode="white">
        <a:xfrm>
          <a:off x="5115030" y="1451429"/>
          <a:ext cx="2536140" cy="1161143"/>
        </a:xfrm>
        <a:prstGeom prst="roundRect">
          <a:avLst>
            <a:gd name="adj" fmla="val 10000"/>
          </a:avLst>
        </a:prstGeom>
      </dsp:spPr>
      <dsp:style>
        <a:lnRef idx="1">
          <a:schemeClr val="dk2"/>
        </a:lnRef>
        <a:fillRef idx="1">
          <a:schemeClr val="lt2">
            <a:alpha val="90000"/>
          </a:schemeClr>
        </a:fillRef>
        <a:effectRef idx="0">
          <a:scrgbClr r="0" g="0" b="0"/>
        </a:effectRef>
        <a:fontRef idx="minor"/>
      </dsp:style>
      <dsp:txBody>
        <a:bodyPr lIns="43815" tIns="29210" rIns="43815" bIns="29210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solidFill>
                <a:schemeClr val="dk1"/>
              </a:solidFill>
            </a:rPr>
            <a:t>物理实验在自然科学中的重要地位</a:t>
          </a:r>
          <a:endParaRPr lang="zh-CN" altLang="en-US" dirty="0">
            <a:solidFill>
              <a:schemeClr val="dk1"/>
            </a:solidFill>
          </a:endParaRPr>
        </a:p>
      </dsp:txBody>
      <dsp:txXfrm>
        <a:off x="5115030" y="1451429"/>
        <a:ext cx="2536140" cy="1161143"/>
      </dsp:txXfrm>
    </dsp:sp>
    <dsp:sp modelId="{BF95263E-641B-4745-9D67-B2601B6EB02F}">
      <dsp:nvSpPr>
        <dsp:cNvPr id="13" name="任意多边形 12"/>
        <dsp:cNvSpPr/>
      </dsp:nvSpPr>
      <dsp:spPr bwMode="white">
        <a:xfrm>
          <a:off x="4798010" y="1161143"/>
          <a:ext cx="317020" cy="2322286"/>
        </a:xfrm>
        <a:custGeom>
          <a:avLst/>
          <a:gdLst/>
          <a:ahLst/>
          <a:cxnLst/>
          <a:pathLst>
            <a:path w="499" h="3657">
              <a:moveTo>
                <a:pt x="0" y="0"/>
              </a:moveTo>
              <a:lnTo>
                <a:pt x="0" y="3657"/>
              </a:lnTo>
              <a:lnTo>
                <a:pt x="499" y="3657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4798010" y="1161143"/>
        <a:ext cx="317020" cy="2322286"/>
      </dsp:txXfrm>
    </dsp:sp>
    <dsp:sp modelId="{47F1C3E1-78F9-48A2-86B5-201FB6BD01D5}">
      <dsp:nvSpPr>
        <dsp:cNvPr id="14" name="圆角矩形 13"/>
        <dsp:cNvSpPr/>
      </dsp:nvSpPr>
      <dsp:spPr bwMode="white">
        <a:xfrm>
          <a:off x="5115030" y="2902857"/>
          <a:ext cx="2536140" cy="1161143"/>
        </a:xfrm>
        <a:prstGeom prst="roundRect">
          <a:avLst>
            <a:gd name="adj" fmla="val 10000"/>
          </a:avLst>
        </a:prstGeom>
      </dsp:spPr>
      <dsp:style>
        <a:lnRef idx="1">
          <a:schemeClr val="dk2"/>
        </a:lnRef>
        <a:fillRef idx="1">
          <a:schemeClr val="lt2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3815" tIns="29210" rIns="43815" bIns="29210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solidFill>
                <a:schemeClr val="dk1"/>
              </a:solidFill>
            </a:rPr>
            <a:t>学生</a:t>
          </a:r>
          <a:r>
            <a:rPr lang="zh-CN" dirty="0">
              <a:solidFill>
                <a:schemeClr val="dk1"/>
              </a:solidFill>
            </a:rPr>
            <a:t>能力培养的重要作用</a:t>
          </a:r>
          <a:endParaRPr lang="zh-CN" altLang="en-US" dirty="0">
            <a:solidFill>
              <a:schemeClr val="dk1"/>
            </a:solidFill>
          </a:endParaRPr>
        </a:p>
      </dsp:txBody>
      <dsp:txXfrm>
        <a:off x="5115030" y="2902857"/>
        <a:ext cx="2536140" cy="1161143"/>
      </dsp:txXfrm>
    </dsp:sp>
    <dsp:sp modelId="{67BB8939-9D78-4E86-8971-48D2C5A7C841}">
      <dsp:nvSpPr>
        <dsp:cNvPr id="4" name="圆角矩形 3" hidden="1"/>
        <dsp:cNvSpPr/>
      </dsp:nvSpPr>
      <dsp:spPr>
        <a:xfrm>
          <a:off x="165162" y="27775"/>
          <a:ext cx="637667" cy="1161143"/>
        </a:xfrm>
        <a:prstGeom prst="roundRect">
          <a:avLst>
            <a:gd name="adj" fmla="val 10000"/>
          </a:avLst>
        </a:prstGeom>
      </dsp:spPr>
      <dsp:txXfrm>
        <a:off x="165162" y="27775"/>
        <a:ext cx="637667" cy="1161143"/>
      </dsp:txXfrm>
    </dsp:sp>
    <dsp:sp modelId="{2FC0D947-F7FB-46B2-971B-F17909F5CCBA}">
      <dsp:nvSpPr>
        <dsp:cNvPr id="10" name="圆角矩形 9" hidden="1"/>
        <dsp:cNvSpPr/>
      </dsp:nvSpPr>
      <dsp:spPr>
        <a:xfrm>
          <a:off x="4480990" y="0"/>
          <a:ext cx="634040" cy="1161143"/>
        </a:xfrm>
        <a:prstGeom prst="roundRect">
          <a:avLst>
            <a:gd name="adj" fmla="val 10000"/>
          </a:avLst>
        </a:prstGeom>
      </dsp:spPr>
      <dsp:txXfrm>
        <a:off x="4480990" y="0"/>
        <a:ext cx="634040" cy="1161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linDir" val="fromT"/>
              <dgm:param type="chAlign" val="l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24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7634CDC-5B03-443D-A66C-0A00F3F1A10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B9AF19B-D57E-428F-98D6-FB792076CFA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32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F6B2F7-5342-458F-AAED-9B8D1BB8FC9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73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73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81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F833DD-A459-4590-A3E4-A37ECC8C75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79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550375-C941-4363-A934-FF94EB4A2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AF19B-D57E-428F-98D6-FB792076CF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FFFF00"/>
                </a:solidFill>
              </a:rPr>
              <a:t>加上一段话：</a:t>
            </a:r>
            <a:endParaRPr lang="zh-CN" altLang="en-US">
              <a:solidFill>
                <a:srgbClr val="FFFF00"/>
              </a:solidFill>
            </a:endParaRPr>
          </a:p>
          <a:p>
            <a:r>
              <a:rPr lang="en-US" altLang="zh-CN">
                <a:solidFill>
                  <a:srgbClr val="FFFF00"/>
                </a:solidFill>
              </a:rPr>
              <a:t>“</a:t>
            </a:r>
            <a:r>
              <a:rPr lang="zh-CN" altLang="en-US">
                <a:solidFill>
                  <a:srgbClr val="FFFF00"/>
                </a:solidFill>
              </a:rPr>
              <a:t>对于不是由重复观测得到的估计值，无法使用</a:t>
            </a:r>
            <a:r>
              <a:rPr lang="en-US" altLang="zh-CN">
                <a:solidFill>
                  <a:srgbClr val="FFFF00"/>
                </a:solidFill>
              </a:rPr>
              <a:t>A</a:t>
            </a:r>
            <a:r>
              <a:rPr lang="zh-CN" altLang="en-US">
                <a:solidFill>
                  <a:srgbClr val="FFFF00"/>
                </a:solidFill>
              </a:rPr>
              <a:t>类评定方法计算标准不确定度，这是需要先根据情况估计一个概率分布，然后计算标准不确定度，称为</a:t>
            </a:r>
            <a:r>
              <a:rPr lang="en-US" altLang="zh-CN">
                <a:solidFill>
                  <a:srgbClr val="FFFF00"/>
                </a:solidFill>
              </a:rPr>
              <a:t>B</a:t>
            </a:r>
            <a:r>
              <a:rPr lang="zh-CN" altLang="en-US">
                <a:solidFill>
                  <a:srgbClr val="FFFF00"/>
                </a:solidFill>
              </a:rPr>
              <a:t>类不确定度</a:t>
            </a:r>
            <a:r>
              <a:rPr lang="en-US" altLang="zh-CN">
                <a:solidFill>
                  <a:srgbClr val="FFFF00"/>
                </a:solidFill>
              </a:rPr>
              <a:t>”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  <a:p>
            <a:r>
              <a:rPr lang="en-US" altLang="zh-CN">
                <a:solidFill>
                  <a:srgbClr val="FFFF00"/>
                </a:solidFill>
              </a:rPr>
              <a:t>“</a:t>
            </a:r>
            <a:r>
              <a:rPr lang="zh-CN" altLang="en-US">
                <a:solidFill>
                  <a:srgbClr val="FFFF00"/>
                </a:solidFill>
              </a:rPr>
              <a:t>需要指出的是，</a:t>
            </a:r>
            <a:r>
              <a:rPr lang="en-US" altLang="zh-CN">
                <a:solidFill>
                  <a:srgbClr val="FFFF00"/>
                </a:solidFill>
              </a:rPr>
              <a:t>A</a:t>
            </a:r>
            <a:r>
              <a:rPr lang="zh-CN" altLang="en-US">
                <a:solidFill>
                  <a:srgbClr val="FFFF00"/>
                </a:solidFill>
              </a:rPr>
              <a:t>评定和</a:t>
            </a:r>
            <a:r>
              <a:rPr lang="en-US" altLang="zh-CN">
                <a:solidFill>
                  <a:srgbClr val="FFFF00"/>
                </a:solidFill>
              </a:rPr>
              <a:t>B</a:t>
            </a:r>
            <a:r>
              <a:rPr lang="zh-CN" altLang="en-US">
                <a:solidFill>
                  <a:srgbClr val="FFFF00"/>
                </a:solidFill>
              </a:rPr>
              <a:t>类评定都是基于概率分布，都是用标准差定量表示不确定度，二者性质相同，可靠度一样，区别仅仅在于评定方法有所不同</a:t>
            </a:r>
            <a:r>
              <a:rPr lang="en-US" altLang="zh-CN">
                <a:solidFill>
                  <a:srgbClr val="FFFF00"/>
                </a:solidFill>
              </a:rPr>
              <a:t>”</a:t>
            </a:r>
            <a:endParaRPr lang="en-US" altLang="zh-CN">
              <a:solidFill>
                <a:srgbClr val="FFFF00"/>
              </a:solidFill>
            </a:endParaRPr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0615-AFE8-4CA6-84DB-6E93EF7156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AF19B-D57E-428F-98D6-FB792076CF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 bwMode="auto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009650"/>
            <a:ext cx="121920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>
            <a:lvl1pPr marL="0" indent="0" algn="ctr">
              <a:defRPr sz="3000"/>
            </a:lvl1pPr>
          </a:lstStyle>
          <a:p>
            <a:pPr lvl="0"/>
            <a:r>
              <a:rPr lang="zh-CN" altLang="en-US" noProof="0" smtClean="0">
                <a:sym typeface="Calibri" panose="020F0502020204030204" pitchFamily="34" charset="0"/>
              </a:rPr>
              <a:t>单击此处编辑母版标题样式</a:t>
            </a:r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789365"/>
            <a:ext cx="8534400" cy="105568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250"/>
            </a:lvl1pPr>
          </a:lstStyle>
          <a:p>
            <a:pPr lvl="0"/>
            <a:r>
              <a:rPr lang="zh-CN" altLang="en-US" noProof="0" smtClean="0">
                <a:sym typeface="Calibri" panose="020F0502020204030204" pitchFamily="34" charset="0"/>
              </a:rPr>
              <a:t>单击此处编辑母版副标题样式</a:t>
            </a:r>
            <a:endParaRPr lang="zh-CN" altLang="en-US" noProof="0" smtClean="0"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BF5CC88-A3EC-47BC-9C02-A06E1C64F326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                   cquwsc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D19558F-011B-4E25-912C-0BA955D3248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5" name="圆角矩形 12"/>
          <p:cNvSpPr/>
          <p:nvPr/>
        </p:nvSpPr>
        <p:spPr>
          <a:xfrm>
            <a:off x="86784" y="69850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0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6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368C7-5A4E-45AE-8D78-02A30427FA49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E770B8B-576F-4151-B448-510B90F48476}" type="slidenum">
              <a:rPr lang="zh-CN" altLang="en-US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9DA62-9B64-4336-9D9F-659DE72D52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5" name="圆角矩形 9"/>
          <p:cNvSpPr/>
          <p:nvPr/>
        </p:nvSpPr>
        <p:spPr>
          <a:xfrm>
            <a:off x="87084" y="69755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 flipV="1">
            <a:off x="93133" y="2376488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矩形 7"/>
          <p:cNvSpPr/>
          <p:nvPr/>
        </p:nvSpPr>
        <p:spPr>
          <a:xfrm>
            <a:off x="93133" y="2341563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矩形 8"/>
          <p:cNvSpPr/>
          <p:nvPr/>
        </p:nvSpPr>
        <p:spPr>
          <a:xfrm>
            <a:off x="91017" y="2468563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0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17781-1127-4848-A6E2-BB1C97E231CF}" type="datetime1">
              <a:rPr lang="zh-CN" altLang="en-US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3EAE4-31CC-44DE-ADBF-B5CE5CC91231}" type="slidenum">
              <a:rPr lang="zh-CN" altLang="en-US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84008-A7B4-42BE-A185-D212B52C60F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28EF3-5EFB-44DF-9662-83B6F7C68E5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69D38-04D4-4554-AD26-11B285AA7BB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29027-E3C4-4422-8F76-C2CD315F558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6" name="圆角矩形 8"/>
          <p:cNvSpPr/>
          <p:nvPr/>
        </p:nvSpPr>
        <p:spPr>
          <a:xfrm>
            <a:off x="84667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0142C-42E9-41F3-8E86-5E101732279F}" type="datetime1">
              <a:rPr lang="zh-CN" altLang="en-US"/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22E08-6752-48DA-B26A-700B14905D0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0"/>
          <p:cNvSpPr/>
          <p:nvPr/>
        </p:nvSpPr>
        <p:spPr>
          <a:xfrm flipV="1">
            <a:off x="91017" y="4683125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矩形 11"/>
          <p:cNvSpPr/>
          <p:nvPr/>
        </p:nvSpPr>
        <p:spPr>
          <a:xfrm>
            <a:off x="91017" y="4649788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矩形 12"/>
          <p:cNvSpPr/>
          <p:nvPr/>
        </p:nvSpPr>
        <p:spPr>
          <a:xfrm>
            <a:off x="91017" y="4773613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7" y="66675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C4FEDD-774E-4866-9170-487FBD7F4757}" type="datetime1">
              <a:rPr lang="zh-CN" altLang="en-US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60A3C-42C9-443F-BCC8-9DC55CE0047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C9C10-CDA4-4AF2-8D05-2C5A3165DB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0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04917-3B3C-4EFE-9E71-6938153D1E4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BF5CC88-A3EC-47BC-9C02-A06E1C64F326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                   cquwsc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D19558F-011B-4E25-912C-0BA955D3248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5" name="圆角矩形 12"/>
          <p:cNvSpPr/>
          <p:nvPr/>
        </p:nvSpPr>
        <p:spPr>
          <a:xfrm>
            <a:off x="86784" y="69850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0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6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368C7-5A4E-45AE-8D78-02A30427FA49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DF7FAC1-38F0-4961-A48B-5B8950CBE727}" type="slidenum">
              <a:rPr lang="zh-CN" altLang="en-US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8D6B2-24B8-41F9-AD1A-54E6E1E6889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5" name="圆角矩形 9"/>
          <p:cNvSpPr/>
          <p:nvPr/>
        </p:nvSpPr>
        <p:spPr>
          <a:xfrm>
            <a:off x="87084" y="69755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 flipV="1">
            <a:off x="93133" y="2376488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矩形 7"/>
          <p:cNvSpPr/>
          <p:nvPr/>
        </p:nvSpPr>
        <p:spPr>
          <a:xfrm>
            <a:off x="93133" y="2341563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矩形 8"/>
          <p:cNvSpPr/>
          <p:nvPr/>
        </p:nvSpPr>
        <p:spPr>
          <a:xfrm>
            <a:off x="91017" y="2468563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0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17781-1127-4848-A6E2-BB1C97E231CF}" type="datetime1">
              <a:rPr lang="zh-CN" altLang="en-US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6332B-0741-49A2-8A39-831235B27077}" type="slidenum">
              <a:rPr lang="zh-CN" altLang="en-US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EB93B-5185-49EF-8B99-EC62DF8D46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19CD3-D867-4198-BFE5-6F3879E402F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569A7-A063-48E9-B7D4-CC46143EAA3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99C06-F326-48EE-9885-14D6073FD0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6" name="圆角矩形 8"/>
          <p:cNvSpPr/>
          <p:nvPr/>
        </p:nvSpPr>
        <p:spPr>
          <a:xfrm>
            <a:off x="84667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0142C-42E9-41F3-8E86-5E101732279F}" type="datetime1">
              <a:rPr lang="zh-CN" altLang="en-US"/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ABDE7-0798-4F37-8515-83B3566BEBF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0"/>
          <p:cNvSpPr/>
          <p:nvPr/>
        </p:nvSpPr>
        <p:spPr>
          <a:xfrm flipV="1">
            <a:off x="91017" y="4683125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矩形 11"/>
          <p:cNvSpPr/>
          <p:nvPr/>
        </p:nvSpPr>
        <p:spPr>
          <a:xfrm>
            <a:off x="91017" y="4649788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矩形 12"/>
          <p:cNvSpPr/>
          <p:nvPr/>
        </p:nvSpPr>
        <p:spPr>
          <a:xfrm>
            <a:off x="91017" y="4773613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7" y="66675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C4FEDD-774E-4866-9170-487FBD7F4757}" type="datetime1">
              <a:rPr lang="zh-CN" altLang="en-US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304B7-B1CF-4653-8996-8D421BCBB3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A354F-DAA2-4F9E-8440-2CB38B93CCC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0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13131-2883-445C-BECA-B38209A5DA9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219200" y="274638"/>
            <a:ext cx="10363200" cy="57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0850B0-5E18-4CA5-A701-5F966E4853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 smtClean="0"/>
              <a:t>2015-9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AEBC456-DF56-4CF7-BCC9-7E5475663F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8683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5"/>
            <a:ext cx="518160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0"/>
            <a:ext cx="518160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1028"/>
          <p:cNvSpPr>
            <a:spLocks noGrp="1"/>
          </p:cNvSpPr>
          <p:nvPr>
            <p:ph type="dt" sz="half" idx="10"/>
          </p:nvPr>
        </p:nvSpPr>
        <p:spPr>
          <a:xfrm>
            <a:off x="609600" y="6537325"/>
            <a:ext cx="2844800" cy="2444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1029"/>
          <p:cNvSpPr>
            <a:spLocks noGrp="1"/>
          </p:cNvSpPr>
          <p:nvPr>
            <p:ph type="ftr" sz="quarter" idx="11"/>
          </p:nvPr>
        </p:nvSpPr>
        <p:spPr>
          <a:xfrm>
            <a:off x="4165600" y="6537325"/>
            <a:ext cx="3860800" cy="2444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1030"/>
          <p:cNvSpPr>
            <a:spLocks noGrp="1"/>
          </p:cNvSpPr>
          <p:nvPr>
            <p:ph type="sldNum" sz="quarter" idx="12"/>
          </p:nvPr>
        </p:nvSpPr>
        <p:spPr>
          <a:xfrm>
            <a:off x="8737600" y="6537325"/>
            <a:ext cx="2844800" cy="2444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B93B26D2-3D32-43FF-944C-BEE2A0573D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900" b="1">
                <a:solidFill>
                  <a:srgbClr val="898989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</a:lstStyle>
          <a:p>
            <a:pPr>
              <a:defRPr/>
            </a:pPr>
            <a:endParaRPr lang="zh-CN" altLang="zh-CN"/>
          </a:p>
        </p:txBody>
      </p:sp>
      <p:pic>
        <p:nvPicPr>
          <p:cNvPr id="13315" name="图片 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1009650"/>
            <a:ext cx="121920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>
                <a:sym typeface="Calibri" panose="020F0502020204030204" pitchFamily="34" charset="0"/>
              </a:rPr>
              <a:t>单击此处编辑母版标题样式</a:t>
            </a:r>
            <a:endParaRPr lang="zh-CN" altLang="en-US" smtClean="0">
              <a:sym typeface="Calibri" panose="020F0502020204030204" pitchFamily="34" charset="0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>
                <a:sym typeface="Calibri" panose="020F0502020204030204" pitchFamily="34" charset="0"/>
              </a:rPr>
              <a:t>单击此处编辑母版文本样式</a:t>
            </a:r>
            <a:endParaRPr lang="zh-CN" altLang="en-US" smtClean="0">
              <a:sym typeface="Calibri" panose="020F0502020204030204" pitchFamily="34" charset="0"/>
            </a:endParaRPr>
          </a:p>
          <a:p>
            <a:pPr lvl="1"/>
            <a:r>
              <a:rPr lang="zh-CN" altLang="en-US" smtClean="0">
                <a:sym typeface="Calibri" panose="020F0502020204030204" pitchFamily="34" charset="0"/>
              </a:rPr>
              <a:t>第二级</a:t>
            </a:r>
            <a:endParaRPr lang="zh-CN" altLang="en-US" smtClean="0">
              <a:sym typeface="Calibri" panose="020F0502020204030204" pitchFamily="34" charset="0"/>
            </a:endParaRPr>
          </a:p>
          <a:p>
            <a:pPr lvl="2"/>
            <a:r>
              <a:rPr lang="zh-CN" altLang="en-US" smtClean="0">
                <a:sym typeface="Calibri" panose="020F0502020204030204" pitchFamily="34" charset="0"/>
              </a:rPr>
              <a:t>第三级</a:t>
            </a:r>
            <a:endParaRPr lang="zh-CN" altLang="en-US" smtClean="0">
              <a:sym typeface="Calibri" panose="020F0502020204030204" pitchFamily="34" charset="0"/>
            </a:endParaRPr>
          </a:p>
          <a:p>
            <a:pPr lvl="3"/>
            <a:r>
              <a:rPr lang="zh-CN" altLang="en-US" smtClean="0">
                <a:sym typeface="Calibri" panose="020F0502020204030204" pitchFamily="34" charset="0"/>
              </a:rPr>
              <a:t>第四级</a:t>
            </a:r>
            <a:endParaRPr lang="zh-CN" altLang="en-US" smtClean="0">
              <a:sym typeface="Calibri" panose="020F0502020204030204" pitchFamily="34" charset="0"/>
            </a:endParaRPr>
          </a:p>
          <a:p>
            <a:pPr lvl="4"/>
            <a:r>
              <a:rPr lang="zh-CN" altLang="en-US" smtClean="0">
                <a:sym typeface="Calibri" panose="020F0502020204030204" pitchFamily="34" charset="0"/>
              </a:rPr>
              <a:t>第五级</a:t>
            </a:r>
            <a:endParaRPr lang="zh-CN" altLang="en-US" smtClean="0">
              <a:sym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 thruBlk="1"/>
  </p:transition>
  <p:txStyles>
    <p:titleStyle>
      <a:lvl1pPr marL="685800" indent="-685800" algn="r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j-ea"/>
          <a:cs typeface="微软雅黑" panose="020B0503020204020204" charset="-122"/>
          <a:sym typeface="Calibri" panose="020F0502020204030204" pitchFamily="34" charset="0"/>
        </a:defRPr>
      </a:lvl1pPr>
      <a:lvl2pPr marL="685800" indent="-685800" algn="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cs typeface="微软雅黑" panose="020B0503020204020204" charset="-122"/>
          <a:sym typeface="Calibri" panose="020F0502020204030204" pitchFamily="34" charset="0"/>
        </a:defRPr>
      </a:lvl2pPr>
      <a:lvl3pPr marL="685800" indent="-685800" algn="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cs typeface="微软雅黑" panose="020B0503020204020204" charset="-122"/>
          <a:sym typeface="Calibri" panose="020F0502020204030204" pitchFamily="34" charset="0"/>
        </a:defRPr>
      </a:lvl3pPr>
      <a:lvl4pPr marL="685800" indent="-685800" algn="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cs typeface="微软雅黑" panose="020B0503020204020204" charset="-122"/>
          <a:sym typeface="Calibri" panose="020F0502020204030204" pitchFamily="34" charset="0"/>
        </a:defRPr>
      </a:lvl4pPr>
      <a:lvl5pPr marL="685800" indent="-685800" algn="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cs typeface="微软雅黑" panose="020B0503020204020204" charset="-122"/>
          <a:sym typeface="Calibri" panose="020F0502020204030204" pitchFamily="34" charset="0"/>
        </a:defRPr>
      </a:lvl5pPr>
      <a:lvl6pPr marL="1028700" indent="-685800" algn="r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sym typeface="Calibri" panose="020F0502020204030204" pitchFamily="34" charset="0"/>
        </a:defRPr>
      </a:lvl6pPr>
      <a:lvl7pPr marL="1371600" indent="-685800" algn="r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sym typeface="Calibri" panose="020F0502020204030204" pitchFamily="34" charset="0"/>
        </a:defRPr>
      </a:lvl7pPr>
      <a:lvl8pPr marL="1714500" indent="-685800" algn="r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sym typeface="Calibri" panose="020F0502020204030204" pitchFamily="34" charset="0"/>
        </a:defRPr>
      </a:lvl8pPr>
      <a:lvl9pPr marL="2057400" indent="-685800" algn="r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anose="020F0502020204030204" pitchFamily="34" charset="0"/>
          <a:ea typeface="微软雅黑" panose="020B0503020204020204" charset="-122"/>
          <a:sym typeface="Calibri" panose="020F0502020204030204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微软雅黑" panose="020B0503020204020204" charset="-122"/>
          <a:sym typeface="Calibri" panose="020F0502020204030204" pitchFamily="34" charset="0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微软雅黑" panose="020B0503020204020204" charset="-122"/>
          <a:sym typeface="Calibri" panose="020F0502020204030204" pitchFamily="34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微软雅黑" panose="020B0503020204020204" charset="-122"/>
          <a:sym typeface="Calibri" panose="020F0502020204030204" pitchFamily="34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微软雅黑" panose="020B0503020204020204" charset="-122"/>
          <a:sym typeface="Calibri" panose="020F0502020204030204" pitchFamily="34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微软雅黑" panose="020B0503020204020204" charset="-122"/>
          <a:sym typeface="Calibr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667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604" name="标题占位符 2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9144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25605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696464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696464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562C195F-B3DF-40D7-AECD-6248D4AAD89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667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7892" name="标题占位符 2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9144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37893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696464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7E76D99-D480-47B6-A65D-A57D46110A1B}" type="datetime1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696464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5125F488-7D47-4463-A1DC-48B519376C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/>
          <a:ea typeface="幼圆" panose="02010509060101010101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hyperlink" Target="https://book.coursegate.cn/book-detail?id=H9Vt6MgvCKuR8SPeRjPfS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4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1.xml"/><Relationship Id="rId4" Type="http://schemas.openxmlformats.org/officeDocument/2006/relationships/image" Target="../media/image8.pn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9.png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0.png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31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8.wmf"/><Relationship Id="rId17" Type="http://schemas.openxmlformats.org/officeDocument/2006/relationships/vmlDrawing" Target="../drawings/vmlDrawing2.vml"/><Relationship Id="rId16" Type="http://schemas.openxmlformats.org/officeDocument/2006/relationships/slideLayout" Target="../slideLayouts/slideLayout31.xml"/><Relationship Id="rId15" Type="http://schemas.openxmlformats.org/officeDocument/2006/relationships/tags" Target="../tags/tag18.xml"/><Relationship Id="rId14" Type="http://schemas.openxmlformats.org/officeDocument/2006/relationships/image" Target="../media/image24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oleObject" Target="../embeddings/oleObject14.bin"/><Relationship Id="rId7" Type="http://schemas.openxmlformats.org/officeDocument/2006/relationships/oleObject" Target="../embeddings/oleObject13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5.png"/><Relationship Id="rId15" Type="http://schemas.openxmlformats.org/officeDocument/2006/relationships/notesSlide" Target="../notesSlides/notesSlide9.xml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31.xml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oleObject" Target="../embeddings/oleObject15.bin"/><Relationship Id="rId1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31.wmf"/><Relationship Id="rId3" Type="http://schemas.openxmlformats.org/officeDocument/2006/relationships/oleObject" Target="../embeddings/oleObject16.bin"/><Relationship Id="rId2" Type="http://schemas.openxmlformats.org/officeDocument/2006/relationships/tags" Target="../tags/tag19.xml"/><Relationship Id="rId11" Type="http://schemas.openxmlformats.org/officeDocument/2006/relationships/notesSlide" Target="../notesSlides/notesSlide10.xml"/><Relationship Id="rId10" Type="http://schemas.openxmlformats.org/officeDocument/2006/relationships/vmlDrawing" Target="../drawings/vmlDrawing4.vml"/><Relationship Id="rId1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15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image" Target="../media/image65.png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9" Type="http://schemas.openxmlformats.org/officeDocument/2006/relationships/notesSlide" Target="../notesSlides/notesSlide14.xml"/><Relationship Id="rId38" Type="http://schemas.openxmlformats.org/officeDocument/2006/relationships/slideLayout" Target="../slideLayouts/slideLayout24.xml"/><Relationship Id="rId37" Type="http://schemas.openxmlformats.org/officeDocument/2006/relationships/image" Target="../media/image74.png"/><Relationship Id="rId36" Type="http://schemas.openxmlformats.org/officeDocument/2006/relationships/tags" Target="../tags/tag47.xml"/><Relationship Id="rId35" Type="http://schemas.openxmlformats.org/officeDocument/2006/relationships/tags" Target="../tags/tag46.xml"/><Relationship Id="rId34" Type="http://schemas.openxmlformats.org/officeDocument/2006/relationships/image" Target="../media/image73.png"/><Relationship Id="rId33" Type="http://schemas.openxmlformats.org/officeDocument/2006/relationships/tags" Target="../tags/tag45.xml"/><Relationship Id="rId32" Type="http://schemas.openxmlformats.org/officeDocument/2006/relationships/tags" Target="../tags/tag44.xml"/><Relationship Id="rId31" Type="http://schemas.openxmlformats.org/officeDocument/2006/relationships/image" Target="../media/image72.png"/><Relationship Id="rId30" Type="http://schemas.openxmlformats.org/officeDocument/2006/relationships/tags" Target="../tags/tag43.xml"/><Relationship Id="rId3" Type="http://schemas.openxmlformats.org/officeDocument/2006/relationships/tags" Target="../tags/tag23.xml"/><Relationship Id="rId29" Type="http://schemas.openxmlformats.org/officeDocument/2006/relationships/tags" Target="../tags/tag42.xml"/><Relationship Id="rId28" Type="http://schemas.openxmlformats.org/officeDocument/2006/relationships/tags" Target="../tags/tag41.xml"/><Relationship Id="rId27" Type="http://schemas.openxmlformats.org/officeDocument/2006/relationships/tags" Target="../tags/tag40.xml"/><Relationship Id="rId26" Type="http://schemas.openxmlformats.org/officeDocument/2006/relationships/tags" Target="../tags/tag39.xml"/><Relationship Id="rId25" Type="http://schemas.openxmlformats.org/officeDocument/2006/relationships/tags" Target="../tags/tag38.xml"/><Relationship Id="rId24" Type="http://schemas.openxmlformats.org/officeDocument/2006/relationships/image" Target="../media/image71.png"/><Relationship Id="rId23" Type="http://schemas.openxmlformats.org/officeDocument/2006/relationships/tags" Target="../tags/tag37.xml"/><Relationship Id="rId22" Type="http://schemas.openxmlformats.org/officeDocument/2006/relationships/tags" Target="../tags/tag36.xml"/><Relationship Id="rId21" Type="http://schemas.openxmlformats.org/officeDocument/2006/relationships/image" Target="../media/image70.png"/><Relationship Id="rId20" Type="http://schemas.openxmlformats.org/officeDocument/2006/relationships/tags" Target="../tags/tag35.xml"/><Relationship Id="rId2" Type="http://schemas.openxmlformats.org/officeDocument/2006/relationships/image" Target="../media/image64.png"/><Relationship Id="rId19" Type="http://schemas.openxmlformats.org/officeDocument/2006/relationships/tags" Target="../tags/tag34.xml"/><Relationship Id="rId18" Type="http://schemas.openxmlformats.org/officeDocument/2006/relationships/image" Target="../media/image69.png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image" Target="../media/image68.png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image" Target="../media/image67.png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24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06.wmf"/><Relationship Id="rId1" Type="http://schemas.openxmlformats.org/officeDocument/2006/relationships/oleObject" Target="../embeddings/oleObject17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08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07.wmf"/><Relationship Id="rId1" Type="http://schemas.openxmlformats.org/officeDocument/2006/relationships/oleObject" Target="../embeddings/oleObject18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10.png"/><Relationship Id="rId2" Type="http://schemas.openxmlformats.org/officeDocument/2006/relationships/image" Target="../media/image109.wmf"/><Relationship Id="rId1" Type="http://schemas.openxmlformats.org/officeDocument/2006/relationships/oleObject" Target="../embeddings/oleObject20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538"/>
          <p:cNvSpPr txBox="1">
            <a:spLocks noChangeArrowheads="1"/>
          </p:cNvSpPr>
          <p:nvPr/>
        </p:nvSpPr>
        <p:spPr bwMode="auto">
          <a:xfrm>
            <a:off x="4895850" y="5543550"/>
            <a:ext cx="4318000" cy="321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 eaLnBrk="0" hangingPunct="0">
              <a:buFont typeface="Arial" panose="020B0604020202020204" pitchFamily="34" charset="0"/>
              <a:buNone/>
            </a:pPr>
            <a:endParaRPr lang="en-US" altLang="zh-CN" sz="1500" b="1">
              <a:solidFill>
                <a:srgbClr val="4F81BD"/>
              </a:solidFill>
              <a:latin typeface="Lucida Sans Unicode" panose="020B0602030504020204" pitchFamily="34" charset="0"/>
              <a:ea typeface="Gulim" panose="020B0600000101010101" pitchFamily="34" charset="-127"/>
            </a:endParaRPr>
          </a:p>
        </p:txBody>
      </p:sp>
      <p:sp>
        <p:nvSpPr>
          <p:cNvPr id="52226" name="矩形 6"/>
          <p:cNvSpPr>
            <a:spLocks noChangeArrowheads="1"/>
          </p:cNvSpPr>
          <p:nvPr/>
        </p:nvSpPr>
        <p:spPr bwMode="auto">
          <a:xfrm>
            <a:off x="6675120" y="5535630"/>
            <a:ext cx="309880" cy="321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r" eaLnBrk="0" hangingPunct="0">
              <a:buFont typeface="Arial" panose="020B0604020202020204" pitchFamily="34" charset="0"/>
              <a:buNone/>
            </a:pPr>
            <a:endParaRPr lang="zh-CN" altLang="en-US" sz="1500" b="1">
              <a:solidFill>
                <a:srgbClr val="4F81BD"/>
              </a:solidFill>
              <a:latin typeface="Lucida Sans Unicode" panose="020B0602030504020204" pitchFamily="34" charset="0"/>
              <a:ea typeface="Gulim" panose="020B0600000101010101" pitchFamily="34" charset="-127"/>
            </a:endParaRPr>
          </a:p>
        </p:txBody>
      </p:sp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7392988" y="4966194"/>
            <a:ext cx="685800" cy="299084"/>
          </a:xfrm>
          <a:prstGeom prst="flowChartProcess">
            <a:avLst/>
          </a:prstGeom>
          <a:noFill/>
          <a:ln>
            <a:noFill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  <p:txBody>
          <a:bodyPr anchor="ctr">
            <a:spAutoFit/>
          </a:bodyPr>
          <a:lstStyle/>
          <a:p>
            <a:pPr algn="r" eaLnBrk="0" hangingPunct="0">
              <a:buFont typeface="Arial" panose="020B0604020202020204" pitchFamily="34" charset="0"/>
              <a:buNone/>
              <a:defRPr/>
            </a:pPr>
            <a:endParaRPr lang="zh-CN" altLang="en-US" sz="1350" b="1">
              <a:solidFill>
                <a:srgbClr val="4F81BD"/>
              </a:solidFill>
              <a:latin typeface="Lucida Sans Unicode" panose="020B0602030504020204" pitchFamily="34" charset="0"/>
              <a:ea typeface="Gulim" panose="020B0600000101010101" pitchFamily="34" charset="-127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8853488" y="5351145"/>
            <a:ext cx="685800" cy="29908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  <p:txBody>
          <a:bodyPr anchor="ctr">
            <a:spAutoFit/>
          </a:bodyPr>
          <a:lstStyle/>
          <a:p>
            <a:pPr algn="r" eaLnBrk="0" hangingPunct="0">
              <a:buFont typeface="Arial" panose="020B0604020202020204" pitchFamily="34" charset="0"/>
              <a:buNone/>
              <a:defRPr/>
            </a:pPr>
            <a:endParaRPr lang="zh-CN" altLang="en-US" sz="1350" b="1">
              <a:solidFill>
                <a:srgbClr val="4F81BD"/>
              </a:solidFill>
              <a:latin typeface="Lucida Sans Unicode" panose="020B0602030504020204" pitchFamily="34" charset="0"/>
              <a:ea typeface="Gulim" panose="020B0600000101010101" pitchFamily="34" charset="-127"/>
            </a:endParaRPr>
          </a:p>
        </p:txBody>
      </p:sp>
      <p:pic>
        <p:nvPicPr>
          <p:cNvPr id="52229" name="图片 2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61350" y="39688"/>
            <a:ext cx="21971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0" name="Line 79"/>
          <p:cNvSpPr>
            <a:spLocks noChangeShapeType="1"/>
          </p:cNvSpPr>
          <p:nvPr/>
        </p:nvSpPr>
        <p:spPr bwMode="auto">
          <a:xfrm flipV="1">
            <a:off x="2135188" y="2619375"/>
            <a:ext cx="8066087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239375" y="6478588"/>
            <a:ext cx="29273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+mj-ea"/>
                <a:ea typeface="+mj-ea"/>
              </a:rPr>
              <a:t>1</a:t>
            </a:r>
            <a:endParaRPr lang="zh-CN" altLang="en-US" sz="1400" b="1" dirty="0">
              <a:latin typeface="+mj-ea"/>
              <a:ea typeface="+mj-ea"/>
            </a:endParaRPr>
          </a:p>
        </p:txBody>
      </p:sp>
      <p:sp>
        <p:nvSpPr>
          <p:cNvPr id="52232" name="Rectangle 2"/>
          <p:cNvSpPr txBox="1">
            <a:spLocks noChangeArrowheads="1"/>
          </p:cNvSpPr>
          <p:nvPr/>
        </p:nvSpPr>
        <p:spPr bwMode="auto">
          <a:xfrm>
            <a:off x="2952728" y="1428736"/>
            <a:ext cx="6889770" cy="904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ctr">
              <a:lnSpc>
                <a:spcPts val="5200"/>
              </a:lnSpc>
              <a:buFont typeface="Wingdings 2" panose="05020102010507070707" pitchFamily="18" charset="2"/>
              <a:buNone/>
            </a:pPr>
            <a:endParaRPr lang="en-US" altLang="zh-CN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6600" b="1" dirty="0" smtClean="0">
                <a:solidFill>
                  <a:srgbClr val="0000FF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 大 </a:t>
            </a:r>
            <a:r>
              <a:rPr lang="zh-CN" altLang="en-US" sz="6600" b="1" dirty="0">
                <a:solidFill>
                  <a:srgbClr val="0000FF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学 物 理 实 验</a:t>
            </a:r>
            <a:endParaRPr lang="zh-CN" altLang="en-US" sz="6600" b="1" dirty="0">
              <a:solidFill>
                <a:srgbClr val="0000FF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52233" name="TextBox 1"/>
          <p:cNvSpPr txBox="1">
            <a:spLocks noChangeArrowheads="1"/>
          </p:cNvSpPr>
          <p:nvPr/>
        </p:nvSpPr>
        <p:spPr bwMode="auto">
          <a:xfrm>
            <a:off x="2783840" y="4128770"/>
            <a:ext cx="6576695" cy="11372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郭 莉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杰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    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Email: glj@cqu.edu.cn 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；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 Tel:18875239981</a:t>
            </a:r>
            <a:endParaRPr lang="zh-CN" altLang="en-US" sz="2000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9470" y="2420620"/>
            <a:ext cx="3983355" cy="2967355"/>
          </a:xfrm>
        </p:spPr>
        <p:txBody>
          <a:bodyPr/>
          <a:lstStyle/>
          <a:p>
            <a:r>
              <a:rPr lang="zh-CN" altLang="en-US" sz="2800" dirty="0"/>
              <a:t>使用</a:t>
            </a:r>
            <a:r>
              <a:rPr lang="en-US" altLang="zh-CN" sz="2800" dirty="0"/>
              <a:t>2025</a:t>
            </a:r>
            <a:r>
              <a:rPr lang="zh-CN" altLang="en-US" sz="2800" dirty="0"/>
              <a:t>年</a:t>
            </a:r>
            <a:r>
              <a:rPr lang="en-US" altLang="zh-CN" sz="2800" dirty="0"/>
              <a:t>12</a:t>
            </a:r>
            <a:r>
              <a:rPr lang="zh-CN" altLang="en-US" sz="2800" dirty="0"/>
              <a:t>月第</a:t>
            </a:r>
            <a:r>
              <a:rPr lang="en-US" altLang="zh-CN" sz="2800" dirty="0"/>
              <a:t>14</a:t>
            </a:r>
            <a:r>
              <a:rPr lang="zh-CN" altLang="en-US" sz="2800" dirty="0"/>
              <a:t>次印刷的教材，或者数字教材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  <a:hlinkClick r:id="rId1"/>
            </a:endParaRPr>
          </a:p>
          <a:p>
            <a:pPr marL="0" indent="0">
              <a:buNone/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1"/>
              </a:rPr>
              <a:t>https://book.coursegate.cn/book-detail?id=H9Vt6MgvCKuR8SPeRjPfS</a:t>
            </a: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433" y="0"/>
            <a:ext cx="5027934" cy="68580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Line 7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2166938" y="1143000"/>
            <a:ext cx="8066087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38880" y="500063"/>
            <a:ext cx="604837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课程地位与作用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0745" y="6210300"/>
            <a:ext cx="457200" cy="457200"/>
          </a:xfrm>
        </p:spPr>
        <p:txBody>
          <a:bodyPr/>
          <a:p>
            <a:pPr>
              <a:defRPr/>
            </a:pPr>
            <a:fld id="{8D1C8C8A-E856-43FC-99ED-2EE8A6D4B1A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107" name="文本框 24"/>
          <p:cNvSpPr txBox="1"/>
          <p:nvPr/>
        </p:nvSpPr>
        <p:spPr>
          <a:xfrm>
            <a:off x="551180" y="2132965"/>
            <a:ext cx="11235690" cy="310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性质：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大学物理实验课是高等理工科院校对学生进行科学实验基本训练的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必修基础课程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，是本科生接收系统实验方法和实验技能训练的开端，与大学物理课程具有同等重要的地位。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sym typeface="Arial" panose="020B0604020202020204" pitchFamily="34" charset="0"/>
            </a:endParaRPr>
          </a:p>
          <a:p>
            <a:endParaRPr lang="zh-CN" altLang="en-US" sz="2800" b="1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内容：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普通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物理实验（力、热、声、电、光）和近代物理实验为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小课题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7" grpId="0"/>
      <p:bldP spid="410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Line 7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2166938" y="1143000"/>
            <a:ext cx="8066087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38880" y="500063"/>
            <a:ext cx="604837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课程地位与作用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407035" y="6271260"/>
            <a:ext cx="462915" cy="457200"/>
          </a:xfrm>
        </p:spPr>
        <p:txBody>
          <a:bodyPr/>
          <a:p>
            <a:pPr>
              <a:defRPr/>
            </a:pPr>
            <a:fld id="{8D1C8C8A-E856-43FC-99ED-2EE8A6D4B1A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107" name="文本框 24"/>
          <p:cNvSpPr txBox="1"/>
          <p:nvPr/>
        </p:nvSpPr>
        <p:spPr>
          <a:xfrm>
            <a:off x="479425" y="1556385"/>
            <a:ext cx="11104245" cy="4276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物理学：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本质上是一门实验科学，物理学理论的建立、物理规律的发现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依赖于物理实验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。已有的物理定律、物理假说、物理定律必须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接受实验的检验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，如果正确就予以确定，如果不正确就予以否定，不过不完全正确就予以修正。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sym typeface="Arial" panose="020B0604020202020204" pitchFamily="34" charset="0"/>
            </a:endParaRPr>
          </a:p>
          <a:p>
            <a:endParaRPr lang="zh-CN" altLang="en-US" sz="20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物理实验：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是研究物理量的测量方法和实验方法的科学，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物理实验技术是其他一切实验的基础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Arial" panose="020B0604020202020204" pitchFamily="34" charset="0"/>
              </a:rPr>
              <a:t>，具有适用于一切领域的通用性。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7" grpId="0"/>
      <p:bldP spid="410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矩形 1"/>
          <p:cNvSpPr>
            <a:spLocks noChangeArrowheads="1"/>
          </p:cNvSpPr>
          <p:nvPr/>
        </p:nvSpPr>
        <p:spPr bwMode="auto">
          <a:xfrm>
            <a:off x="3021330" y="500063"/>
            <a:ext cx="604837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  <a:r>
              <a:rPr lang="en-US" altLang="zh-CN" sz="4000" b="1" dirty="0">
                <a:solidFill>
                  <a:srgbClr val="0000FF"/>
                </a:solidFill>
                <a:ea typeface="楷体_GB2312" pitchFamily="49" charset="-122"/>
              </a:rPr>
              <a:t>   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课程目的和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意义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5300" name="Line 79"/>
          <p:cNvSpPr>
            <a:spLocks noChangeShapeType="1"/>
          </p:cNvSpPr>
          <p:nvPr/>
        </p:nvSpPr>
        <p:spPr bwMode="auto">
          <a:xfrm flipV="1">
            <a:off x="2166938" y="1143000"/>
            <a:ext cx="8066087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263525" y="6236970"/>
            <a:ext cx="457200" cy="457200"/>
          </a:xfrm>
        </p:spPr>
        <p:txBody>
          <a:bodyPr/>
          <a:lstStyle/>
          <a:p>
            <a:pPr>
              <a:defRPr/>
            </a:pPr>
            <a:fld id="{8D1C8C8A-E856-43FC-99ED-2EE8A6D4B1A2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2" name="图示 1"/>
          <p:cNvGraphicFramePr/>
          <p:nvPr>
            <p:custDataLst>
              <p:tags r:id="rId1"/>
            </p:custDataLst>
          </p:nvPr>
        </p:nvGraphicFramePr>
        <p:xfrm>
          <a:off x="2135560" y="1843306"/>
          <a:ext cx="83632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Line 7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2166938" y="1143000"/>
            <a:ext cx="8066087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25900" y="500063"/>
            <a:ext cx="604837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课程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介绍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83205" y="1410970"/>
            <a:ext cx="7291070" cy="531558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479425" y="6210300"/>
            <a:ext cx="457200" cy="457200"/>
          </a:xfrm>
        </p:spPr>
        <p:txBody>
          <a:bodyPr/>
          <a:p>
            <a:pPr>
              <a:defRPr/>
            </a:pPr>
            <a:fld id="{8D1C8C8A-E856-43FC-99ED-2EE8A6D4B1A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552690" y="5904230"/>
            <a:ext cx="2476500" cy="476250"/>
          </a:xfrm>
        </p:spPr>
        <p:txBody>
          <a:bodyPr/>
          <a:lstStyle/>
          <a:p>
            <a:pPr>
              <a:defRPr/>
            </a:pPr>
            <a:fld id="{D3A2F186-E483-480C-AB1A-D72A56B954B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551180" y="6210300"/>
            <a:ext cx="457200" cy="457200"/>
          </a:xfrm>
        </p:spPr>
        <p:txBody>
          <a:bodyPr/>
          <a:lstStyle/>
          <a:p>
            <a:pPr>
              <a:defRPr/>
            </a:pPr>
            <a:fld id="{E29353DA-D0E6-4BBB-BA80-E94679C99587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67765" y="1557020"/>
          <a:ext cx="9671050" cy="4727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860"/>
                <a:gridCol w="2391410"/>
                <a:gridCol w="2393315"/>
                <a:gridCol w="2704465"/>
              </a:tblGrid>
              <a:tr h="446405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力学实验</a:t>
                      </a:r>
                      <a:endParaRPr lang="zh-CN" altLang="en-US" sz="2000" b="1" dirty="0"/>
                    </a:p>
                  </a:txBody>
                  <a:tcPr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光学实验</a:t>
                      </a:r>
                      <a:endParaRPr lang="zh-CN" altLang="en-US" sz="2000" b="1" dirty="0"/>
                    </a:p>
                  </a:txBody>
                  <a:tcPr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电磁学实验</a:t>
                      </a:r>
                      <a:endParaRPr lang="zh-CN" altLang="en-US" sz="2000" b="1" dirty="0"/>
                    </a:p>
                  </a:txBody>
                  <a:tcPr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量子（近代）实验</a:t>
                      </a:r>
                      <a:endParaRPr lang="zh-CN" altLang="en-US" sz="2000" b="1" dirty="0"/>
                    </a:p>
                  </a:txBody>
                  <a:tcPr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杨氏弹性模量的测量  </a:t>
                      </a:r>
                      <a:r>
                        <a:rPr lang="en-US" altLang="zh-CN" sz="1800" dirty="0"/>
                        <a:t>S1417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显微镜、望远镜的设计与组装  </a:t>
                      </a:r>
                      <a:r>
                        <a:rPr lang="en-US" altLang="zh-CN" sz="1800" dirty="0"/>
                        <a:t>S1411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三用表的设计、制作与校正  </a:t>
                      </a:r>
                      <a:r>
                        <a:rPr lang="en-US" altLang="zh-CN" sz="1800" dirty="0"/>
                        <a:t>S1418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密立根油滴法测定基本电荷  </a:t>
                      </a:r>
                      <a:r>
                        <a:rPr lang="en-US" altLang="zh-CN" sz="1800" dirty="0"/>
                        <a:t>S1321</a:t>
                      </a:r>
                      <a:endParaRPr lang="en-US" altLang="zh-CN" sz="1800" dirty="0"/>
                    </a:p>
                  </a:txBody>
                  <a:tcPr/>
                </a:tc>
              </a:tr>
              <a:tr h="949325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传感器实验</a:t>
                      </a:r>
                      <a:r>
                        <a:rPr lang="en-US" altLang="zh-CN" sz="1800" dirty="0"/>
                        <a:t>--</a:t>
                      </a:r>
                      <a:r>
                        <a:rPr lang="zh-CN" altLang="en-US" sz="1800" dirty="0"/>
                        <a:t>电子秤的设计与制作</a:t>
                      </a:r>
                      <a:r>
                        <a:rPr lang="en-US" altLang="zh-CN" sz="1800" baseline="0" dirty="0"/>
                        <a:t>  S1416</a:t>
                      </a:r>
                      <a:endParaRPr lang="en-US" altLang="zh-CN" sz="1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迈克尔逊干涉仪的使用  </a:t>
                      </a:r>
                      <a:r>
                        <a:rPr lang="en-US" altLang="zh-CN" sz="1800" dirty="0"/>
                        <a:t>S1320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电子示波器的使用  </a:t>
                      </a:r>
                      <a:r>
                        <a:rPr lang="en-US" altLang="zh-CN" sz="1800" dirty="0"/>
                        <a:t>S1315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夫兰克</a:t>
                      </a:r>
                      <a:r>
                        <a:rPr lang="en-US" altLang="zh-CN" sz="1800" dirty="0"/>
                        <a:t>-</a:t>
                      </a:r>
                      <a:r>
                        <a:rPr lang="zh-CN" altLang="en-US" sz="1800" dirty="0"/>
                        <a:t>赫兹实验  </a:t>
                      </a:r>
                      <a:r>
                        <a:rPr lang="en-US" altLang="zh-CN" sz="1800" dirty="0"/>
                        <a:t>S1413</a:t>
                      </a:r>
                      <a:endParaRPr lang="en-US" altLang="zh-CN" sz="1800" dirty="0"/>
                    </a:p>
                  </a:txBody>
                  <a:tcPr/>
                </a:tc>
              </a:tr>
              <a:tr h="94932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等厚干涉</a:t>
                      </a:r>
                      <a:r>
                        <a:rPr lang="en-US" altLang="zh-CN" sz="1800" dirty="0"/>
                        <a:t>-</a:t>
                      </a:r>
                      <a:r>
                        <a:rPr lang="zh-CN" altLang="en-US" sz="1800" dirty="0"/>
                        <a:t>劈尖和牛顿环  </a:t>
                      </a:r>
                      <a:r>
                        <a:rPr lang="en-US" altLang="zh-CN" sz="1800" dirty="0"/>
                        <a:t>S1415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铁磁材料磁化曲线和磁滞回线的测绘  </a:t>
                      </a:r>
                      <a:r>
                        <a:rPr lang="en-US" altLang="zh-CN" sz="1800" dirty="0"/>
                        <a:t>S1213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光电效应法测普朗克常数  </a:t>
                      </a:r>
                      <a:r>
                        <a:rPr lang="en-US" altLang="zh-CN" sz="1800" dirty="0"/>
                        <a:t>S1317</a:t>
                      </a:r>
                      <a:endParaRPr lang="en-US" altLang="zh-CN" sz="1800" dirty="0"/>
                    </a:p>
                  </a:txBody>
                  <a:tcPr/>
                </a:tc>
              </a:tr>
              <a:tr h="94932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分光计的调整与玻璃三棱折射率的测量  </a:t>
                      </a:r>
                      <a:r>
                        <a:rPr lang="en-US" altLang="zh-CN" sz="1800" dirty="0"/>
                        <a:t>S1419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用直流电桥测量电阻温度系数  </a:t>
                      </a:r>
                      <a:r>
                        <a:rPr lang="en-US" altLang="zh-CN" sz="1800" dirty="0"/>
                        <a:t>S1322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/>
                </a:tc>
              </a:tr>
              <a:tr h="76835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/>
                        <a:t>声光衍射与液体中声速的测定</a:t>
                      </a:r>
                      <a:r>
                        <a:rPr lang="zh-CN" altLang="en-US" sz="1800" baseline="0" dirty="0"/>
                        <a:t>  </a:t>
                      </a:r>
                      <a:r>
                        <a:rPr lang="en-US" altLang="zh-CN" sz="1800" baseline="0" dirty="0"/>
                        <a:t>S1414</a:t>
                      </a:r>
                      <a:endParaRPr lang="en-US" altLang="zh-CN" sz="1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霍尔效应  </a:t>
                      </a:r>
                      <a:r>
                        <a:rPr lang="en-US" altLang="zh-CN" sz="1800" dirty="0"/>
                        <a:t>S1323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5297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380105" y="500063"/>
            <a:ext cx="604837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  <a:r>
              <a:rPr lang="en-US" altLang="zh-CN" sz="4000" b="1" dirty="0">
                <a:solidFill>
                  <a:srgbClr val="0000FF"/>
                </a:solidFill>
                <a:ea typeface="楷体_GB2312" pitchFamily="49" charset="-122"/>
              </a:rPr>
              <a:t>   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课程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任务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5300" name="Line 79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2095183" y="1143000"/>
            <a:ext cx="8066087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79"/>
          <p:cNvSpPr>
            <a:spLocks noChangeShapeType="1"/>
          </p:cNvSpPr>
          <p:nvPr/>
        </p:nvSpPr>
        <p:spPr bwMode="auto">
          <a:xfrm flipV="1">
            <a:off x="2173288" y="977265"/>
            <a:ext cx="8066087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C8C8A-E856-43FC-99ED-2EE8A6D4B1A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5297" name="矩形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80105" y="500063"/>
            <a:ext cx="604837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  <a:r>
              <a:rPr lang="en-US" altLang="zh-CN" sz="4000" b="1" dirty="0">
                <a:solidFill>
                  <a:srgbClr val="0000FF"/>
                </a:solidFill>
                <a:ea typeface="楷体_GB2312" pitchFamily="49" charset="-122"/>
              </a:rPr>
              <a:t>   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课前须知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125" y="1916430"/>
            <a:ext cx="9458325" cy="4608195"/>
          </a:xfrm>
          <a:prstGeom prst="rect">
            <a:avLst/>
          </a:prstGeom>
        </p:spPr>
      </p:pic>
      <p:sp>
        <p:nvSpPr>
          <p:cNvPr id="4098" name="文本框 16"/>
          <p:cNvSpPr txBox="1"/>
          <p:nvPr/>
        </p:nvSpPr>
        <p:spPr>
          <a:xfrm>
            <a:off x="911225" y="1298575"/>
            <a:ext cx="40100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线上线下混合式教学</a:t>
            </a:r>
            <a:endParaRPr lang="zh-CN" altLang="en-US" sz="2800" b="1" dirty="0">
              <a:latin typeface="Arial" panose="020B0604020202020204" pitchFamily="34" charset="0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09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79"/>
          <p:cNvSpPr>
            <a:spLocks noChangeShapeType="1"/>
          </p:cNvSpPr>
          <p:nvPr/>
        </p:nvSpPr>
        <p:spPr bwMode="auto">
          <a:xfrm flipV="1">
            <a:off x="2173288" y="977265"/>
            <a:ext cx="8066087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C8C8A-E856-43FC-99ED-2EE8A6D4B1A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5297" name="矩形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80105" y="500063"/>
            <a:ext cx="604837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 algn="l">
              <a:lnSpc>
                <a:spcPct val="5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40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  <a:r>
              <a:rPr lang="en-US" altLang="zh-CN" sz="4000" b="1" dirty="0">
                <a:solidFill>
                  <a:srgbClr val="0000FF"/>
                </a:solidFill>
                <a:ea typeface="楷体_GB2312" pitchFamily="49" charset="-122"/>
              </a:rPr>
              <a:t>   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课前须知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098" name="文本框 16"/>
          <p:cNvSpPr txBox="1"/>
          <p:nvPr/>
        </p:nvSpPr>
        <p:spPr>
          <a:xfrm>
            <a:off x="1847850" y="1298575"/>
            <a:ext cx="40100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成绩评定</a:t>
            </a:r>
            <a:endParaRPr lang="zh-CN" altLang="en-US" sz="2800" b="1" dirty="0">
              <a:latin typeface="Arial" panose="020B0604020202020204" pitchFamily="34" charset="0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pic>
        <p:nvPicPr>
          <p:cNvPr id="1229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15" y="2420620"/>
            <a:ext cx="8630920" cy="337629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箭头连接符 1"/>
          <p:cNvCxnSpPr/>
          <p:nvPr/>
        </p:nvCxnSpPr>
        <p:spPr>
          <a:xfrm flipV="1">
            <a:off x="6295390" y="2852420"/>
            <a:ext cx="448310" cy="334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16"/>
          <p:cNvSpPr txBox="1"/>
          <p:nvPr/>
        </p:nvSpPr>
        <p:spPr>
          <a:xfrm>
            <a:off x="6816090" y="2564765"/>
            <a:ext cx="17767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卷面划线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4" name="文本框 16"/>
          <p:cNvSpPr txBox="1"/>
          <p:nvPr/>
        </p:nvSpPr>
        <p:spPr>
          <a:xfrm>
            <a:off x="2017395" y="5796915"/>
            <a:ext cx="8378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迟到早退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分钟每次扣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分，旷课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宋体" panose="02010600030101010101" pitchFamily="2" charset="-122"/>
              </a:rPr>
              <a:t>次直接记为不及格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098" grpId="1"/>
      <p:bldP spid="3" grpId="0"/>
      <p:bldP spid="3" grpId="1"/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881158" y="2143116"/>
            <a:ext cx="8675687" cy="3046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华文中宋" panose="02010600040101010101" charset="-122"/>
                <a:ea typeface="华文中宋" panose="02010600040101010101" charset="-122"/>
              </a:rPr>
              <a:t>实验名称</a:t>
            </a:r>
            <a:endParaRPr lang="en-US" altLang="zh-CN" sz="2400" b="1" dirty="0">
              <a:latin typeface="华文中宋" panose="02010600040101010101" charset="-122"/>
              <a:ea typeface="华文中宋" panose="02010600040101010101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华文中宋" panose="02010600040101010101" charset="-122"/>
                <a:ea typeface="华文中宋" panose="02010600040101010101" charset="-122"/>
              </a:rPr>
              <a:t>实验目的（可以照抄）</a:t>
            </a:r>
            <a:endParaRPr lang="en-US" altLang="zh-CN" sz="2400" b="1" dirty="0">
              <a:latin typeface="华文中宋" panose="02010600040101010101" charset="-122"/>
              <a:ea typeface="华文中宋" panose="02010600040101010101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华文中宋" panose="02010600040101010101" charset="-122"/>
                <a:ea typeface="华文中宋" panose="02010600040101010101" charset="-122"/>
              </a:rPr>
              <a:t>实验原理</a:t>
            </a:r>
            <a:r>
              <a:rPr lang="en-US" altLang="zh-CN" sz="2400" b="1" dirty="0"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altLang="en-US" sz="2400" b="1" dirty="0">
                <a:latin typeface="华文中宋" panose="02010600040101010101" charset="-122"/>
                <a:ea typeface="华文中宋" panose="02010600040101010101" charset="-122"/>
              </a:rPr>
              <a:t>设计：文字简述，主要公式，原理图（电路图或光路图）</a:t>
            </a:r>
            <a:r>
              <a:rPr lang="en-US" altLang="zh-CN" sz="2400" b="1" dirty="0"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altLang="en-US" sz="2400" b="1" dirty="0">
                <a:latin typeface="华文中宋" panose="02010600040101010101" charset="-122"/>
                <a:ea typeface="华文中宋" panose="02010600040101010101" charset="-122"/>
              </a:rPr>
              <a:t>设计思路，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无需照抄教材！</a:t>
            </a:r>
            <a:endParaRPr lang="zh-CN" altLang="en-US" sz="24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370" name="矩形 4"/>
          <p:cNvSpPr>
            <a:spLocks noChangeArrowheads="1"/>
          </p:cNvSpPr>
          <p:nvPr/>
        </p:nvSpPr>
        <p:spPr bwMode="auto">
          <a:xfrm>
            <a:off x="4681062" y="149225"/>
            <a:ext cx="3234690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 algn="ctr"/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预习报告内容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8371" name="Line 79"/>
          <p:cNvSpPr>
            <a:spLocks noChangeShapeType="1"/>
          </p:cNvSpPr>
          <p:nvPr/>
        </p:nvSpPr>
        <p:spPr bwMode="auto">
          <a:xfrm flipV="1">
            <a:off x="2173288" y="976313"/>
            <a:ext cx="8066087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9BF30A-A40E-4675-ABE3-9E9B6A5387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矩形 1"/>
          <p:cNvSpPr>
            <a:spLocks noChangeArrowheads="1"/>
          </p:cNvSpPr>
          <p:nvPr/>
        </p:nvSpPr>
        <p:spPr bwMode="auto">
          <a:xfrm>
            <a:off x="4167188" y="149225"/>
            <a:ext cx="3989387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</a:rPr>
              <a:t>实验室</a:t>
            </a:r>
            <a:r>
              <a:rPr lang="zh-CN" altLang="en-US" sz="4000" b="1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基本要求</a:t>
            </a:r>
            <a:endParaRPr lang="zh-CN" altLang="en-US" sz="4000" b="1" dirty="0">
              <a:solidFill>
                <a:srgbClr val="0000F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9395" name="Line 79"/>
          <p:cNvSpPr>
            <a:spLocks noChangeShapeType="1"/>
          </p:cNvSpPr>
          <p:nvPr/>
        </p:nvSpPr>
        <p:spPr bwMode="auto">
          <a:xfrm flipV="1">
            <a:off x="1952625" y="908050"/>
            <a:ext cx="8286750" cy="4603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A96247-56E4-4F41-A733-8CA7CC81CDAC}" type="slidenum">
              <a:rPr lang="zh-CN" altLang="en-US" smtClean="0"/>
            </a:fld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415415" y="1916430"/>
            <a:ext cx="9736455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遵守实验室规则；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了解实验仪器的使用及注意事项；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仔细观察和认真分析实验现象；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如实记录实验数据和现象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原始数据不得改动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8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实验数据需经教师检查合格后，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请实验老师签字确认，附在实验报告中作为原始数据上交。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矩形 1"/>
          <p:cNvSpPr>
            <a:spLocks noChangeArrowheads="1"/>
          </p:cNvSpPr>
          <p:nvPr/>
        </p:nvSpPr>
        <p:spPr bwMode="auto">
          <a:xfrm>
            <a:off x="4167188" y="149225"/>
            <a:ext cx="3989387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4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本次课程内容</a:t>
            </a:r>
            <a:endParaRPr lang="zh-CN" altLang="en-US" sz="40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0418" name="Line 79"/>
          <p:cNvSpPr>
            <a:spLocks noChangeShapeType="1"/>
          </p:cNvSpPr>
          <p:nvPr/>
        </p:nvSpPr>
        <p:spPr bwMode="auto">
          <a:xfrm flipV="1">
            <a:off x="1952625" y="908050"/>
            <a:ext cx="8286750" cy="4603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19" name="Oval 18"/>
          <p:cNvSpPr>
            <a:spLocks noChangeArrowheads="1"/>
          </p:cNvSpPr>
          <p:nvPr/>
        </p:nvSpPr>
        <p:spPr bwMode="auto">
          <a:xfrm>
            <a:off x="2889250" y="1951990"/>
            <a:ext cx="525780" cy="535940"/>
          </a:xfrm>
          <a:prstGeom prst="ellipse">
            <a:avLst/>
          </a:prstGeom>
          <a:gradFill rotWithShape="1">
            <a:gsLst>
              <a:gs pos="0">
                <a:srgbClr val="FFCC00"/>
              </a:gs>
              <a:gs pos="100000">
                <a:srgbClr val="7C6300"/>
              </a:gs>
            </a:gsLst>
            <a:lin ang="2700000" scaled="1"/>
          </a:gradFill>
          <a:ln w="9525">
            <a:noFill/>
            <a:round/>
          </a:ln>
        </p:spPr>
        <p:txBody>
          <a:bodyPr wrap="square" anchor="ctr"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endParaRPr lang="zh-CN" altLang="zh-CN" sz="3600">
              <a:solidFill>
                <a:srgbClr val="000000"/>
              </a:solidFill>
              <a:sym typeface="Perpetua" panose="02020502060401020303"/>
            </a:endParaRPr>
          </a:p>
        </p:txBody>
      </p:sp>
      <p:sp>
        <p:nvSpPr>
          <p:cNvPr id="60420" name="Oval 25"/>
          <p:cNvSpPr>
            <a:spLocks noChangeArrowheads="1"/>
          </p:cNvSpPr>
          <p:nvPr/>
        </p:nvSpPr>
        <p:spPr bwMode="auto">
          <a:xfrm>
            <a:off x="2896235" y="2868295"/>
            <a:ext cx="518795" cy="638810"/>
          </a:xfrm>
          <a:prstGeom prst="ellipse">
            <a:avLst/>
          </a:prstGeom>
          <a:gradFill rotWithShape="1">
            <a:gsLst>
              <a:gs pos="0">
                <a:srgbClr val="48BE67"/>
              </a:gs>
              <a:gs pos="100000">
                <a:srgbClr val="235C32"/>
              </a:gs>
            </a:gsLst>
            <a:lin ang="2700000" scaled="1"/>
          </a:gradFill>
          <a:ln w="9525">
            <a:noFill/>
            <a:round/>
          </a:ln>
        </p:spPr>
        <p:txBody>
          <a:bodyPr wrap="square" anchor="ctr"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endParaRPr lang="zh-CN" altLang="zh-CN" sz="3600">
              <a:solidFill>
                <a:srgbClr val="000000"/>
              </a:solidFill>
              <a:sym typeface="Perpetua" panose="02020502060401020303"/>
            </a:endParaRPr>
          </a:p>
        </p:txBody>
      </p:sp>
      <p:sp>
        <p:nvSpPr>
          <p:cNvPr id="60421" name="Oval 32"/>
          <p:cNvSpPr>
            <a:spLocks noChangeArrowheads="1"/>
          </p:cNvSpPr>
          <p:nvPr/>
        </p:nvSpPr>
        <p:spPr bwMode="auto">
          <a:xfrm>
            <a:off x="2955925" y="3892550"/>
            <a:ext cx="497205" cy="612775"/>
          </a:xfrm>
          <a:prstGeom prst="ellipse">
            <a:avLst/>
          </a:prstGeom>
          <a:gradFill rotWithShape="1">
            <a:gsLst>
              <a:gs pos="0">
                <a:srgbClr val="21B3E1"/>
              </a:gs>
              <a:gs pos="100000">
                <a:srgbClr val="10576D"/>
              </a:gs>
            </a:gsLst>
            <a:lin ang="2700000" scaled="1"/>
          </a:gradFill>
          <a:ln w="9525">
            <a:noFill/>
            <a:round/>
          </a:ln>
        </p:spPr>
        <p:txBody>
          <a:bodyPr anchor="ctr"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endParaRPr lang="zh-CN" altLang="zh-CN" sz="3600">
              <a:solidFill>
                <a:srgbClr val="000000"/>
              </a:solidFill>
              <a:sym typeface="Perpetua" panose="02020502060401020303"/>
            </a:endParaRPr>
          </a:p>
        </p:txBody>
      </p:sp>
      <p:sp>
        <p:nvSpPr>
          <p:cNvPr id="60422" name="TextBox 2"/>
          <p:cNvSpPr>
            <a:spLocks noChangeArrowheads="1"/>
          </p:cNvSpPr>
          <p:nvPr/>
        </p:nvSpPr>
        <p:spPr bwMode="auto">
          <a:xfrm>
            <a:off x="3431239" y="1785926"/>
            <a:ext cx="4092575" cy="657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609600" indent="-609600">
              <a:lnSpc>
                <a:spcPct val="115000"/>
              </a:lnSpc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2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测量与误差</a:t>
            </a:r>
            <a:endParaRPr lang="en-US" altLang="zh-CN" sz="32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423" name="TextBox 52"/>
          <p:cNvSpPr>
            <a:spLocks noChangeArrowheads="1"/>
          </p:cNvSpPr>
          <p:nvPr/>
        </p:nvSpPr>
        <p:spPr bwMode="auto">
          <a:xfrm>
            <a:off x="2952766" y="3871901"/>
            <a:ext cx="4900613" cy="860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buSzPct val="85000"/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zh-CN" sz="32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有效数字及运算规律</a:t>
            </a:r>
            <a:endParaRPr lang="zh-CN" altLang="en-US" sz="32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SzPct val="85000"/>
              <a:buFont typeface="Wingdings 2" panose="05020102010507070707" pitchFamily="18" charset="2"/>
              <a:buNone/>
            </a:pPr>
            <a:endParaRPr lang="zh-CN" alt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424" name="TextBox 50"/>
          <p:cNvSpPr>
            <a:spLocks noChangeArrowheads="1"/>
          </p:cNvSpPr>
          <p:nvPr/>
        </p:nvSpPr>
        <p:spPr bwMode="auto">
          <a:xfrm>
            <a:off x="3595670" y="2786051"/>
            <a:ext cx="4718050" cy="657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609600" indent="-609600">
              <a:lnSpc>
                <a:spcPct val="115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不确定度</a:t>
            </a:r>
            <a:endParaRPr lang="en-US" altLang="zh-CN" sz="32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1ADB39-7911-48CC-962A-A43B4E8FC685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52"/>
          <p:cNvSpPr>
            <a:spLocks noChangeArrowheads="1"/>
          </p:cNvSpPr>
          <p:nvPr/>
        </p:nvSpPr>
        <p:spPr bwMode="auto">
          <a:xfrm>
            <a:off x="3024166" y="5572140"/>
            <a:ext cx="7000924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buSzPct val="85000"/>
            </a:pPr>
            <a:r>
              <a:rPr lang="zh-CN" altLang="en-US" sz="24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（列表法、逐差法、作图法、最小二乘法）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val 18"/>
          <p:cNvSpPr>
            <a:spLocks noChangeArrowheads="1"/>
          </p:cNvSpPr>
          <p:nvPr/>
        </p:nvSpPr>
        <p:spPr bwMode="auto">
          <a:xfrm>
            <a:off x="2953385" y="4775200"/>
            <a:ext cx="495935" cy="704215"/>
          </a:xfrm>
          <a:prstGeom prst="ellipse">
            <a:avLst/>
          </a:prstGeom>
          <a:gradFill rotWithShape="1">
            <a:gsLst>
              <a:gs pos="0">
                <a:srgbClr val="7030A0"/>
              </a:gs>
              <a:gs pos="100000">
                <a:srgbClr val="7C6300"/>
              </a:gs>
            </a:gsLst>
            <a:lin ang="2700000" scaled="1"/>
          </a:gradFill>
          <a:ln w="9525">
            <a:noFill/>
            <a:round/>
          </a:ln>
        </p:spPr>
        <p:txBody>
          <a:bodyPr anchor="ctr">
            <a:noAutofit/>
          </a:bodyPr>
          <a:lstStyle/>
          <a:p>
            <a:pPr algn="ctr">
              <a:buFont typeface="Arial" panose="020B0604020202020204" pitchFamily="34" charset="0"/>
              <a:buNone/>
            </a:pPr>
            <a:endParaRPr lang="zh-CN" altLang="zh-CN" sz="3600">
              <a:solidFill>
                <a:srgbClr val="000000"/>
              </a:solidFill>
              <a:sym typeface="Perpetua" panose="02020502060401020303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07185" y="4844489"/>
            <a:ext cx="18084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SzPct val="85000"/>
            </a:pPr>
            <a:r>
              <a:rPr lang="zh-CN" altLang="en-US" sz="3200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endParaRPr lang="en-US" altLang="zh-CN" sz="3200" b="1" dirty="0" smtClean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4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测量与误差</a:t>
            </a:r>
            <a:endParaRPr lang="zh-CN" altLang="en-US" sz="4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442" name="Line 79"/>
          <p:cNvSpPr>
            <a:spLocks noChangeShapeType="1"/>
          </p:cNvSpPr>
          <p:nvPr/>
        </p:nvSpPr>
        <p:spPr bwMode="auto">
          <a:xfrm flipV="1">
            <a:off x="2238375" y="1000125"/>
            <a:ext cx="8064500" cy="238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952625" y="1860550"/>
            <a:ext cx="8786813" cy="1714500"/>
          </a:xfrm>
          <a:prstGeom prst="rect">
            <a:avLst/>
          </a:prstGeom>
        </p:spPr>
        <p:txBody>
          <a:bodyPr/>
          <a:lstStyle/>
          <a:p>
            <a:pPr marL="273050" indent="-273050">
              <a:spcBef>
                <a:spcPts val="575"/>
              </a:spcBef>
              <a:buClr>
                <a:schemeClr val="accent1"/>
              </a:buClr>
              <a:buSzPct val="85000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）定义</a:t>
            </a:r>
            <a:r>
              <a:rPr lang="en-US" altLang="zh-CN" sz="3200" b="1" dirty="0">
                <a:latin typeface="+mn-lt"/>
                <a:ea typeface="+mn-ea"/>
                <a:cs typeface="Times New Roman" panose="02020603050405020304" pitchFamily="18" charset="0"/>
              </a:rPr>
              <a:t>——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在一定条件下将待测量与同类标准量进行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比较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得出结果的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过程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将比值的</a:t>
            </a:r>
            <a:r>
              <a:rPr lang="zh-CN" altLang="en-US" sz="2000" b="1" u="sng" dirty="0">
                <a:latin typeface="宋体" panose="02010600030101010101" pitchFamily="2" charset="-122"/>
                <a:ea typeface="+mn-ea"/>
              </a:rPr>
              <a:t>大小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和</a:t>
            </a:r>
            <a:r>
              <a:rPr lang="zh-CN" altLang="en-US" sz="2000" b="1" u="sng" dirty="0">
                <a:latin typeface="宋体" panose="02010600030101010101" pitchFamily="2" charset="-122"/>
                <a:ea typeface="+mn-ea"/>
              </a:rPr>
              <a:t>单位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记录下来就是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测量数据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。</a:t>
            </a:r>
            <a:endParaRPr lang="en-US" altLang="zh-CN" sz="3200" b="1" dirty="0">
              <a:latin typeface="宋体" panose="02010600030101010101" pitchFamily="2" charset="-122"/>
              <a:ea typeface="+mn-ea"/>
            </a:endParaRPr>
          </a:p>
          <a:p>
            <a:pPr marL="273050" indent="-273050">
              <a:lnSpc>
                <a:spcPct val="120000"/>
              </a:lnSpc>
              <a:spcBef>
                <a:spcPts val="575"/>
              </a:spcBef>
              <a:buClr>
                <a:schemeClr val="accent1"/>
              </a:buClr>
              <a:buSzPct val="85000"/>
              <a:defRPr/>
            </a:pPr>
            <a:endParaRPr lang="en-US" altLang="zh-CN" b="1" dirty="0">
              <a:latin typeface="宋体" panose="02010600030101010101" pitchFamily="2" charset="-122"/>
              <a:ea typeface="+mn-ea"/>
            </a:endParaRPr>
          </a:p>
          <a:p>
            <a:pPr marL="273050" indent="-273050">
              <a:lnSpc>
                <a:spcPct val="120000"/>
              </a:lnSpc>
              <a:spcBef>
                <a:spcPts val="575"/>
              </a:spcBef>
              <a:buClr>
                <a:schemeClr val="accent1"/>
              </a:buClr>
              <a:buSzPct val="85000"/>
              <a:defRPr/>
            </a:pPr>
            <a:endParaRPr lang="en-US" altLang="zh-CN" sz="28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  <a:p>
            <a:pPr marL="273050" indent="-273050">
              <a:lnSpc>
                <a:spcPct val="120000"/>
              </a:lnSpc>
              <a:spcBef>
                <a:spcPts val="575"/>
              </a:spcBef>
              <a:buClr>
                <a:schemeClr val="accent1"/>
              </a:buClr>
              <a:buSzPct val="85000"/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+mn-ea"/>
              </a:rPr>
              <a:t>                    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95750" y="2932113"/>
            <a:ext cx="2748280" cy="42354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>
            <a:spAutoFit/>
          </a:bodyPr>
          <a:lstStyle/>
          <a:p>
            <a:pPr marL="273050" indent="-273050">
              <a:lnSpc>
                <a:spcPct val="120000"/>
              </a:lnSpc>
              <a:spcBef>
                <a:spcPts val="575"/>
              </a:spcBef>
              <a:buClr>
                <a:schemeClr val="accent1"/>
              </a:buClr>
              <a:buSzPct val="85000"/>
              <a:defRPr/>
            </a:pPr>
            <a:r>
              <a:rPr lang="zh-CN" altLang="en-US" b="1" dirty="0">
                <a:solidFill>
                  <a:schemeClr val="bg1"/>
                </a:solidFill>
              </a:rPr>
              <a:t>即：</a:t>
            </a:r>
            <a:r>
              <a:rPr lang="zh-CN" altLang="zh-CN" b="1" dirty="0">
                <a:solidFill>
                  <a:schemeClr val="bg1"/>
                </a:solidFill>
              </a:rPr>
              <a:t>测量数据</a:t>
            </a:r>
            <a:r>
              <a:rPr lang="en-US" altLang="zh-CN" b="1" dirty="0">
                <a:solidFill>
                  <a:schemeClr val="bg1"/>
                </a:solidFill>
              </a:rPr>
              <a:t>=</a:t>
            </a:r>
            <a:r>
              <a:rPr lang="zh-CN" altLang="zh-CN" b="1" dirty="0">
                <a:solidFill>
                  <a:schemeClr val="bg1"/>
                </a:solidFill>
              </a:rPr>
              <a:t>数值</a:t>
            </a:r>
            <a:r>
              <a:rPr lang="en-US" altLang="zh-CN" b="1" dirty="0">
                <a:solidFill>
                  <a:schemeClr val="bg1"/>
                </a:solidFill>
              </a:rPr>
              <a:t>+</a:t>
            </a:r>
            <a:r>
              <a:rPr lang="zh-CN" altLang="zh-CN" b="1" dirty="0">
                <a:solidFill>
                  <a:schemeClr val="bg1"/>
                </a:solidFill>
              </a:rPr>
              <a:t>单位</a:t>
            </a:r>
            <a:endParaRPr lang="zh-CN" altLang="en-US" b="1" dirty="0">
              <a:solidFill>
                <a:schemeClr val="bg1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52625" y="4646613"/>
            <a:ext cx="15608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）分类</a:t>
            </a:r>
            <a:endParaRPr lang="zh-CN" altLang="en-US" sz="24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左大括号 11"/>
          <p:cNvSpPr/>
          <p:nvPr/>
        </p:nvSpPr>
        <p:spPr>
          <a:xfrm>
            <a:off x="3667125" y="4575175"/>
            <a:ext cx="428625" cy="100012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176713" y="4503738"/>
            <a:ext cx="375666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测量次数：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单次测量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多次测量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67188" y="5218113"/>
            <a:ext cx="375666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测量方法：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直接测量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间接测量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61449" name="矩形 14"/>
          <p:cNvSpPr>
            <a:spLocks noChangeArrowheads="1"/>
          </p:cNvSpPr>
          <p:nvPr/>
        </p:nvSpPr>
        <p:spPr bwMode="auto">
          <a:xfrm>
            <a:off x="1309370" y="5789930"/>
            <a:ext cx="951801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000" b="1"/>
              <a:t>例如</a:t>
            </a:r>
            <a:r>
              <a:rPr lang="en-US" altLang="zh-CN" sz="2000" b="1"/>
              <a:t>:  </a:t>
            </a:r>
            <a:r>
              <a:rPr lang="zh-CN" altLang="en-US" sz="2000" b="1"/>
              <a:t>通过测量圆柱体的直径</a:t>
            </a:r>
            <a:r>
              <a:rPr lang="en-US" altLang="zh-CN" sz="2000" b="1" i="1">
                <a:latin typeface="Times New Roman" panose="02020603050405020304" pitchFamily="18" charset="0"/>
              </a:rPr>
              <a:t>D</a:t>
            </a:r>
            <a:r>
              <a:rPr lang="en-US" altLang="zh-CN" sz="2000" b="1">
                <a:latin typeface="Times New Roman" panose="02020603050405020304" pitchFamily="18" charset="0"/>
              </a:rPr>
              <a:t>（</a:t>
            </a:r>
            <a:r>
              <a:rPr lang="zh-CN" altLang="en-US" sz="2000" b="1">
                <a:latin typeface="Times New Roman" panose="02020603050405020304" pitchFamily="18" charset="0"/>
              </a:rPr>
              <a:t>直接测量）来计算体积</a:t>
            </a:r>
            <a:r>
              <a:rPr lang="en-US" altLang="zh-CN" sz="2000" b="1" i="1">
                <a:latin typeface="Times New Roman" panose="02020603050405020304" pitchFamily="18" charset="0"/>
              </a:rPr>
              <a:t>V</a:t>
            </a:r>
            <a:r>
              <a:rPr lang="en-US" altLang="zh-CN" sz="2000" b="1">
                <a:latin typeface="Times New Roman" panose="02020603050405020304" pitchFamily="18" charset="0"/>
              </a:rPr>
              <a:t>=π</a:t>
            </a:r>
            <a:r>
              <a:rPr lang="en-US" altLang="zh-CN" sz="2000" b="1" i="1">
                <a:latin typeface="Times New Roman" panose="02020603050405020304" pitchFamily="18" charset="0"/>
              </a:rPr>
              <a:t>D</a:t>
            </a:r>
            <a:r>
              <a:rPr lang="en-US" altLang="zh-CN" sz="2000" b="1" i="1" baseline="30000">
                <a:latin typeface="Times New Roman" panose="02020603050405020304" pitchFamily="18" charset="0"/>
              </a:rPr>
              <a:t>2</a:t>
            </a:r>
            <a:r>
              <a:rPr lang="en-US" altLang="zh-CN" sz="2000" b="1" i="1">
                <a:latin typeface="Times New Roman" panose="02020603050405020304" pitchFamily="18" charset="0"/>
              </a:rPr>
              <a:t>H</a:t>
            </a:r>
            <a:r>
              <a:rPr lang="en-US" altLang="zh-CN" sz="2000" b="1">
                <a:latin typeface="Times New Roman" panose="02020603050405020304" pitchFamily="18" charset="0"/>
              </a:rPr>
              <a:t>/4（</a:t>
            </a:r>
            <a:r>
              <a:rPr lang="zh-CN" altLang="en-US" sz="2000" b="1">
                <a:latin typeface="Times New Roman" panose="02020603050405020304" pitchFamily="18" charset="0"/>
              </a:rPr>
              <a:t>间接测量）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61450" name="矩形 15"/>
          <p:cNvSpPr>
            <a:spLocks noChangeArrowheads="1"/>
          </p:cNvSpPr>
          <p:nvPr/>
        </p:nvSpPr>
        <p:spPr bwMode="auto">
          <a:xfrm>
            <a:off x="1559560" y="3566795"/>
            <a:ext cx="99237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73050" indent="-273050">
              <a:lnSpc>
                <a:spcPct val="120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zh-CN" altLang="en-US" sz="2000" b="1">
                <a:latin typeface="宋体" panose="02010600030101010101" pitchFamily="2" charset="-122"/>
              </a:rPr>
              <a:t>例如：用米尺同讲桌的长进行比较，这一过程就称为测量，比值1.255</a:t>
            </a:r>
            <a:r>
              <a:rPr lang="en-US" altLang="zh-CN" sz="2000" b="1">
                <a:latin typeface="宋体" panose="02010600030101010101" pitchFamily="2" charset="-122"/>
              </a:rPr>
              <a:t>m</a:t>
            </a:r>
            <a:r>
              <a:rPr lang="zh-CN" altLang="en-US" sz="2000" b="1">
                <a:latin typeface="宋体" panose="02010600030101010101" pitchFamily="2" charset="-122"/>
              </a:rPr>
              <a:t>就是测量数据。</a:t>
            </a:r>
            <a:endParaRPr lang="zh-CN" altLang="en-US" sz="2000" b="1">
              <a:latin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66875" y="1143000"/>
            <a:ext cx="1409700" cy="5835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测量</a:t>
            </a:r>
            <a:endParaRPr lang="zh-CN" altLang="en-US" sz="3200" b="1" dirty="0">
              <a:solidFill>
                <a:srgbClr val="0000FF"/>
              </a:solidFill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58B95-B8D0-460F-9244-90F6CF67FCD3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41"/>
          <p:cNvGrpSpPr/>
          <p:nvPr/>
        </p:nvGrpSpPr>
        <p:grpSpPr>
          <a:xfrm>
            <a:off x="9368491" y="3929066"/>
            <a:ext cx="1285884" cy="1852025"/>
            <a:chOff x="3818" y="2256"/>
            <a:chExt cx="1558" cy="1934"/>
          </a:xfrm>
        </p:grpSpPr>
        <p:sp>
          <p:nvSpPr>
            <p:cNvPr id="16" name="AutoShape 23"/>
            <p:cNvSpPr/>
            <p:nvPr/>
          </p:nvSpPr>
          <p:spPr>
            <a:xfrm>
              <a:off x="3840" y="2730"/>
              <a:ext cx="912" cy="923"/>
            </a:xfrm>
            <a:prstGeom prst="can">
              <a:avLst>
                <a:gd name="adj" fmla="val 40792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>
                <a:lnSpc>
                  <a:spcPct val="120000"/>
                </a:lnSpc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Oval 26"/>
            <p:cNvSpPr/>
            <p:nvPr/>
          </p:nvSpPr>
          <p:spPr>
            <a:xfrm>
              <a:off x="4045" y="2679"/>
              <a:ext cx="480" cy="49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27"/>
            <p:cNvSpPr/>
            <p:nvPr/>
          </p:nvSpPr>
          <p:spPr>
            <a:xfrm>
              <a:off x="3818" y="3456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" name="Line 28"/>
            <p:cNvSpPr/>
            <p:nvPr/>
          </p:nvSpPr>
          <p:spPr>
            <a:xfrm>
              <a:off x="4752" y="3456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" name="Line 29"/>
            <p:cNvSpPr/>
            <p:nvPr/>
          </p:nvSpPr>
          <p:spPr>
            <a:xfrm>
              <a:off x="3840" y="3792"/>
              <a:ext cx="91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3" name="Line 30"/>
            <p:cNvSpPr/>
            <p:nvPr/>
          </p:nvSpPr>
          <p:spPr>
            <a:xfrm>
              <a:off x="4041" y="2448"/>
              <a:ext cx="0" cy="4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" name="Line 31"/>
            <p:cNvSpPr/>
            <p:nvPr/>
          </p:nvSpPr>
          <p:spPr>
            <a:xfrm>
              <a:off x="4525" y="2457"/>
              <a:ext cx="0" cy="4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" name="Line 32"/>
            <p:cNvSpPr/>
            <p:nvPr/>
          </p:nvSpPr>
          <p:spPr>
            <a:xfrm>
              <a:off x="4032" y="2544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6" name="Line 33"/>
            <p:cNvSpPr/>
            <p:nvPr/>
          </p:nvSpPr>
          <p:spPr>
            <a:xfrm>
              <a:off x="4752" y="2880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" name="Line 34"/>
            <p:cNvSpPr/>
            <p:nvPr/>
          </p:nvSpPr>
          <p:spPr>
            <a:xfrm>
              <a:off x="4752" y="3504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Line 35"/>
            <p:cNvSpPr/>
            <p:nvPr/>
          </p:nvSpPr>
          <p:spPr>
            <a:xfrm>
              <a:off x="4944" y="2880"/>
              <a:ext cx="0" cy="62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9" name="Text Box 36"/>
            <p:cNvSpPr txBox="1"/>
            <p:nvPr/>
          </p:nvSpPr>
          <p:spPr>
            <a:xfrm>
              <a:off x="4154" y="3748"/>
              <a:ext cx="384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 Box 37"/>
            <p:cNvSpPr txBox="1"/>
            <p:nvPr/>
          </p:nvSpPr>
          <p:spPr>
            <a:xfrm>
              <a:off x="4128" y="2256"/>
              <a:ext cx="384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Text Box 38"/>
            <p:cNvSpPr txBox="1"/>
            <p:nvPr/>
          </p:nvSpPr>
          <p:spPr>
            <a:xfrm>
              <a:off x="4944" y="3024"/>
              <a:ext cx="43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224020" y="3068955"/>
            <a:ext cx="3239770" cy="1367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7120" name="灯片编号占位符 3"/>
          <p:cNvSpPr txBox="1">
            <a:spLocks noGrp="1"/>
          </p:cNvSpPr>
          <p:nvPr/>
        </p:nvSpPr>
        <p:spPr bwMode="auto">
          <a:xfrm>
            <a:off x="9625013" y="6635750"/>
            <a:ext cx="1042987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fld id="{2BC76099-EFB7-4956-9656-37B133989515}" type="slidenum">
              <a:rPr lang="zh-CN" altLang="en-US" sz="2000" b="1"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charset="-122"/>
                <a:cs typeface="微软雅黑" panose="020B0503020204020204" charset="-122"/>
              </a:rPr>
            </a:fld>
            <a:endParaRPr lang="en-US" altLang="zh-CN" sz="2000" b="1">
              <a:solidFill>
                <a:schemeClr val="bg1"/>
              </a:solidFill>
              <a:latin typeface="Verdana" panose="020B060403050404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1881505" y="927100"/>
            <a:ext cx="8709025" cy="1217930"/>
          </a:xfrm>
          <a:prstGeom prst="rect">
            <a:avLst/>
          </a:prstGeom>
        </p:spPr>
        <p:txBody>
          <a:bodyPr/>
          <a:lstStyle/>
          <a:p>
            <a:pPr marL="273050" indent="-273050">
              <a:lnSpc>
                <a:spcPct val="115000"/>
              </a:lnSpc>
              <a:spcBef>
                <a:spcPct val="30000"/>
              </a:spcBef>
              <a:buClr>
                <a:schemeClr val="accent1"/>
              </a:buClr>
              <a:buSzPct val="85000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）定义</a:t>
            </a:r>
            <a:r>
              <a:rPr lang="zh-CN" altLang="en-US" sz="2800" b="1" dirty="0">
                <a:latin typeface="+mn-lt"/>
                <a:ea typeface="+mn-ea"/>
              </a:rPr>
              <a:t>——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测量结果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q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与客观存在的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真值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q</a:t>
            </a:r>
            <a:r>
              <a:rPr lang="zh-CN" altLang="en-US" sz="2000" b="1" baseline="-250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真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之间的差值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2800" b="1" baseline="-250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  <a:sym typeface="+mn-ea"/>
              </a:rPr>
              <a:t>真</a:t>
            </a:r>
            <a:r>
              <a:rPr lang="en-US" altLang="zh-CN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7122" name="矩形 36"/>
          <p:cNvSpPr>
            <a:spLocks noChangeArrowheads="1"/>
          </p:cNvSpPr>
          <p:nvPr/>
        </p:nvSpPr>
        <p:spPr bwMode="auto">
          <a:xfrm>
            <a:off x="2917508" y="1501775"/>
            <a:ext cx="6309360" cy="445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lvl="2" algn="ctr">
              <a:lnSpc>
                <a:spcPct val="115000"/>
              </a:lnSpc>
              <a:spcBef>
                <a:spcPts val="3600"/>
              </a:spcBef>
              <a:spcAft>
                <a:spcPts val="2400"/>
              </a:spcAft>
            </a:pPr>
            <a:r>
              <a:rPr lang="zh-CN" altLang="zh-CN" sz="2000" b="1">
                <a:latin typeface="宋体" panose="02010600030101010101" pitchFamily="2" charset="-122"/>
                <a:cs typeface="Times New Roman" panose="02020603050405020304" pitchFamily="18" charset="0"/>
              </a:rPr>
              <a:t>误差存在于一切测量之中，而且贯穿测量过程的始终。</a:t>
            </a:r>
            <a:endParaRPr lang="zh-CN" altLang="zh-CN" sz="2000" b="1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881188" y="4808220"/>
            <a:ext cx="15468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+mn-ea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）分类</a:t>
            </a:r>
            <a:endParaRPr lang="zh-CN" altLang="en-US" sz="2400" b="1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42" name="左大括号 41"/>
          <p:cNvSpPr/>
          <p:nvPr/>
        </p:nvSpPr>
        <p:spPr>
          <a:xfrm>
            <a:off x="3667125" y="4720908"/>
            <a:ext cx="428625" cy="92868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881505" y="5720080"/>
            <a:ext cx="916432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相对误差：绝对误差与最佳值之比，它是没有量纲的，通常写成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百分比的形式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endParaRPr lang="zh-CN" altLang="en-US" sz="20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881505" y="2072640"/>
            <a:ext cx="976439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真值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X: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一个待测物理量的大小，在客观上应该有一个确定的真实数值叫做“真值”</a:t>
            </a:r>
            <a:r>
              <a:rPr lang="zh-CN" altLang="en-US" sz="2400" dirty="0"/>
              <a:t>。 </a:t>
            </a:r>
            <a:endParaRPr lang="zh-CN" altLang="en-US" sz="2400" dirty="0"/>
          </a:p>
        </p:txBody>
      </p:sp>
      <p:sp>
        <p:nvSpPr>
          <p:cNvPr id="76" name="矩形 75"/>
          <p:cNvSpPr/>
          <p:nvPr/>
        </p:nvSpPr>
        <p:spPr>
          <a:xfrm>
            <a:off x="2524125" y="2531110"/>
            <a:ext cx="80892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/>
              <a:t> 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通常，用多次测量的算术平均值作为测量的最佳值来代替真值。</a:t>
            </a:r>
            <a:endParaRPr lang="zh-CN" altLang="en-US" sz="20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167188" y="4578033"/>
            <a:ext cx="110236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绝对误差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167188" y="5292408"/>
            <a:ext cx="110236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相对误差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97038" y="357188"/>
            <a:ext cx="1409700" cy="5835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sz="32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误差</a:t>
            </a:r>
            <a:endParaRPr lang="zh-CN" altLang="en-US" sz="3200" b="1" dirty="0">
              <a:solidFill>
                <a:srgbClr val="0000FF"/>
              </a:solidFill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7810500" y="4720908"/>
            <a:ext cx="428625" cy="92868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310563" y="4649470"/>
            <a:ext cx="110236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系统误差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10563" y="5220970"/>
            <a:ext cx="110236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随机误差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BAF550-5E76-48C5-A261-9EC05C3C6FD0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 bwMode="auto">
              <a:xfrm>
                <a:off x="4943993" y="3131611"/>
                <a:ext cx="2089150" cy="7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 </m:t>
                      </m:r>
                      <m:r>
                        <a:rPr lang="zh-CN" altLang="en-US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kern="10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m:t>𝒒</m:t>
                      </m:r>
                      <m:r>
                        <a:rPr lang="zh-CN" altLang="en-US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b="1" i="1" kern="1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kern="1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b="1" i="1" kern="1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真</m:t>
                          </m:r>
                        </m:sub>
                      </m:sSub>
                    </m:oMath>
                  </m:oMathPara>
                </a14:m>
                <a:endParaRPr lang="en-US" altLang="zh-CN" sz="2800" b="1" i="1" kern="100" smtClean="0">
                  <a:solidFill>
                    <a:srgbClr val="0066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endParaRPr lang="zh-CN" altLang="en-US" sz="2800" b="1">
                  <a:solidFill>
                    <a:srgbClr val="0066FF"/>
                  </a:solidFill>
                </a:endParaRPr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3993" y="3131611"/>
                <a:ext cx="2089150" cy="787400"/>
              </a:xfrm>
              <a:prstGeom prst="rect">
                <a:avLst/>
              </a:prstGeom>
              <a:blipFill rotWithShape="1">
                <a:blip r:embed="rId1"/>
                <a:stretch>
                  <a:fillRect l="-25" t="-54" r="25" b="-153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对象 12"/>
              <p:cNvSpPr txBox="1"/>
              <p:nvPr/>
            </p:nvSpPr>
            <p:spPr bwMode="auto">
              <a:xfrm>
                <a:off x="4511675" y="5137785"/>
                <a:ext cx="3869055" cy="91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zh-CN" altLang="en-US" sz="1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1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10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  <m:r>
                                <a:rPr lang="zh-CN" altLang="en-US" sz="1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zh-CN" altLang="en-US" sz="1800" b="1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b="1" i="1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</m:acc>
                              <m:r>
                                <a:rPr lang="zh-CN" altLang="en-US" sz="1800" b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 </m:t>
                              </m:r>
                            </m:e>
                          </m:d>
                        </m:num>
                        <m:den>
                          <m:acc>
                            <m:accPr>
                              <m:chr m:val="̅"/>
                              <m:ctrlPr>
                                <a:rPr lang="zh-CN" altLang="en-US" sz="1800" b="1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b="1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𝒒</m:t>
                              </m:r>
                            </m:e>
                          </m:acc>
                          <m:r>
                            <a:rPr lang="zh-CN" altLang="en-US" sz="1800" b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 </m:t>
                          </m:r>
                        </m:den>
                      </m:f>
                      <m:r>
                        <a:rPr lang="zh-CN" altLang="en-US" sz="1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1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zh-CN" altLang="en-US" sz="1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en-US" sz="1800" b="1" i="1">
                  <a:solidFill>
                    <a:srgbClr val="0066FF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1675" y="5137785"/>
                <a:ext cx="3869055" cy="9150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1"/>
              <p:cNvSpPr txBox="1"/>
              <p:nvPr/>
            </p:nvSpPr>
            <p:spPr bwMode="auto">
              <a:xfrm>
                <a:off x="5015748" y="4520356"/>
                <a:ext cx="2089150" cy="7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zh-CN" altLang="en-US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m:t>𝒒</m:t>
                      </m:r>
                      <m:r>
                        <a:rPr lang="zh-CN" altLang="en-US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zh-CN" altLang="en-US" sz="24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𝒒</m:t>
                          </m:r>
                        </m:e>
                      </m:acc>
                    </m:oMath>
                  </m:oMathPara>
                </a14:m>
                <a:endParaRPr lang="zh-CN" altLang="en-US" sz="2400" b="1" i="1" smtClean="0">
                  <a:solidFill>
                    <a:srgbClr val="0066FF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5748" y="4520356"/>
                <a:ext cx="2089150" cy="787400"/>
              </a:xfrm>
              <a:prstGeom prst="rect">
                <a:avLst/>
              </a:prstGeom>
              <a:blipFill rotWithShape="1">
                <a:blip r:embed="rId3"/>
                <a:stretch>
                  <a:fillRect l="-25" t="-54" r="25" b="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647440" y="3758565"/>
                <a:ext cx="4572000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p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、</m:t>
                          </m:r>
                        </m:sup>
                      </m:sSup>
                      <m:r>
                        <a:rPr lang="zh-CN" altLang="en-US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kern="10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m:t>𝒒</m:t>
                      </m:r>
                      <m:r>
                        <a:rPr lang="zh-CN" altLang="en-US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zh-CN" alt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𝒒</m:t>
                          </m:r>
                        </m:e>
                      </m:acc>
                    </m:oMath>
                  </m:oMathPara>
                </a14:m>
                <a:endParaRPr lang="en-US" altLang="zh-CN" sz="2800" b="1" i="1" kern="100">
                  <a:solidFill>
                    <a:srgbClr val="0066FF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440" y="3758565"/>
                <a:ext cx="4572000" cy="5219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4295775" y="3212465"/>
            <a:ext cx="8477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  <a:sym typeface="+mn-ea"/>
              </a:rPr>
              <a:t>误差：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12285" y="3834765"/>
            <a:ext cx="8477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  <a:sym typeface="+mn-ea"/>
              </a:rPr>
              <a:t>偏差：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灯片编号占位符 3"/>
          <p:cNvSpPr txBox="1">
            <a:spLocks noGrp="1"/>
          </p:cNvSpPr>
          <p:nvPr/>
        </p:nvSpPr>
        <p:spPr bwMode="auto">
          <a:xfrm>
            <a:off x="9625013" y="6635750"/>
            <a:ext cx="1042987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fld id="{CBC851CB-4C57-40E2-A5AA-420234A65EB2}" type="slidenum">
              <a:rPr lang="zh-CN" altLang="en-US" sz="2000" b="1"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charset="-122"/>
                <a:cs typeface="微软雅黑" panose="020B0503020204020204" charset="-122"/>
              </a:rPr>
            </a:fld>
            <a:endParaRPr lang="en-US" altLang="zh-CN" sz="2000" b="1">
              <a:solidFill>
                <a:schemeClr val="bg1"/>
              </a:solidFill>
              <a:latin typeface="Verdana" panose="020B060403050404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235812" y="1928802"/>
            <a:ext cx="120396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系统误差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307250" y="4643446"/>
            <a:ext cx="120396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随机误差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296965" name="矩形 72"/>
          <p:cNvSpPr>
            <a:spLocks noChangeArrowheads="1"/>
          </p:cNvSpPr>
          <p:nvPr/>
        </p:nvSpPr>
        <p:spPr bwMode="auto">
          <a:xfrm>
            <a:off x="3736340" y="1071880"/>
            <a:ext cx="633539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特征：同一条件下对同一被测量物体多次等精度测量中，误差的大小和方向</a:t>
            </a:r>
            <a:r>
              <a:rPr lang="zh-CN" altLang="en-US" sz="2000" b="1" u="sng" dirty="0">
                <a:solidFill>
                  <a:srgbClr val="FF0000"/>
                </a:solidFill>
              </a:rPr>
              <a:t>确定</a:t>
            </a:r>
            <a:r>
              <a:rPr lang="zh-CN" altLang="en-US" sz="2000" b="1" dirty="0"/>
              <a:t>，或按</a:t>
            </a:r>
            <a:r>
              <a:rPr lang="zh-CN" altLang="en-US" sz="2000" b="1" u="sng" dirty="0">
                <a:solidFill>
                  <a:srgbClr val="FF0000"/>
                </a:solidFill>
              </a:rPr>
              <a:t>确定</a:t>
            </a:r>
            <a:r>
              <a:rPr lang="zh-CN" altLang="en-US" sz="2000" b="1" dirty="0"/>
              <a:t>的规律变化</a:t>
            </a:r>
            <a:endParaRPr lang="zh-CN" altLang="en-US" sz="2000" b="1" dirty="0"/>
          </a:p>
        </p:txBody>
      </p:sp>
      <p:sp>
        <p:nvSpPr>
          <p:cNvPr id="88" name="副标题 2"/>
          <p:cNvSpPr txBox="1"/>
          <p:nvPr/>
        </p:nvSpPr>
        <p:spPr>
          <a:xfrm>
            <a:off x="3950335" y="3929063"/>
            <a:ext cx="5143500" cy="178593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/>
              <a:t>特征：大小、符号</a:t>
            </a:r>
            <a:r>
              <a:rPr lang="zh-CN" altLang="en-US" sz="2000" b="1" kern="0" dirty="0" smtClean="0">
                <a:solidFill>
                  <a:srgbClr val="FF0000"/>
                </a:solidFill>
              </a:rPr>
              <a:t>不定</a:t>
            </a:r>
            <a:endParaRPr lang="en-US" altLang="zh-CN" sz="2000" b="1" kern="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/>
              <a:t>原因：主观、客观、其他不可预测因素</a:t>
            </a:r>
            <a:endParaRPr lang="en-US" altLang="zh-CN" sz="2000" b="1" kern="0" dirty="0" smtClean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/>
              <a:t>分布：</a:t>
            </a:r>
            <a:r>
              <a:rPr lang="zh-CN" altLang="en-US" sz="2000" b="1" kern="0" dirty="0"/>
              <a:t>正态分布</a:t>
            </a:r>
            <a:endParaRPr lang="en-US" altLang="zh-CN" sz="2000" b="1" kern="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/>
              <a:t>特性：有界性、单峰性、对称性、抵偿性</a:t>
            </a:r>
            <a:endParaRPr lang="zh-CN" altLang="en-US" sz="2000" b="1" kern="0" dirty="0" smtClean="0"/>
          </a:p>
        </p:txBody>
      </p:sp>
      <p:sp>
        <p:nvSpPr>
          <p:cNvPr id="19" name="左大括号 18"/>
          <p:cNvSpPr/>
          <p:nvPr/>
        </p:nvSpPr>
        <p:spPr>
          <a:xfrm>
            <a:off x="3521710" y="1214438"/>
            <a:ext cx="285750" cy="214312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左大括号 19"/>
          <p:cNvSpPr/>
          <p:nvPr/>
        </p:nvSpPr>
        <p:spPr>
          <a:xfrm>
            <a:off x="3521710" y="3929063"/>
            <a:ext cx="285750" cy="185737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" name="副标题 2"/>
          <p:cNvSpPr txBox="1"/>
          <p:nvPr/>
        </p:nvSpPr>
        <p:spPr>
          <a:xfrm>
            <a:off x="3735705" y="2000250"/>
            <a:ext cx="4824095" cy="5003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/>
              <a:t>原因：仪器、理论（方法）、人员、环境</a:t>
            </a:r>
            <a:endParaRPr lang="zh-CN" altLang="en-US" sz="2000" b="1" kern="0" dirty="0" smtClean="0"/>
          </a:p>
        </p:txBody>
      </p:sp>
      <p:pic>
        <p:nvPicPr>
          <p:cNvPr id="296970" name="Picture 4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093835" y="2571750"/>
            <a:ext cx="2000250" cy="181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副标题 2"/>
          <p:cNvSpPr txBox="1"/>
          <p:nvPr/>
        </p:nvSpPr>
        <p:spPr>
          <a:xfrm>
            <a:off x="3736340" y="2500630"/>
            <a:ext cx="4076065" cy="49974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/>
              <a:t>发现：对比、理论分析、数据分析</a:t>
            </a:r>
            <a:endParaRPr lang="zh-CN" altLang="en-US" sz="2000" b="1" kern="0" dirty="0" smtClean="0"/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5664835" y="3000375"/>
          <a:ext cx="13096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69" name="" r:id="rId2" imgW="698500" imgH="241300" progId="">
                  <p:embed/>
                </p:oleObj>
              </mc:Choice>
              <mc:Fallback>
                <p:oleObj name="" r:id="rId2" imgW="698500" imgH="2413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835" y="3000375"/>
                        <a:ext cx="1309688" cy="39211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副标题 2"/>
          <p:cNvSpPr txBox="1"/>
          <p:nvPr/>
        </p:nvSpPr>
        <p:spPr>
          <a:xfrm>
            <a:off x="3736023" y="3000375"/>
            <a:ext cx="3786187" cy="500063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/>
              <a:t>处理：减去法</a:t>
            </a:r>
            <a:endParaRPr lang="zh-CN" altLang="en-US" sz="2000" b="1" kern="0" dirty="0" smtClean="0"/>
          </a:p>
        </p:txBody>
      </p:sp>
      <p:sp>
        <p:nvSpPr>
          <p:cNvPr id="56" name="矩形 55"/>
          <p:cNvSpPr/>
          <p:nvPr/>
        </p:nvSpPr>
        <p:spPr>
          <a:xfrm>
            <a:off x="1738313" y="214313"/>
            <a:ext cx="4984750" cy="5835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sz="32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误差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系统误差、随机误差</a:t>
            </a:r>
            <a:endParaRPr lang="zh-CN" altLang="en-US" sz="2800" b="1" dirty="0" smtClean="0">
              <a:solidFill>
                <a:srgbClr val="0000FF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左大括号 56"/>
          <p:cNvSpPr/>
          <p:nvPr/>
        </p:nvSpPr>
        <p:spPr>
          <a:xfrm>
            <a:off x="2021523" y="1571625"/>
            <a:ext cx="285750" cy="385762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449994" y="2714620"/>
            <a:ext cx="488950" cy="1568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</a:rPr>
              <a:t>误</a:t>
            </a:r>
            <a:endParaRPr lang="en-US" altLang="zh-CN" sz="2400" b="1" dirty="0" smtClean="0">
              <a:solidFill>
                <a:srgbClr val="0000FF"/>
              </a:solidFill>
              <a:latin typeface="宋体" panose="02010600030101010101" pitchFamily="2" charset="-122"/>
              <a:ea typeface="+mn-ea"/>
            </a:endParaRPr>
          </a:p>
          <a:p>
            <a:pPr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</a:rPr>
              <a:t>差</a:t>
            </a:r>
            <a:endParaRPr lang="en-US" altLang="zh-CN" sz="2400" b="1" dirty="0" smtClean="0">
              <a:solidFill>
                <a:srgbClr val="0000FF"/>
              </a:solidFill>
              <a:latin typeface="宋体" panose="02010600030101010101" pitchFamily="2" charset="-122"/>
              <a:ea typeface="+mn-ea"/>
            </a:endParaRPr>
          </a:p>
          <a:p>
            <a:pPr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</a:rPr>
              <a:t>分</a:t>
            </a:r>
            <a:endParaRPr lang="en-US" altLang="zh-CN" sz="2400" b="1" dirty="0" smtClean="0">
              <a:solidFill>
                <a:srgbClr val="0000FF"/>
              </a:solidFill>
              <a:latin typeface="宋体" panose="02010600030101010101" pitchFamily="2" charset="-122"/>
              <a:ea typeface="+mn-ea"/>
            </a:endParaRPr>
          </a:p>
          <a:p>
            <a:pPr>
              <a:defRPr/>
            </a:pP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</a:rPr>
              <a:t>类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75030" y="5957888"/>
            <a:ext cx="350139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σ</a:t>
            </a:r>
            <a:r>
              <a:rPr lang="zh-CN" altLang="en-US" sz="2000" b="1" dirty="0">
                <a:latin typeface="+mn-ea"/>
                <a:ea typeface="+mn-ea"/>
              </a:rPr>
              <a:t>（标准误差</a:t>
            </a:r>
            <a:r>
              <a:rPr lang="zh-CN" altLang="en-US" sz="2000" b="1" dirty="0">
                <a:latin typeface="+mn-ea"/>
                <a:ea typeface="+mn-ea"/>
              </a:rPr>
              <a:t>）</a:t>
            </a:r>
            <a:r>
              <a:rPr lang="zh-CN" altLang="en-US" sz="2000" b="1" dirty="0">
                <a:latin typeface="+mn-ea"/>
                <a:ea typeface="+mn-ea"/>
              </a:rPr>
              <a:t>的统计含义：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880995" y="6234430"/>
            <a:ext cx="774636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表征测量列数值的离散程度的重要参数，</a:t>
            </a: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反映随机误差的散布情况！</a:t>
            </a:r>
            <a:endParaRPr lang="en-US" altLang="zh-CN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169410" y="5786120"/>
            <a:ext cx="6281738" cy="55308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 dirty="0">
                <a:latin typeface="+mn-ea"/>
                <a:ea typeface="+mn-ea"/>
              </a:rPr>
              <a:t>任一测量值与真值之差落在</a:t>
            </a:r>
            <a:r>
              <a:rPr lang="en-US" altLang="zh-CN" sz="2000" b="1" dirty="0">
                <a:latin typeface="+mn-ea"/>
                <a:ea typeface="+mn-ea"/>
              </a:rPr>
              <a:t>[-σ, σ]</a:t>
            </a:r>
            <a:r>
              <a:rPr lang="zh-CN" altLang="en-US" sz="2000" b="1" dirty="0">
                <a:latin typeface="+mn-ea"/>
                <a:ea typeface="+mn-ea"/>
              </a:rPr>
              <a:t>的概率为 </a:t>
            </a:r>
            <a:r>
              <a:rPr lang="en-US" altLang="zh-CN" sz="2000" b="1" dirty="0">
                <a:latin typeface="+mn-ea"/>
                <a:ea typeface="+mn-ea"/>
              </a:rPr>
              <a:t>0.683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6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599D4-AB87-4135-801D-AF38942A1C75}" type="slidenum">
              <a:rPr lang="zh-CN" altLang="en-US" smtClean="0"/>
            </a:fld>
            <a:endParaRPr lang="zh-CN" altLang="en-US"/>
          </a:p>
        </p:txBody>
      </p:sp>
      <p:sp>
        <p:nvSpPr>
          <p:cNvPr id="296980" name="矩形 22"/>
          <p:cNvSpPr>
            <a:spLocks noChangeArrowheads="1"/>
          </p:cNvSpPr>
          <p:nvPr/>
        </p:nvSpPr>
        <p:spPr bwMode="auto">
          <a:xfrm>
            <a:off x="9468803" y="2132330"/>
            <a:ext cx="1249680" cy="306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400" dirty="0"/>
              <a:t>误差概率密度</a:t>
            </a:r>
            <a:endParaRPr lang="zh-CN" altLang="en-US" sz="1400" dirty="0"/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9194800" y="4652645"/>
          <a:ext cx="1977390" cy="735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1320800" imgH="508000" progId="">
                  <p:embed/>
                </p:oleObj>
              </mc:Choice>
              <mc:Fallback>
                <p:oleObj name="Equation" r:id="rId4" imgW="1320800" imgH="5080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4800" y="4652645"/>
                        <a:ext cx="1977390" cy="73533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738282" y="214290"/>
            <a:ext cx="5906770" cy="52197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2.1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系统误差：仪器误差、估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读误差</a:t>
            </a:r>
            <a:endParaRPr lang="zh-CN" altLang="en-US" sz="28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副标题 2"/>
          <p:cNvSpPr txBox="1"/>
          <p:nvPr/>
        </p:nvSpPr>
        <p:spPr>
          <a:xfrm>
            <a:off x="3443310" y="1000108"/>
            <a:ext cx="5867400" cy="3014662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latin typeface="+mn-ea"/>
              </a:rPr>
              <a:t>（</a:t>
            </a:r>
            <a:r>
              <a:rPr lang="en-US" sz="2000" kern="0" dirty="0" smtClean="0">
                <a:latin typeface="+mn-ea"/>
              </a:rPr>
              <a:t>1</a:t>
            </a:r>
            <a:r>
              <a:rPr lang="zh-CN" altLang="en-US" sz="2000" kern="0" dirty="0" smtClean="0">
                <a:latin typeface="+mn-ea"/>
              </a:rPr>
              <a:t>）定义：</a:t>
            </a:r>
            <a:endParaRPr lang="en-US" altLang="zh-CN" sz="2000" kern="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latin typeface="+mn-ea"/>
              </a:rPr>
              <a:t>（</a:t>
            </a:r>
            <a:r>
              <a:rPr lang="en-US" sz="2000" kern="0" dirty="0" smtClean="0">
                <a:latin typeface="+mn-ea"/>
              </a:rPr>
              <a:t>2</a:t>
            </a:r>
            <a:r>
              <a:rPr lang="zh-CN" altLang="en-US" sz="2000" kern="0" dirty="0" smtClean="0">
                <a:latin typeface="+mn-ea"/>
              </a:rPr>
              <a:t>）取法：</a:t>
            </a:r>
            <a:endParaRPr lang="en-US" altLang="zh-CN" sz="2000" kern="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kern="0" dirty="0" smtClean="0">
                <a:latin typeface="+mn-ea"/>
              </a:rPr>
              <a:t>  </a:t>
            </a:r>
            <a:r>
              <a:rPr lang="zh-CN" altLang="en-US" sz="2000" kern="0" dirty="0" smtClean="0">
                <a:latin typeface="+mn-ea"/>
              </a:rPr>
              <a:t>（</a:t>
            </a:r>
            <a:r>
              <a:rPr lang="en-US" sz="2000" kern="0" dirty="0" smtClean="0">
                <a:latin typeface="+mn-ea"/>
              </a:rPr>
              <a:t>a</a:t>
            </a:r>
            <a:r>
              <a:rPr lang="zh-CN" altLang="en-US" sz="2000" kern="0" dirty="0" smtClean="0">
                <a:latin typeface="+mn-ea"/>
              </a:rPr>
              <a:t>）厂家给出值：</a:t>
            </a:r>
            <a:r>
              <a:rPr lang="en-US" sz="2000" kern="0" dirty="0" smtClean="0">
                <a:latin typeface="+mn-ea"/>
              </a:rPr>
              <a:t> </a:t>
            </a:r>
            <a:endParaRPr lang="en-US" altLang="zh-CN" sz="2000" kern="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latin typeface="+mn-ea"/>
              </a:rPr>
              <a:t>  （</a:t>
            </a:r>
            <a:r>
              <a:rPr lang="en-US" sz="2000" kern="0" dirty="0" smtClean="0">
                <a:latin typeface="+mn-ea"/>
              </a:rPr>
              <a:t>b</a:t>
            </a:r>
            <a:r>
              <a:rPr lang="zh-CN" altLang="en-US" sz="2000" kern="0" dirty="0" smtClean="0">
                <a:latin typeface="+mn-ea"/>
              </a:rPr>
              <a:t>）精度等级：                                </a:t>
            </a:r>
            <a:r>
              <a:rPr lang="en-US" sz="2000" kern="0" dirty="0" smtClean="0">
                <a:latin typeface="+mn-ea"/>
              </a:rPr>
              <a:t> </a:t>
            </a:r>
            <a:endParaRPr lang="en-US" altLang="zh-CN" sz="2000" kern="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latin typeface="+mn-ea"/>
              </a:rPr>
              <a:t>  （</a:t>
            </a:r>
            <a:r>
              <a:rPr lang="en-US" sz="2000" kern="0" dirty="0" smtClean="0">
                <a:latin typeface="+mn-ea"/>
              </a:rPr>
              <a:t>c</a:t>
            </a:r>
            <a:r>
              <a:rPr lang="zh-CN" altLang="en-US" sz="2000" kern="0" dirty="0" smtClean="0">
                <a:latin typeface="+mn-ea"/>
              </a:rPr>
              <a:t>）数字式：                                   </a:t>
            </a:r>
            <a:endParaRPr lang="en-US" altLang="zh-CN" sz="2000" kern="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 smtClean="0">
                <a:latin typeface="+mn-ea"/>
              </a:rPr>
              <a:t>  （</a:t>
            </a:r>
            <a:r>
              <a:rPr lang="en-US" sz="2000" kern="0" dirty="0" smtClean="0">
                <a:latin typeface="+mn-ea"/>
              </a:rPr>
              <a:t>d</a:t>
            </a:r>
            <a:r>
              <a:rPr lang="zh-CN" altLang="en-US" sz="2000" kern="0" dirty="0" smtClean="0">
                <a:latin typeface="+mn-ea"/>
              </a:rPr>
              <a:t>）标尺式：</a:t>
            </a:r>
            <a:endParaRPr lang="zh-CN" altLang="en-US" sz="2000" kern="0" dirty="0" smtClean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24166" y="4500570"/>
            <a:ext cx="4572000" cy="675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kern="0" dirty="0"/>
              <a:t>1</a:t>
            </a:r>
            <a:r>
              <a:rPr lang="zh-CN" altLang="en-US" sz="2000" kern="0" dirty="0"/>
              <a:t>、估读比例：</a:t>
            </a:r>
            <a:endParaRPr lang="en-US" altLang="zh-CN" sz="2000" kern="0" dirty="0"/>
          </a:p>
          <a:p>
            <a:pPr>
              <a:defRPr/>
            </a:pPr>
            <a:r>
              <a:rPr lang="en-US" altLang="zh-CN" kern="0" dirty="0"/>
              <a:t> </a:t>
            </a:r>
            <a:endParaRPr lang="en-US" altLang="zh-CN" kern="0" dirty="0"/>
          </a:p>
        </p:txBody>
      </p:sp>
      <p:graphicFrame>
        <p:nvGraphicFramePr>
          <p:cNvPr id="311303" name="Object 7"/>
          <p:cNvGraphicFramePr>
            <a:graphicFrameLocks noChangeAspect="1"/>
          </p:cNvGraphicFramePr>
          <p:nvPr/>
        </p:nvGraphicFramePr>
        <p:xfrm>
          <a:off x="6094435" y="1000108"/>
          <a:ext cx="18256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06" name="Equation" r:id="rId1" imgW="1168400" imgH="279400" progId="">
                  <p:embed/>
                </p:oleObj>
              </mc:Choice>
              <mc:Fallback>
                <p:oleObj name="Equation" r:id="rId1" imgW="1168400" imgH="279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35" y="1000108"/>
                        <a:ext cx="1825625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4" name="Object 8"/>
          <p:cNvGraphicFramePr>
            <a:graphicFrameLocks noChangeAspect="1"/>
          </p:cNvGraphicFramePr>
          <p:nvPr/>
        </p:nvGraphicFramePr>
        <p:xfrm>
          <a:off x="6465910" y="2089768"/>
          <a:ext cx="51276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07" name="Equation" r:id="rId3" imgW="241300" imgH="241300" progId="">
                  <p:embed/>
                </p:oleObj>
              </mc:Choice>
              <mc:Fallback>
                <p:oleObj name="Equation" r:id="rId3" imgW="241300" imgH="2413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910" y="2089768"/>
                        <a:ext cx="512763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5" name="Object 9"/>
          <p:cNvGraphicFramePr>
            <a:graphicFrameLocks noChangeAspect="1"/>
          </p:cNvGraphicFramePr>
          <p:nvPr/>
        </p:nvGraphicFramePr>
        <p:xfrm>
          <a:off x="6513535" y="2610468"/>
          <a:ext cx="21574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08" name="Equation" r:id="rId5" imgW="1180465" imgH="241300" progId="">
                  <p:embed/>
                </p:oleObj>
              </mc:Choice>
              <mc:Fallback>
                <p:oleObj name="Equation" r:id="rId5" imgW="1180465" imgH="2413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535" y="2610468"/>
                        <a:ext cx="2157413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6" name="Object 10"/>
          <p:cNvGraphicFramePr>
            <a:graphicFrameLocks noChangeAspect="1"/>
          </p:cNvGraphicFramePr>
          <p:nvPr/>
        </p:nvGraphicFramePr>
        <p:xfrm>
          <a:off x="6540523" y="3217210"/>
          <a:ext cx="17668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09" name="Equation" r:id="rId7" imgW="1028065" imgH="241300" progId="">
                  <p:embed/>
                </p:oleObj>
              </mc:Choice>
              <mc:Fallback>
                <p:oleObj name="Equation" r:id="rId7" imgW="1028065" imgH="2413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23" y="3217210"/>
                        <a:ext cx="1766887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7" name="Object 11"/>
          <p:cNvGraphicFramePr>
            <a:graphicFrameLocks noChangeAspect="1"/>
          </p:cNvGraphicFramePr>
          <p:nvPr/>
        </p:nvGraphicFramePr>
        <p:xfrm>
          <a:off x="6535760" y="3653773"/>
          <a:ext cx="17970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10" name="Equation" r:id="rId9" imgW="1091565" imgH="304800" progId="">
                  <p:embed/>
                </p:oleObj>
              </mc:Choice>
              <mc:Fallback>
                <p:oleObj name="Equation" r:id="rId9" imgW="1091565" imgH="3048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60" y="3653773"/>
                        <a:ext cx="17970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8" name="Object 12"/>
          <p:cNvGraphicFramePr>
            <a:graphicFrameLocks noChangeAspect="1"/>
          </p:cNvGraphicFramePr>
          <p:nvPr/>
        </p:nvGraphicFramePr>
        <p:xfrm>
          <a:off x="4881554" y="4500570"/>
          <a:ext cx="13271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11" name="Equation" r:id="rId11" imgW="698500" imgH="203200" progId="">
                  <p:embed/>
                </p:oleObj>
              </mc:Choice>
              <mc:Fallback>
                <p:oleObj name="Equation" r:id="rId11" imgW="698500" imgH="2032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554" y="4500570"/>
                        <a:ext cx="1327150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9" name="Object 13"/>
          <p:cNvGraphicFramePr>
            <a:graphicFrameLocks noChangeAspect="1"/>
          </p:cNvGraphicFramePr>
          <p:nvPr/>
        </p:nvGraphicFramePr>
        <p:xfrm>
          <a:off x="8310578" y="4429132"/>
          <a:ext cx="116363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12" name="Equation" r:id="rId13" imgW="622300" imgH="241300" progId="">
                  <p:embed/>
                </p:oleObj>
              </mc:Choice>
              <mc:Fallback>
                <p:oleObj name="Equation" r:id="rId13" imgW="622300" imgH="2413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0578" y="4429132"/>
                        <a:ext cx="1163637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13" name="TextBox 21"/>
          <p:cNvSpPr txBox="1">
            <a:spLocks noChangeArrowheads="1"/>
          </p:cNvSpPr>
          <p:nvPr/>
        </p:nvSpPr>
        <p:spPr bwMode="auto">
          <a:xfrm>
            <a:off x="2309786" y="742934"/>
            <a:ext cx="2030412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仪器误差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311314" name="TextBox 22"/>
          <p:cNvSpPr txBox="1">
            <a:spLocks noChangeArrowheads="1"/>
          </p:cNvSpPr>
          <p:nvPr/>
        </p:nvSpPr>
        <p:spPr bwMode="auto">
          <a:xfrm>
            <a:off x="2309786" y="4000504"/>
            <a:ext cx="2030413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估读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误差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△估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4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E22ED8-362C-4FE3-A5E8-78560D5DC90F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custDataLst>
              <p:tags r:id="rId15"/>
            </p:custDataLst>
          </p:nvPr>
        </p:nvGraphicFramePr>
        <p:xfrm>
          <a:off x="2024034" y="5000636"/>
          <a:ext cx="814387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630"/>
                <a:gridCol w="969010"/>
                <a:gridCol w="681355"/>
                <a:gridCol w="1027430"/>
                <a:gridCol w="1781810"/>
                <a:gridCol w="1398270"/>
                <a:gridCol w="928370"/>
              </a:tblGrid>
              <a:tr h="299402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仪器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zh-CN" altLang="en-US" dirty="0" smtClean="0"/>
                        <a:t>名称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量程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最小量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估读误差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仪器误差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零位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zh-CN" altLang="en-US" dirty="0" smtClean="0"/>
                        <a:t>误差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数字式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zh-CN" altLang="en-US" dirty="0" smtClean="0"/>
                        <a:t>仪器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/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/</a:t>
                      </a:r>
                      <a:endParaRPr lang="zh-CN" altLang="en-US" dirty="0" smtClean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/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最小量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最小量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/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模拟式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zh-CN" altLang="en-US" dirty="0" smtClean="0"/>
                        <a:t>仪器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/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/</a:t>
                      </a:r>
                      <a:endParaRPr lang="zh-CN" altLang="en-US" dirty="0" smtClean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/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最小量的</a:t>
                      </a:r>
                      <a:r>
                        <a:rPr lang="en-US" altLang="zh-CN" dirty="0" smtClean="0"/>
                        <a:t>1/10</a:t>
                      </a:r>
                      <a:r>
                        <a:rPr lang="zh-CN" altLang="en-US" dirty="0" smtClean="0"/>
                        <a:t>或</a:t>
                      </a:r>
                      <a:r>
                        <a:rPr lang="en-US" altLang="zh-CN" dirty="0" smtClean="0"/>
                        <a:t>1/5</a:t>
                      </a:r>
                      <a:r>
                        <a:rPr lang="zh-CN" altLang="en-US" dirty="0" smtClean="0"/>
                        <a:t>、或</a:t>
                      </a:r>
                      <a:r>
                        <a:rPr lang="en-US" altLang="zh-CN" dirty="0" smtClean="0"/>
                        <a:t>1/2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最小量、最小量的一半</a:t>
                      </a:r>
                      <a:endParaRPr lang="zh-CN" altLang="en-US" dirty="0" smtClean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/</a:t>
                      </a:r>
                      <a:endParaRPr lang="zh-CN" altLang="en-US" dirty="0" smtClean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3381356" y="773652"/>
            <a:ext cx="64262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+mn-ea"/>
              </a:rPr>
              <a:t>△仪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96066" y="4500570"/>
            <a:ext cx="1918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kern="0" dirty="0" smtClean="0"/>
              <a:t>2</a:t>
            </a:r>
            <a:r>
              <a:rPr lang="zh-CN" altLang="en-US" sz="2000" kern="0" dirty="0" smtClean="0"/>
              <a:t>、估读误差：</a:t>
            </a:r>
            <a:r>
              <a:rPr lang="en-US" altLang="zh-CN" sz="2000" kern="0" dirty="0" smtClean="0"/>
              <a:t> </a:t>
            </a:r>
            <a:endParaRPr lang="zh-CN" altLang="en-US" sz="2000" i="1" kern="0" dirty="0"/>
          </a:p>
        </p:txBody>
      </p:sp>
      <p:sp>
        <p:nvSpPr>
          <p:cNvPr id="2" name="文本框 1"/>
          <p:cNvSpPr txBox="1"/>
          <p:nvPr/>
        </p:nvSpPr>
        <p:spPr>
          <a:xfrm>
            <a:off x="2211070" y="1148715"/>
            <a:ext cx="11703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  <a:sym typeface="+mn-ea"/>
              </a:rPr>
              <a:t>10</a:t>
            </a:r>
            <a:endParaRPr lang="en-US" altLang="zh-CN" sz="2000" b="1" baseline="-25000" dirty="0">
              <a:solidFill>
                <a:srgbClr val="0000FF"/>
              </a:solidFill>
              <a:latin typeface="宋体" panose="02010600030101010101" pitchFamily="2" charset="-122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B99C06-F326-48EE-9885-14D6073FD0AE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452662" y="1124888"/>
            <a:ext cx="285752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物理</a:t>
            </a:r>
            <a:r>
              <a:rPr kumimoji="1"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意义</a:t>
            </a:r>
            <a:endParaRPr kumimoji="1"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737995" y="2493010"/>
          <a:ext cx="2867660" cy="2477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06" name="BMP 图像" r:id="rId1" imgW="2867025" imgH="2476500" progId="PBrush">
                  <p:embed/>
                </p:oleObj>
              </mc:Choice>
              <mc:Fallback>
                <p:oleObj name="BMP 图像" r:id="rId1" imgW="2867025" imgH="2476500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995" y="2493010"/>
                        <a:ext cx="2867660" cy="2477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025513" y="2523027"/>
            <a:ext cx="3240360" cy="3836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ts val="1200"/>
              </a:spcBef>
              <a:tabLst>
                <a:tab pos="5448300" algn="l"/>
              </a:tabLst>
            </a:pPr>
            <a:r>
              <a:rPr lang="en-US" altLang="zh-CN" sz="2400" b="1" dirty="0" smtClean="0">
                <a:solidFill>
                  <a:srgbClr val="FF0000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   小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：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lnSpc>
                <a:spcPts val="3200"/>
              </a:lnSpc>
              <a:spcBef>
                <a:spcPts val="1200"/>
              </a:spcBef>
              <a:tabLst>
                <a:tab pos="5448300" algn="l"/>
              </a:tabLst>
            </a:pPr>
            <a:r>
              <a:rPr lang="en-US" altLang="zh-CN" sz="2400" b="1" dirty="0" err="1" smtClean="0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测得值密集</a:t>
            </a:r>
            <a:r>
              <a:rPr lang="en-US" altLang="zh-CN" sz="2400" b="1" dirty="0" err="1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，</a:t>
            </a:r>
            <a:r>
              <a:rPr lang="en-US" altLang="zh-CN" sz="2400" b="1" dirty="0" err="1" smtClean="0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随机误差分布范围窄</a:t>
            </a:r>
            <a:r>
              <a:rPr lang="en-US" altLang="zh-CN" sz="2400" b="1" dirty="0" err="1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，</a:t>
            </a:r>
            <a:r>
              <a:rPr lang="en-US" altLang="zh-CN" sz="2400" b="1" dirty="0" err="1" smtClean="0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测量的精密度高</a:t>
            </a:r>
            <a:r>
              <a:rPr lang="en-US" altLang="zh-CN" sz="2400" b="1" dirty="0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；</a:t>
            </a:r>
            <a:endParaRPr lang="en-US" altLang="zh-CN" sz="2400" b="1" dirty="0">
              <a:solidFill>
                <a:srgbClr val="3333CC"/>
              </a:solidFill>
              <a:latin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lnSpc>
                <a:spcPts val="3200"/>
              </a:lnSpc>
              <a:spcBef>
                <a:spcPts val="1200"/>
              </a:spcBef>
              <a:tabLst>
                <a:tab pos="533400" algn="l"/>
                <a:tab pos="2997200" algn="l"/>
              </a:tabLst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   大</a:t>
            </a:r>
            <a:r>
              <a:rPr lang="en-US" altLang="zh-CN" sz="2400" b="1" dirty="0" smtClean="0">
                <a:solidFill>
                  <a:srgbClr val="FF0000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：</a:t>
            </a:r>
            <a:endParaRPr lang="en-US" altLang="zh-CN" sz="2400" b="1" dirty="0" smtClean="0">
              <a:solidFill>
                <a:srgbClr val="3333CC"/>
              </a:solidFill>
              <a:latin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lnSpc>
                <a:spcPts val="3200"/>
              </a:lnSpc>
              <a:spcBef>
                <a:spcPts val="1200"/>
              </a:spcBef>
              <a:tabLst>
                <a:tab pos="533400" algn="l"/>
                <a:tab pos="2997200" algn="l"/>
              </a:tabLst>
            </a:pPr>
            <a:r>
              <a:rPr lang="en-US" altLang="zh-CN" sz="2400" b="1" dirty="0" err="1" smtClean="0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测得值分散</a:t>
            </a:r>
            <a:r>
              <a:rPr lang="en-US" altLang="zh-CN" sz="2400" b="1" dirty="0" err="1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，</a:t>
            </a:r>
            <a:r>
              <a:rPr lang="en-US" altLang="zh-CN" sz="2400" b="1" dirty="0" err="1" smtClean="0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随机误差分布范围宽</a:t>
            </a:r>
            <a:r>
              <a:rPr lang="en-US" altLang="zh-CN" sz="2400" b="1" dirty="0" err="1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，</a:t>
            </a:r>
            <a:r>
              <a:rPr lang="en-US" altLang="zh-CN" sz="2400" b="1" dirty="0" err="1" smtClean="0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测量的精密度低</a:t>
            </a:r>
            <a:r>
              <a:rPr lang="en-US" altLang="zh-CN" sz="2400" b="1" dirty="0">
                <a:solidFill>
                  <a:srgbClr val="3333CC"/>
                </a:solidFill>
                <a:latin typeface="黑体" panose="02010609060101010101" pitchFamily="2" charset="-122"/>
                <a:cs typeface="黑体" panose="02010609060101010101" pitchFamily="2" charset="-122"/>
              </a:rPr>
              <a:t>。</a:t>
            </a:r>
            <a:endParaRPr lang="en-US" altLang="zh-CN" sz="2400" b="1" dirty="0">
              <a:solidFill>
                <a:srgbClr val="3333CC"/>
              </a:solidFill>
              <a:latin typeface="黑体" panose="02010609060101010101" pitchFamily="2" charset="-122"/>
              <a:cs typeface="黑体" panose="02010609060101010101" pitchFamily="2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952728" y="2214554"/>
          <a:ext cx="7747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07" name="Equation" r:id="rId3" imgW="330200" imgH="203200" progId="">
                  <p:embed/>
                </p:oleObj>
              </mc:Choice>
              <mc:Fallback>
                <p:oleObj name="Equation" r:id="rId3" imgW="330200" imgH="203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28" y="2214554"/>
                        <a:ext cx="774700" cy="47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5"/>
          <p:cNvGrpSpPr/>
          <p:nvPr/>
        </p:nvGrpSpPr>
        <p:grpSpPr bwMode="auto">
          <a:xfrm>
            <a:off x="9858293" y="5096510"/>
            <a:ext cx="1691208" cy="1638300"/>
            <a:chOff x="3216" y="144"/>
            <a:chExt cx="1488" cy="1536"/>
          </a:xfrm>
        </p:grpSpPr>
        <p:grpSp>
          <p:nvGrpSpPr>
            <p:cNvPr id="9" name="Group 16"/>
            <p:cNvGrpSpPr/>
            <p:nvPr/>
          </p:nvGrpSpPr>
          <p:grpSpPr bwMode="auto">
            <a:xfrm>
              <a:off x="3216" y="144"/>
              <a:ext cx="1488" cy="1536"/>
              <a:chOff x="672" y="1776"/>
              <a:chExt cx="1488" cy="1536"/>
            </a:xfrm>
          </p:grpSpPr>
          <p:sp>
            <p:nvSpPr>
              <p:cNvPr id="17" name="Oval 17"/>
              <p:cNvSpPr>
                <a:spLocks noChangeArrowheads="1"/>
              </p:cNvSpPr>
              <p:nvPr/>
            </p:nvSpPr>
            <p:spPr bwMode="auto">
              <a:xfrm>
                <a:off x="864" y="1968"/>
                <a:ext cx="1104" cy="110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Oval 18"/>
              <p:cNvSpPr>
                <a:spLocks noChangeArrowheads="1"/>
              </p:cNvSpPr>
              <p:nvPr/>
            </p:nvSpPr>
            <p:spPr bwMode="auto">
              <a:xfrm>
                <a:off x="1152" y="2304"/>
                <a:ext cx="480" cy="4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>
                <a:off x="672" y="2544"/>
                <a:ext cx="14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 flipV="1">
                <a:off x="1392" y="1776"/>
                <a:ext cx="0" cy="15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" name="Oval 21"/>
            <p:cNvSpPr>
              <a:spLocks noChangeArrowheads="1"/>
            </p:cNvSpPr>
            <p:nvPr/>
          </p:nvSpPr>
          <p:spPr bwMode="auto">
            <a:xfrm>
              <a:off x="3840" y="480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22"/>
            <p:cNvSpPr>
              <a:spLocks noChangeArrowheads="1"/>
            </p:cNvSpPr>
            <p:nvPr/>
          </p:nvSpPr>
          <p:spPr bwMode="auto">
            <a:xfrm>
              <a:off x="3696" y="912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23"/>
            <p:cNvSpPr>
              <a:spLocks noChangeArrowheads="1"/>
            </p:cNvSpPr>
            <p:nvPr/>
          </p:nvSpPr>
          <p:spPr bwMode="auto">
            <a:xfrm>
              <a:off x="4272" y="1152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24"/>
            <p:cNvSpPr>
              <a:spLocks noChangeArrowheads="1"/>
            </p:cNvSpPr>
            <p:nvPr/>
          </p:nvSpPr>
          <p:spPr bwMode="auto">
            <a:xfrm>
              <a:off x="4224" y="864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25"/>
            <p:cNvSpPr>
              <a:spLocks noChangeArrowheads="1"/>
            </p:cNvSpPr>
            <p:nvPr/>
          </p:nvSpPr>
          <p:spPr bwMode="auto">
            <a:xfrm>
              <a:off x="4128" y="576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26"/>
            <p:cNvSpPr>
              <a:spLocks noChangeArrowheads="1"/>
            </p:cNvSpPr>
            <p:nvPr/>
          </p:nvSpPr>
          <p:spPr bwMode="auto">
            <a:xfrm>
              <a:off x="3744" y="1152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27"/>
            <p:cNvSpPr>
              <a:spLocks noChangeArrowheads="1"/>
            </p:cNvSpPr>
            <p:nvPr/>
          </p:nvSpPr>
          <p:spPr bwMode="auto">
            <a:xfrm>
              <a:off x="3984" y="960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Group 28"/>
          <p:cNvGrpSpPr/>
          <p:nvPr/>
        </p:nvGrpSpPr>
        <p:grpSpPr bwMode="auto">
          <a:xfrm>
            <a:off x="9871038" y="2937361"/>
            <a:ext cx="1691208" cy="1638300"/>
            <a:chOff x="528" y="0"/>
            <a:chExt cx="1488" cy="1536"/>
          </a:xfrm>
        </p:grpSpPr>
        <p:grpSp>
          <p:nvGrpSpPr>
            <p:cNvPr id="22" name="Group 29"/>
            <p:cNvGrpSpPr/>
            <p:nvPr/>
          </p:nvGrpSpPr>
          <p:grpSpPr bwMode="auto">
            <a:xfrm>
              <a:off x="528" y="0"/>
              <a:ext cx="1488" cy="1536"/>
              <a:chOff x="672" y="1776"/>
              <a:chExt cx="1488" cy="1536"/>
            </a:xfrm>
          </p:grpSpPr>
          <p:sp>
            <p:nvSpPr>
              <p:cNvPr id="30" name="Oval 30"/>
              <p:cNvSpPr>
                <a:spLocks noChangeArrowheads="1"/>
              </p:cNvSpPr>
              <p:nvPr/>
            </p:nvSpPr>
            <p:spPr bwMode="auto">
              <a:xfrm>
                <a:off x="864" y="1968"/>
                <a:ext cx="1104" cy="110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Oval 31"/>
              <p:cNvSpPr>
                <a:spLocks noChangeArrowheads="1"/>
              </p:cNvSpPr>
              <p:nvPr/>
            </p:nvSpPr>
            <p:spPr bwMode="auto">
              <a:xfrm>
                <a:off x="1152" y="2304"/>
                <a:ext cx="480" cy="4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32"/>
              <p:cNvSpPr>
                <a:spLocks noChangeShapeType="1"/>
              </p:cNvSpPr>
              <p:nvPr/>
            </p:nvSpPr>
            <p:spPr bwMode="auto">
              <a:xfrm>
                <a:off x="672" y="2544"/>
                <a:ext cx="14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33"/>
              <p:cNvSpPr>
                <a:spLocks noChangeShapeType="1"/>
              </p:cNvSpPr>
              <p:nvPr/>
            </p:nvSpPr>
            <p:spPr bwMode="auto">
              <a:xfrm flipV="1">
                <a:off x="1392" y="1776"/>
                <a:ext cx="0" cy="15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" name="Oval 34"/>
            <p:cNvSpPr>
              <a:spLocks noChangeArrowheads="1"/>
            </p:cNvSpPr>
            <p:nvPr/>
          </p:nvSpPr>
          <p:spPr bwMode="auto">
            <a:xfrm>
              <a:off x="1536" y="384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35"/>
            <p:cNvSpPr>
              <a:spLocks noChangeArrowheads="1"/>
            </p:cNvSpPr>
            <p:nvPr/>
          </p:nvSpPr>
          <p:spPr bwMode="auto">
            <a:xfrm>
              <a:off x="1440" y="432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36"/>
            <p:cNvSpPr>
              <a:spLocks noChangeArrowheads="1"/>
            </p:cNvSpPr>
            <p:nvPr/>
          </p:nvSpPr>
          <p:spPr bwMode="auto">
            <a:xfrm>
              <a:off x="1344" y="288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37"/>
            <p:cNvSpPr>
              <a:spLocks noChangeArrowheads="1"/>
            </p:cNvSpPr>
            <p:nvPr/>
          </p:nvSpPr>
          <p:spPr bwMode="auto">
            <a:xfrm>
              <a:off x="1488" y="192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38"/>
            <p:cNvSpPr>
              <a:spLocks noChangeArrowheads="1"/>
            </p:cNvSpPr>
            <p:nvPr/>
          </p:nvSpPr>
          <p:spPr bwMode="auto">
            <a:xfrm>
              <a:off x="1584" y="480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9"/>
            <p:cNvSpPr>
              <a:spLocks noChangeArrowheads="1"/>
            </p:cNvSpPr>
            <p:nvPr/>
          </p:nvSpPr>
          <p:spPr bwMode="auto">
            <a:xfrm>
              <a:off x="1440" y="288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40"/>
            <p:cNvSpPr>
              <a:spLocks noChangeArrowheads="1"/>
            </p:cNvSpPr>
            <p:nvPr/>
          </p:nvSpPr>
          <p:spPr bwMode="auto">
            <a:xfrm>
              <a:off x="1584" y="384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5915680" y="2592614"/>
          <a:ext cx="398624" cy="364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09" name="Equation" r:id="rId5" imgW="152400" imgH="139700" progId="">
                  <p:embed/>
                </p:oleObj>
              </mc:Choice>
              <mc:Fallback>
                <p:oleObj name="Equation" r:id="rId5" imgW="152400" imgH="1397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680" y="2592614"/>
                        <a:ext cx="398624" cy="36454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5954264" y="4504035"/>
          <a:ext cx="3984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10" name="Equation" r:id="rId7" imgW="152400" imgH="139700" progId="">
                  <p:embed/>
                </p:oleObj>
              </mc:Choice>
              <mc:Fallback>
                <p:oleObj name="Equation" r:id="rId7" imgW="152400" imgH="1397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264" y="4504035"/>
                        <a:ext cx="398463" cy="365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810116" y="4641227"/>
          <a:ext cx="32861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11" name="Equation" r:id="rId8" imgW="127000" imgH="139700" progId="">
                  <p:embed/>
                </p:oleObj>
              </mc:Choice>
              <mc:Fallback>
                <p:oleObj name="Equation" r:id="rId8" imgW="127000" imgH="1397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16" y="4641227"/>
                        <a:ext cx="328613" cy="3603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/>
          <p:cNvSpPr/>
          <p:nvPr/>
        </p:nvSpPr>
        <p:spPr>
          <a:xfrm>
            <a:off x="1738282" y="214290"/>
            <a:ext cx="2331720" cy="52197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2.2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随机误差</a:t>
            </a:r>
            <a:endParaRPr lang="zh-CN" altLang="en-US" sz="28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39984" name="Object 16"/>
          <p:cNvGraphicFramePr>
            <a:graphicFrameLocks noChangeAspect="1"/>
          </p:cNvGraphicFramePr>
          <p:nvPr/>
        </p:nvGraphicFramePr>
        <p:xfrm>
          <a:off x="2024034" y="1189023"/>
          <a:ext cx="53166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12" name="Equation" r:id="rId10" imgW="152400" imgH="139700" progId="">
                  <p:embed/>
                </p:oleObj>
              </mc:Choice>
              <mc:Fallback>
                <p:oleObj name="Equation" r:id="rId10" imgW="152400" imgH="1397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34" y="1189023"/>
                        <a:ext cx="531668" cy="4873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1881158" y="1785926"/>
            <a:ext cx="35719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 dirty="0" smtClean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表征测量值离散程度的重要参数</a:t>
            </a:r>
            <a:endParaRPr kumimoji="1" lang="zh-CN" altLang="en-US" b="1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8460" y="4942840"/>
            <a:ext cx="3738880" cy="174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16"/>
              <p:cNvSpPr txBox="1"/>
              <p:nvPr/>
            </p:nvSpPr>
            <p:spPr bwMode="auto">
              <a:xfrm>
                <a:off x="5375880" y="973987"/>
                <a:ext cx="5052166" cy="1221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zh-CN" altLang="en-US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𝒊𝒎</m:t>
                          </m:r>
                        </m:e>
                        <m:lim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ad>
                        <m:radPr>
                          <m:degHide m:val="on"/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真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400" b="1">
                  <a:solidFill>
                    <a:srgbClr val="0066FF"/>
                  </a:solidFill>
                </a:endParaRPr>
              </a:p>
            </p:txBody>
          </p:sp>
        </mc:Choice>
        <mc:Fallback>
          <p:sp>
            <p:nvSpPr>
              <p:cNvPr id="3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5880" y="973987"/>
                <a:ext cx="5052166" cy="1221169"/>
              </a:xfrm>
              <a:prstGeom prst="rect">
                <a:avLst/>
              </a:prstGeom>
              <a:blipFill rotWithShape="1">
                <a:blip r:embed="rId12"/>
                <a:stretch>
                  <a:fillRect l="-12" t="-44" r="2" b="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518764" y="5857892"/>
            <a:ext cx="457200" cy="457200"/>
          </a:xfrm>
        </p:spPr>
        <p:txBody>
          <a:bodyPr/>
          <a:lstStyle/>
          <a:p>
            <a:pPr>
              <a:defRPr/>
            </a:pPr>
            <a:fld id="{01B99C06-F326-48EE-9885-14D6073FD0A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43810" y="119698"/>
            <a:ext cx="2331720" cy="52197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2.2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随机误差</a:t>
            </a:r>
            <a:endParaRPr lang="zh-CN" altLang="en-US" sz="28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 Box 7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660689" y="1971668"/>
            <a:ext cx="3000396" cy="46037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测量列的标准误差：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95325" y="3573780"/>
            <a:ext cx="6716395" cy="101473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测量列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的标准偏差（实验标准差）</a:t>
            </a:r>
            <a:endParaRPr kumimoji="1" lang="zh-CN" altLang="en-US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—----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贝塞尔公式：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1018830" y="5687395"/>
            <a:ext cx="2571768" cy="39878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n—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有限的足够多次</a:t>
            </a:r>
            <a:endParaRPr kumimoji="1"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8038465" y="5838190"/>
            <a:ext cx="2480310" cy="39878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n—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有限的足够多次</a:t>
            </a:r>
            <a:endParaRPr kumimoji="1"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661640" y="1048392"/>
            <a:ext cx="3143272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随机误差计算</a:t>
            </a:r>
            <a:endParaRPr kumimoji="1"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7420" y="623697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ym typeface="+mn-ea"/>
              </a:rPr>
              <a:t>作用</a:t>
            </a:r>
            <a:r>
              <a:rPr lang="zh-CN" altLang="en-US" dirty="0">
                <a:sym typeface="+mn-ea"/>
              </a:rPr>
              <a:t>：</a:t>
            </a:r>
            <a:r>
              <a:rPr lang="en-US" dirty="0">
                <a:sym typeface="+mn-ea"/>
              </a:rPr>
              <a:t> </a:t>
            </a:r>
            <a:r>
              <a:rPr lang="zh-CN" altLang="en-US" b="1" dirty="0">
                <a:sym typeface="+mn-ea"/>
              </a:rPr>
              <a:t>判断异常数据的</a:t>
            </a:r>
            <a:r>
              <a:rPr lang="en-US" b="1" dirty="0">
                <a:sym typeface="+mn-ea"/>
              </a:rPr>
              <a:t>           </a:t>
            </a:r>
            <a:r>
              <a:rPr lang="zh-CN" altLang="en-US" b="1" dirty="0">
                <a:sym typeface="+mn-ea"/>
              </a:rPr>
              <a:t>原则</a:t>
            </a:r>
            <a:endParaRPr lang="en-US" altLang="zh-CN" b="1" dirty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>
              <a:solidFill>
                <a:schemeClr val="tx1"/>
              </a:solidFill>
            </a:endParaRPr>
          </a:p>
        </p:txBody>
      </p:sp>
      <p:graphicFrame>
        <p:nvGraphicFramePr>
          <p:cNvPr id="6486" name="Object 342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3507740" y="6237605"/>
          <a:ext cx="417195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3" name="Equation" r:id="rId3" imgW="215900" imgH="177800" progId="">
                  <p:embed/>
                </p:oleObj>
              </mc:Choice>
              <mc:Fallback>
                <p:oleObj name="Equation" r:id="rId3" imgW="215900" imgH="17780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740" y="6237605"/>
                        <a:ext cx="417195" cy="3657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16"/>
              <p:cNvSpPr txBox="1"/>
              <p:nvPr/>
            </p:nvSpPr>
            <p:spPr bwMode="auto">
              <a:xfrm>
                <a:off x="695295" y="2419247"/>
                <a:ext cx="5052166" cy="1221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zh-CN" altLang="en-US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𝒊𝒎</m:t>
                          </m:r>
                        </m:e>
                        <m:lim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ad>
                        <m:radPr>
                          <m:degHide m:val="on"/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真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400" b="1">
                  <a:solidFill>
                    <a:srgbClr val="0066FF"/>
                  </a:solidFill>
                </a:endParaRPr>
              </a:p>
            </p:txBody>
          </p:sp>
        </mc:Choice>
        <mc:Fallback>
          <p:sp>
            <p:nvSpPr>
              <p:cNvPr id="5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295" y="2419247"/>
                <a:ext cx="5052166" cy="1221169"/>
              </a:xfrm>
              <a:prstGeom prst="rect">
                <a:avLst/>
              </a:prstGeom>
              <a:blipFill rotWithShape="1">
                <a:blip r:embed="rId5"/>
                <a:stretch>
                  <a:fillRect l="-12" t="-44" r="2" b="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16"/>
              <p:cNvSpPr txBox="1"/>
              <p:nvPr/>
            </p:nvSpPr>
            <p:spPr bwMode="auto">
              <a:xfrm>
                <a:off x="339695" y="4563642"/>
                <a:ext cx="5052166" cy="1221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altLang="en-US" sz="2400" b="1" i="1" smtClean="0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400" b="1">
                  <a:solidFill>
                    <a:srgbClr val="0066FF"/>
                  </a:solidFill>
                </a:endParaRPr>
              </a:p>
            </p:txBody>
          </p:sp>
        </mc:Choice>
        <mc:Fallback>
          <p:sp>
            <p:nvSpPr>
              <p:cNvPr id="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695" y="4563642"/>
                <a:ext cx="5052166" cy="1221169"/>
              </a:xfrm>
              <a:prstGeom prst="rect">
                <a:avLst/>
              </a:prstGeom>
              <a:blipFill rotWithShape="1">
                <a:blip r:embed="rId6"/>
                <a:stretch>
                  <a:fillRect l="-12" t="-44" r="2" b="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6897659" y="4021448"/>
            <a:ext cx="3000396" cy="46037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3.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平均值的标准偏差：</a:t>
            </a:r>
            <a:endParaRPr kumimoji="1" lang="zh-CN" altLang="en-US" sz="2400" b="1" dirty="0" smtClean="0"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对象 19"/>
              <p:cNvSpPr txBox="1"/>
              <p:nvPr/>
            </p:nvSpPr>
            <p:spPr bwMode="auto">
              <a:xfrm>
                <a:off x="6094730" y="4509135"/>
                <a:ext cx="5051425" cy="1478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zh-CN" sz="24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𝒒</m:t>
                          </m:r>
                        </m:e>
                      </m:acc>
                      <m:r>
                        <a:rPr lang="en-US" altLang="zh-CN" sz="24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4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rad>
                        </m:den>
                      </m:f>
                      <m:r>
                        <a:rPr lang="zh-CN" altLang="en-US" sz="24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zh-CN" altLang="en-US" sz="2400" b="1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altLang="en-US" sz="2400" b="1" i="1" smtClean="0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zh-CN" altLang="en-US" sz="24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400" b="1" i="1" dirty="0">
                  <a:solidFill>
                    <a:srgbClr val="0066FF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对象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4730" y="4509135"/>
                <a:ext cx="5051425" cy="14789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8"/>
          <a:srcRect r="3685"/>
          <a:stretch>
            <a:fillRect/>
          </a:stretch>
        </p:blipFill>
        <p:spPr>
          <a:xfrm>
            <a:off x="7103745" y="405130"/>
            <a:ext cx="4889500" cy="284416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0" name="矩形 59"/>
          <p:cNvSpPr/>
          <p:nvPr/>
        </p:nvSpPr>
        <p:spPr>
          <a:xfrm>
            <a:off x="7967980" y="6237605"/>
            <a:ext cx="395287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反映平均值的离散程度</a:t>
            </a:r>
            <a:endParaRPr lang="en-US" altLang="zh-CN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738282" y="142852"/>
            <a:ext cx="3042920" cy="5835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描述误差大小</a:t>
            </a:r>
            <a:endParaRPr lang="zh-CN" altLang="en-US" sz="3200" b="1" dirty="0">
              <a:latin typeface="宋体" panose="02010600030101010101" pitchFamily="2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2095472" y="1715439"/>
            <a:ext cx="428625" cy="242887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31779" name="组合 9"/>
          <p:cNvGrpSpPr/>
          <p:nvPr/>
        </p:nvGrpSpPr>
        <p:grpSpPr bwMode="auto">
          <a:xfrm>
            <a:off x="2595538" y="1429370"/>
            <a:ext cx="7661603" cy="2927984"/>
            <a:chOff x="2928942" y="1357636"/>
            <a:chExt cx="7660879" cy="2926651"/>
          </a:xfrm>
        </p:grpSpPr>
        <p:sp>
          <p:nvSpPr>
            <p:cNvPr id="331787" name="Text Box 25"/>
            <p:cNvSpPr txBox="1">
              <a:spLocks noChangeArrowheads="1"/>
            </p:cNvSpPr>
            <p:nvPr/>
          </p:nvSpPr>
          <p:spPr bwMode="auto">
            <a:xfrm>
              <a:off x="4357685" y="1357636"/>
              <a:ext cx="5714383" cy="11983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Tahoma" panose="020B0604030504040204" pitchFamily="34" charset="0"/>
                </a:rPr>
                <a:t>指重复测量所得结果相互接近的程度。</a:t>
              </a:r>
              <a:endParaRPr lang="en-US" altLang="zh-CN" sz="2400" b="1" dirty="0">
                <a:latin typeface="Tahoma" panose="020B060403050404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 smtClean="0">
                  <a:latin typeface="Tahoma" panose="020B0604030504040204" pitchFamily="34" charset="0"/>
                </a:rPr>
                <a:t>（反应</a:t>
              </a:r>
              <a:r>
                <a:rPr lang="zh-CN" altLang="en-US" sz="2400" b="1" dirty="0">
                  <a:latin typeface="Tahoma" panose="020B0604030504040204" pitchFamily="34" charset="0"/>
                </a:rPr>
                <a:t>了</a:t>
              </a:r>
              <a:r>
                <a:rPr lang="zh-CN" altLang="en-US" sz="24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随机误差</a:t>
              </a:r>
              <a:r>
                <a:rPr lang="zh-CN" altLang="en-US" sz="2400" b="1" dirty="0">
                  <a:latin typeface="Tahoma" panose="020B0604030504040204" pitchFamily="34" charset="0"/>
                </a:rPr>
                <a:t>的</a:t>
              </a:r>
              <a:r>
                <a:rPr lang="zh-CN" altLang="en-US" sz="2400" b="1" dirty="0" smtClean="0">
                  <a:latin typeface="Tahoma" panose="020B0604030504040204" pitchFamily="34" charset="0"/>
                </a:rPr>
                <a:t>大小）</a:t>
              </a:r>
              <a:endParaRPr lang="zh-CN" altLang="en-US" sz="2400" b="1" dirty="0">
                <a:latin typeface="Tahoma" panose="020B0604030504040204" pitchFamily="34" charset="0"/>
              </a:endParaRPr>
            </a:p>
          </p:txBody>
        </p:sp>
        <p:sp>
          <p:nvSpPr>
            <p:cNvPr id="331788" name="Text Box 31"/>
            <p:cNvSpPr txBox="1">
              <a:spLocks noChangeArrowheads="1"/>
            </p:cNvSpPr>
            <p:nvPr/>
          </p:nvSpPr>
          <p:spPr bwMode="auto">
            <a:xfrm>
              <a:off x="4286136" y="3785738"/>
              <a:ext cx="6303685" cy="4601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ahoma" panose="020B0604030504040204" pitchFamily="34" charset="0"/>
                </a:rPr>
                <a:t>反映</a:t>
              </a:r>
              <a:r>
                <a:rPr lang="zh-CN" altLang="en-US" sz="24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系统误差</a:t>
              </a:r>
              <a:r>
                <a:rPr lang="zh-CN" altLang="en-US" sz="2400" b="1" dirty="0">
                  <a:latin typeface="Tahoma" panose="020B0604030504040204" pitchFamily="34" charset="0"/>
                </a:rPr>
                <a:t>和</a:t>
              </a:r>
              <a:r>
                <a:rPr lang="zh-CN" altLang="en-US" sz="24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随机误差</a:t>
              </a:r>
              <a:r>
                <a:rPr lang="zh-CN" altLang="en-US" sz="2400" b="1" dirty="0">
                  <a:latin typeface="Tahoma" panose="020B0604030504040204" pitchFamily="34" charset="0"/>
                </a:rPr>
                <a:t>的综合大小的程度。</a:t>
              </a:r>
              <a:endParaRPr lang="zh-CN" altLang="en-US" sz="2400" b="1" dirty="0">
                <a:latin typeface="Tahoma" panose="020B0604030504040204" pitchFamily="34" charset="0"/>
              </a:endParaRPr>
            </a:p>
          </p:txBody>
        </p:sp>
        <p:sp>
          <p:nvSpPr>
            <p:cNvPr id="331789" name="Text Box 28"/>
            <p:cNvSpPr txBox="1">
              <a:spLocks noChangeArrowheads="1"/>
            </p:cNvSpPr>
            <p:nvPr/>
          </p:nvSpPr>
          <p:spPr bwMode="auto">
            <a:xfrm>
              <a:off x="4214705" y="2571846"/>
              <a:ext cx="6303685" cy="11983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Tahoma" panose="020B0604030504040204" pitchFamily="34" charset="0"/>
                </a:rPr>
                <a:t>指测量值或实验所得结果与真值符合的程度。</a:t>
              </a:r>
              <a:endParaRPr lang="en-US" altLang="zh-CN" sz="2400" b="1" dirty="0">
                <a:latin typeface="Tahoma" panose="020B060403050404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 smtClean="0">
                  <a:latin typeface="Tahoma" panose="020B0604030504040204" pitchFamily="34" charset="0"/>
                </a:rPr>
                <a:t>（反映</a:t>
              </a:r>
              <a:r>
                <a:rPr lang="zh-CN" altLang="en-US" sz="2400" b="1" dirty="0">
                  <a:latin typeface="Tahoma" panose="020B0604030504040204" pitchFamily="34" charset="0"/>
                </a:rPr>
                <a:t>了</a:t>
              </a:r>
              <a:r>
                <a:rPr lang="zh-CN" altLang="en-US" sz="24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系统误差</a:t>
              </a:r>
              <a:r>
                <a:rPr lang="zh-CN" altLang="en-US" sz="2400" b="1" dirty="0">
                  <a:latin typeface="Tahoma" panose="020B0604030504040204" pitchFamily="34" charset="0"/>
                </a:rPr>
                <a:t>大小的</a:t>
              </a:r>
              <a:r>
                <a:rPr lang="zh-CN" altLang="en-US" sz="2400" b="1" dirty="0" smtClean="0">
                  <a:latin typeface="Tahoma" panose="020B0604030504040204" pitchFamily="34" charset="0"/>
                </a:rPr>
                <a:t>程度）</a:t>
              </a:r>
              <a:endParaRPr lang="zh-CN" altLang="en-US" sz="2400" b="1" dirty="0">
                <a:latin typeface="Tahoma" panose="020B0604030504040204" pitchFamily="34" charset="0"/>
              </a:endParaRPr>
            </a:p>
          </p:txBody>
        </p:sp>
        <p:sp>
          <p:nvSpPr>
            <p:cNvPr id="331790" name="Rectangle 24"/>
            <p:cNvSpPr>
              <a:spLocks noChangeArrowheads="1"/>
            </p:cNvSpPr>
            <p:nvPr/>
          </p:nvSpPr>
          <p:spPr bwMode="auto">
            <a:xfrm>
              <a:off x="2928942" y="1500763"/>
              <a:ext cx="1100986" cy="4601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精密度</a:t>
              </a:r>
              <a:endParaRPr lang="zh-CN" altLang="en-US" sz="2400" b="1" dirty="0"/>
            </a:p>
          </p:txBody>
        </p:sp>
        <p:sp>
          <p:nvSpPr>
            <p:cNvPr id="15" name="Text Box 27"/>
            <p:cNvSpPr txBox="1">
              <a:spLocks noChangeArrowheads="1"/>
            </p:cNvSpPr>
            <p:nvPr/>
          </p:nvSpPr>
          <p:spPr bwMode="auto">
            <a:xfrm>
              <a:off x="2928942" y="2643251"/>
              <a:ext cx="1100986" cy="4601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z="2400" b="1" dirty="0">
                  <a:latin typeface="+mn-lt"/>
                  <a:ea typeface="+mn-ea"/>
                </a:rPr>
                <a:t>准确度</a:t>
              </a:r>
              <a:endParaRPr lang="zh-CN" altLang="en-US" sz="2400" b="1" dirty="0">
                <a:latin typeface="+mn-lt"/>
                <a:ea typeface="+mn-ea"/>
              </a:endParaRPr>
            </a:p>
          </p:txBody>
        </p:sp>
        <p:sp>
          <p:nvSpPr>
            <p:cNvPr id="331792" name="Rectangle 30"/>
            <p:cNvSpPr>
              <a:spLocks noChangeArrowheads="1"/>
            </p:cNvSpPr>
            <p:nvPr/>
          </p:nvSpPr>
          <p:spPr bwMode="auto">
            <a:xfrm>
              <a:off x="2959142" y="3824122"/>
              <a:ext cx="1100986" cy="4601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精确度</a:t>
              </a:r>
              <a:endParaRPr lang="zh-CN" altLang="en-US" sz="2400" b="1" dirty="0"/>
            </a:p>
          </p:txBody>
        </p:sp>
      </p:grpSp>
      <p:pic>
        <p:nvPicPr>
          <p:cNvPr id="331780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03070" y="4896485"/>
            <a:ext cx="3806825" cy="135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1781" name="矩形 17"/>
          <p:cNvSpPr>
            <a:spLocks noChangeArrowheads="1"/>
          </p:cNvSpPr>
          <p:nvPr/>
        </p:nvSpPr>
        <p:spPr bwMode="auto">
          <a:xfrm>
            <a:off x="6668138" y="4644080"/>
            <a:ext cx="1933575" cy="1753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精密度</a:t>
            </a:r>
            <a:endParaRPr lang="en-US" altLang="zh-CN" sz="2400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准确度</a:t>
            </a:r>
            <a:endParaRPr lang="en-US" altLang="zh-CN" sz="2400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精确度</a:t>
            </a:r>
            <a:endParaRPr lang="en-US" altLang="zh-CN" sz="2400" b="1" dirty="0">
              <a:latin typeface="Tahoma" panose="020B0604030504040204" pitchFamily="34" charset="0"/>
            </a:endParaRPr>
          </a:p>
        </p:txBody>
      </p:sp>
      <p:sp>
        <p:nvSpPr>
          <p:cNvPr id="331782" name="矩形 18"/>
          <p:cNvSpPr>
            <a:spLocks noChangeArrowheads="1"/>
          </p:cNvSpPr>
          <p:nvPr/>
        </p:nvSpPr>
        <p:spPr bwMode="auto">
          <a:xfrm>
            <a:off x="8679467" y="4644080"/>
            <a:ext cx="2132043" cy="1753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随机误差</a:t>
            </a:r>
            <a:endParaRPr lang="en-US" altLang="zh-CN" sz="2400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系统误差</a:t>
            </a:r>
            <a:endParaRPr lang="en-US" altLang="zh-CN" sz="2400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ahoma" panose="020B0604030504040204" pitchFamily="34" charset="0"/>
              </a:rPr>
              <a:t>综合误差</a:t>
            </a:r>
            <a:endParaRPr lang="en-US" altLang="zh-CN" sz="2400" b="1" dirty="0">
              <a:latin typeface="Tahoma" panose="020B0604030504040204" pitchFamily="34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823528" y="6072840"/>
            <a:ext cx="92868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040751-163B-42A4-B558-CA4704EEA537}" type="slidenum">
              <a:rPr lang="zh-CN" altLang="en-US" smtClean="0"/>
            </a:fld>
            <a:endParaRPr lang="zh-CN" altLang="en-US"/>
          </a:p>
        </p:txBody>
      </p:sp>
      <p:sp>
        <p:nvSpPr>
          <p:cNvPr id="28674" name="副标题 2"/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2716530" y="835660"/>
            <a:ext cx="7559040" cy="64960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三度：定性评价系统与随机误差大小</a:t>
            </a:r>
            <a:endParaRPr lang="en-US" altLang="zh-CN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zh-CN" altLang="en-US" sz="3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36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7822893" y="5550870"/>
            <a:ext cx="92868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>
            <a:off x="7823528" y="5029535"/>
            <a:ext cx="92868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660" name="Rectangle 2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1" name="Rectangle 4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2" name="Rectangle 6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408940" y="1341120"/>
            <a:ext cx="11783060" cy="111887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b="1" dirty="0" smtClean="0">
                <a:latin typeface="+mn-ea"/>
                <a:ea typeface="+mn-ea"/>
              </a:rPr>
              <a:t>误差存在于一切测量当中，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为了更方便的评价测量结果的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质量和可靠程度。</a:t>
            </a:r>
            <a:endParaRPr lang="zh-CN" altLang="en-US" b="1" dirty="0" smtClean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335280" y="6165215"/>
            <a:ext cx="457200" cy="457200"/>
          </a:xfrm>
        </p:spPr>
        <p:txBody>
          <a:bodyPr/>
          <a:lstStyle/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/>
        </p:nvSpPr>
        <p:spPr>
          <a:xfrm>
            <a:off x="10983278" y="68756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3CB2591-70B0-3C49-B332-87576C14D778}" type="slidenum">
              <a:rPr lang="zh-CN" altLang="en-US" smtClean="0"/>
            </a:fld>
            <a:endParaRPr lang="en-US" altLang="zh-CN" sz="1350">
              <a:solidFill>
                <a:schemeClr val="tx1"/>
              </a:solidFill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383764" y="4076412"/>
            <a:ext cx="2926200" cy="788812"/>
          </a:xfrm>
          <a:custGeom>
            <a:avLst/>
            <a:gdLst>
              <a:gd name="connsiteX0" fmla="*/ 0 w 6480175"/>
              <a:gd name="connsiteY0" fmla="*/ 0 h 1368425"/>
              <a:gd name="connsiteX1" fmla="*/ 6480175 w 6480175"/>
              <a:gd name="connsiteY1" fmla="*/ 0 h 1368425"/>
              <a:gd name="connsiteX2" fmla="*/ 6480175 w 6480175"/>
              <a:gd name="connsiteY2" fmla="*/ 1368425 h 1368425"/>
              <a:gd name="connsiteX3" fmla="*/ 0 w 6480175"/>
              <a:gd name="connsiteY3" fmla="*/ 1368425 h 1368425"/>
              <a:gd name="connsiteX4" fmla="*/ 0 w 6480175"/>
              <a:gd name="connsiteY4" fmla="*/ 0 h 13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0175" h="1368425">
                <a:moveTo>
                  <a:pt x="0" y="0"/>
                </a:moveTo>
                <a:lnTo>
                  <a:pt x="6480175" y="0"/>
                </a:lnTo>
                <a:lnTo>
                  <a:pt x="6480175" y="1368425"/>
                </a:lnTo>
                <a:lnTo>
                  <a:pt x="0" y="13684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457200" lvl="0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标准不确定度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127079" y="4004656"/>
            <a:ext cx="675005" cy="2592388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>
            <a:spAutoFit/>
          </a:bodyPr>
          <a:lstStyle/>
          <a:p>
            <a:pPr marR="0" algn="ctr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不确定度</a:t>
            </a:r>
            <a:endParaRPr kumimoji="1" lang="zh-CN" altLang="en-US" sz="3200" b="1" kern="1200" cap="none" spc="0" normalizeH="0" baseline="0" noProof="0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5"/>
          <p:cNvSpPr/>
          <p:nvPr/>
        </p:nvSpPr>
        <p:spPr bwMode="auto">
          <a:xfrm>
            <a:off x="2084740" y="4364943"/>
            <a:ext cx="288000" cy="2161055"/>
          </a:xfrm>
          <a:prstGeom prst="leftBrace">
            <a:avLst>
              <a:gd name="adj1" fmla="val 30561"/>
              <a:gd name="adj2" fmla="val 50045"/>
            </a:avLst>
          </a:prstGeom>
          <a:ln w="25400">
            <a:solidFill>
              <a:srgbClr val="0066F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1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+mn-ea"/>
              <a:cs typeface="+mn-cs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372194" y="5804884"/>
            <a:ext cx="2922221" cy="7372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扩展不确定度：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5"/>
          <p:cNvSpPr/>
          <p:nvPr/>
        </p:nvSpPr>
        <p:spPr bwMode="auto">
          <a:xfrm>
            <a:off x="5102293" y="3767292"/>
            <a:ext cx="225906" cy="1255070"/>
          </a:xfrm>
          <a:prstGeom prst="leftBrace">
            <a:avLst>
              <a:gd name="adj1" fmla="val 30561"/>
              <a:gd name="adj2" fmla="val 50045"/>
            </a:avLst>
          </a:prstGeom>
          <a:ln w="25400">
            <a:solidFill>
              <a:srgbClr val="0066F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1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28199" y="3599177"/>
            <a:ext cx="3225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类标准不确定度</a:t>
            </a:r>
            <a:endParaRPr lang="zh-CN" altLang="en-US" sz="24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34953" y="4643602"/>
            <a:ext cx="273213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类标准不确定度</a:t>
            </a:r>
            <a:endParaRPr lang="zh-CN" altLang="en-US" sz="24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5"/>
          <p:cNvSpPr/>
          <p:nvPr/>
        </p:nvSpPr>
        <p:spPr bwMode="auto">
          <a:xfrm flipH="1">
            <a:off x="7910291" y="3747909"/>
            <a:ext cx="225906" cy="1255070"/>
          </a:xfrm>
          <a:prstGeom prst="leftBrace">
            <a:avLst>
              <a:gd name="adj1" fmla="val 30561"/>
              <a:gd name="adj2" fmla="val 50045"/>
            </a:avLst>
          </a:prstGeom>
          <a:ln w="25400">
            <a:solidFill>
              <a:srgbClr val="0066F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1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8258977" y="4114117"/>
                <a:ext cx="322543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合成标准不确定度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zh-CN" altLang="en-US" sz="2400" b="1">
                  <a:solidFill>
                    <a:srgbClr val="0066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977" y="4114117"/>
                <a:ext cx="3225435" cy="460375"/>
              </a:xfrm>
              <a:prstGeom prst="rect">
                <a:avLst/>
              </a:prstGeom>
              <a:blipFill rotWithShape="1">
                <a:blip r:embed="rId1"/>
                <a:stretch>
                  <a:fillRect l="-5" t="-128" r="14" b="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5541177" y="6005773"/>
            <a:ext cx="281051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kern="10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i="1" kern="100" baseline="-2500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kern="10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i="1" kern="10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kern="10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为包含概率）</a:t>
            </a:r>
            <a:endParaRPr lang="zh-CN" altLang="en-US" sz="2400"/>
          </a:p>
        </p:txBody>
      </p:sp>
      <p:sp>
        <p:nvSpPr>
          <p:cNvPr id="23" name="矩形 22"/>
          <p:cNvSpPr/>
          <p:nvPr/>
        </p:nvSpPr>
        <p:spPr>
          <a:xfrm>
            <a:off x="1919605" y="2661285"/>
            <a:ext cx="913955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不确定度：</a:t>
            </a:r>
            <a:r>
              <a:rPr lang="zh-CN" altLang="zh-CN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取</a:t>
            </a:r>
            <a:r>
              <a:rPr lang="en-US" altLang="zh-CN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1</a:t>
            </a:r>
            <a:r>
              <a:rPr lang="zh-CN" altLang="zh-CN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～</a:t>
            </a:r>
            <a:r>
              <a:rPr lang="en-US" altLang="zh-CN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2</a:t>
            </a:r>
            <a:r>
              <a:rPr lang="zh-CN" altLang="zh-CN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位有效数字，多余尾数</a:t>
            </a:r>
            <a:r>
              <a:rPr lang="en-US" altLang="zh-CN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“</a:t>
            </a:r>
            <a:r>
              <a:rPr lang="zh-CN" altLang="zh-CN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只入不舍</a:t>
            </a:r>
            <a:r>
              <a:rPr lang="en-US" altLang="zh-CN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”</a:t>
            </a:r>
            <a:r>
              <a:rPr lang="zh-CN" altLang="en-US" sz="2800" b="1" kern="0">
                <a:solidFill>
                  <a:srgbClr val="FF0000"/>
                </a:solidFill>
                <a:latin typeface="Verdana" panose="020B0604030504040204"/>
                <a:ea typeface="微软雅黑" panose="020B0503020204020204" charset="-122"/>
              </a:rPr>
              <a:t>。</a:t>
            </a:r>
            <a:endParaRPr lang="zh-CN" altLang="en-US" sz="2800" b="1" kern="0">
              <a:solidFill>
                <a:srgbClr val="FF0000"/>
              </a:solidFill>
              <a:latin typeface="Verdana" panose="020B06040305040402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660" name="Rectangle 2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1" name="Rectangle 4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2" name="Rectangle 6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551180" y="6093460"/>
            <a:ext cx="457200" cy="457200"/>
          </a:xfrm>
        </p:spPr>
        <p:txBody>
          <a:bodyPr/>
          <a:lstStyle/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/>
        </p:nvSpPr>
        <p:spPr>
          <a:xfrm>
            <a:off x="10983278" y="68756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3CB2591-70B0-3C49-B332-87576C14D778}" type="slidenum">
              <a:rPr lang="zh-CN" altLang="en-US" smtClean="0"/>
            </a:fld>
            <a:endParaRPr lang="en-US" altLang="zh-CN" sz="1350">
              <a:solidFill>
                <a:schemeClr val="tx1"/>
              </a:solidFill>
            </a:endParaRPr>
          </a:p>
        </p:txBody>
      </p:sp>
      <p:sp>
        <p:nvSpPr>
          <p:cNvPr id="4" name="灯片编号占位符 7"/>
          <p:cNvSpPr>
            <a:spLocks noGrp="1"/>
          </p:cNvSpPr>
          <p:nvPr/>
        </p:nvSpPr>
        <p:spPr>
          <a:xfrm>
            <a:off x="10905808" y="63898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3CB2591-70B0-3C49-B332-87576C14D778}" type="slidenum">
              <a:rPr lang="zh-CN" altLang="en-US" smtClean="0"/>
            </a:fld>
            <a:endParaRPr lang="en-US" altLang="zh-CN" sz="135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199515" y="2132965"/>
                <a:ext cx="8828405" cy="1383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800" b="1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标准不确定度</a:t>
                </a:r>
                <a:r>
                  <a:rPr lang="zh-CN" altLang="en-US" sz="2800" b="1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概念</a:t>
                </a:r>
                <a:endParaRPr lang="en-US" altLang="zh-CN" sz="2800" b="1" kern="1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指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的是以标准差表示的不确定度，用小写字母</a:t>
                </a:r>
                <a:r>
                  <a:rPr lang="en-US" altLang="zh-CN" sz="2400" b="1" i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表示，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sz="2400" b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400" b="1" i="1" kern="100" dirty="0">
                  <a:solidFill>
                    <a:srgbClr val="0066FF"/>
                  </a:solidFill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515" y="2132965"/>
                <a:ext cx="8828405" cy="13836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199515" y="2924810"/>
            <a:ext cx="11114405" cy="3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zh-CN" sz="2800" b="1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标准不确定度</a:t>
            </a:r>
            <a:r>
              <a:rPr lang="zh-CN" altLang="en-US" sz="2800" b="1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评定方法分类</a:t>
            </a:r>
            <a:endParaRPr lang="en-US" altLang="zh-CN" sz="2800" b="1" kern="0" dirty="0">
              <a:solidFill>
                <a:srgbClr val="FF0000"/>
              </a:solidFill>
              <a:latin typeface="Verdana" panose="020B0604030504040204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    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Verdana" panose="020B0604030504040204"/>
                <a:ea typeface="微软雅黑" panose="020B0503020204020204" charset="-122"/>
                <a:cs typeface="+mn-cs"/>
              </a:rPr>
              <a:t>类</a:t>
            </a:r>
            <a:r>
              <a:rPr lang="en-US" altLang="zh-CN" sz="2400" b="1" kern="0" dirty="0">
                <a:solidFill>
                  <a:srgbClr val="0066FF"/>
                </a:solidFill>
                <a:latin typeface="Verdana" panose="020B0604030504040204"/>
              </a:rPr>
              <a:t>----</a:t>
            </a:r>
            <a:r>
              <a:rPr lang="zh-CN" altLang="en-US" sz="2400" b="1" kern="0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对于</a:t>
            </a:r>
            <a:r>
              <a:rPr lang="zh-CN" altLang="en-US" sz="2400" b="1" kern="0" dirty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多次、等精度测量；用统计的</a:t>
            </a:r>
            <a:r>
              <a:rPr lang="zh-CN" altLang="en-US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方法计算；</a:t>
            </a:r>
            <a:r>
              <a:rPr lang="en-US" altLang="zh-CN" sz="2400" b="1" kern="0" dirty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	   </a:t>
            </a:r>
            <a:endParaRPr lang="en-US" altLang="zh-CN" sz="2400" b="1" kern="0" dirty="0">
              <a:solidFill>
                <a:srgbClr val="0066FF"/>
              </a:solidFill>
              <a:latin typeface="Verdana" panose="020B0604030504040204"/>
              <a:ea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    B</a:t>
            </a:r>
            <a:r>
              <a:rPr lang="zh-CN" altLang="en-US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类</a:t>
            </a:r>
            <a:r>
              <a:rPr lang="en-US" altLang="zh-CN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----</a:t>
            </a:r>
            <a:r>
              <a:rPr lang="zh-CN" altLang="en-US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对于</a:t>
            </a:r>
            <a:r>
              <a:rPr lang="zh-CN" altLang="zh-CN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不是</a:t>
            </a:r>
            <a:r>
              <a:rPr lang="zh-CN" altLang="zh-CN" sz="2400" b="1" kern="0" dirty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由重复性观测得到的</a:t>
            </a:r>
            <a:r>
              <a:rPr lang="zh-CN" altLang="zh-CN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估计值；先</a:t>
            </a:r>
            <a:r>
              <a:rPr lang="zh-CN" altLang="zh-CN" sz="2400" b="1" kern="0" dirty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根据</a:t>
            </a:r>
            <a:r>
              <a:rPr lang="zh-CN" altLang="zh-CN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实际情况估计</a:t>
            </a:r>
            <a:r>
              <a:rPr lang="zh-CN" altLang="zh-CN" sz="2400" b="1" kern="0" dirty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一个概率</a:t>
            </a:r>
            <a:endParaRPr lang="zh-CN" altLang="zh-CN" sz="2400" b="1" kern="0" dirty="0">
              <a:solidFill>
                <a:srgbClr val="0066FF"/>
              </a:solidFill>
              <a:latin typeface="Verdana" panose="020B0604030504040204"/>
              <a:ea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400" b="1" kern="0" dirty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              </a:t>
            </a:r>
            <a:r>
              <a:rPr lang="zh-CN" altLang="zh-CN" sz="2400" b="1" kern="0" dirty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分布，然后</a:t>
            </a:r>
            <a:r>
              <a:rPr lang="zh-CN" altLang="zh-CN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进行评定</a:t>
            </a:r>
            <a:r>
              <a:rPr lang="zh-CN" altLang="en-US" sz="2400" b="1" kern="0">
                <a:solidFill>
                  <a:srgbClr val="0066FF"/>
                </a:solidFill>
                <a:latin typeface="Verdana" panose="020B0604030504040204"/>
                <a:ea typeface="微软雅黑" panose="020B0503020204020204" charset="-122"/>
              </a:rPr>
              <a:t>。</a:t>
            </a:r>
            <a:endParaRPr lang="zh-CN" altLang="en-US" sz="2400" b="1" kern="0">
              <a:solidFill>
                <a:srgbClr val="0066FF"/>
              </a:solidFill>
              <a:latin typeface="Verdana" panose="020B0604030504040204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3526" y="1196950"/>
            <a:ext cx="231986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基础内容</a:t>
            </a:r>
            <a:endParaRPr lang="zh-CN" altLang="en-US" sz="32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660" name="Rectangle 2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1" name="Rectangle 4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2" name="Rectangle 6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551180" y="6236970"/>
            <a:ext cx="457200" cy="457200"/>
          </a:xfrm>
        </p:spPr>
        <p:txBody>
          <a:bodyPr/>
          <a:lstStyle/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/>
        </p:nvSpPr>
        <p:spPr>
          <a:xfrm>
            <a:off x="10983278" y="68756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3CB2591-70B0-3C49-B332-87576C14D778}" type="slidenum">
              <a:rPr lang="zh-CN" altLang="en-US" smtClean="0"/>
            </a:fld>
            <a:endParaRPr lang="en-US" altLang="zh-CN" sz="135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64210" y="2732405"/>
                <a:ext cx="11037570" cy="3382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对于多次等精度测量得到的测量列的估计值（平均值），用</a:t>
                </a:r>
                <a:r>
                  <a:rPr lang="zh-CN" altLang="en-US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下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式所示的统计分析方法评定其标准不确定度，称为标准不确定度的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类评定，记为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endParaRPr lang="zh-CN" altLang="zh-CN" sz="2400" b="1" kern="100" dirty="0">
                  <a:solidFill>
                    <a:srgbClr val="0066FF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𝒒</m:t>
                      </m:r>
                      <m:r>
                        <a:rPr lang="en-US" altLang="zh-CN" sz="2400" b="1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400" b="1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𝒔</m:t>
                      </m:r>
                      <m:r>
                        <a:rPr lang="en-US" altLang="zh-CN" sz="2400" b="1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zh-CN" altLang="zh-CN" sz="2400" b="1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𝒒</m:t>
                          </m:r>
                        </m:e>
                      </m:acc>
                      <m:r>
                        <a:rPr lang="en-US" altLang="zh-CN" sz="2400" b="1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zh-CN" altLang="zh-CN" sz="2400" b="1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zh-CN" sz="2400" b="1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zh-CN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</m:sup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zh-CN" sz="24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zh-CN" altLang="zh-CN" sz="24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kern="1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𝒒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lang="zh-CN" altLang="zh-CN" sz="24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sz="24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altLang="zh-CN" sz="2400" b="1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d>
                                <m:dPr>
                                  <m:ctrlPr>
                                    <a:rPr lang="zh-CN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zh-CN" altLang="zh-CN" sz="2400" b="1" kern="1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 </a:t>
                </a:r>
                <a:endParaRPr lang="en-US" altLang="zh-CN" sz="2400" b="1" kern="1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0" y="2732405"/>
                <a:ext cx="11037570" cy="33820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3525" y="1701165"/>
            <a:ext cx="541020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标准不确定度的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类评定</a:t>
            </a:r>
            <a:endParaRPr lang="zh-CN" altLang="zh-CN" sz="28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660" name="Rectangle 2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1" name="Rectangle 4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2" name="Rectangle 6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551180" y="6093460"/>
            <a:ext cx="457200" cy="457200"/>
          </a:xfrm>
        </p:spPr>
        <p:txBody>
          <a:bodyPr/>
          <a:lstStyle/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/>
        </p:nvSpPr>
        <p:spPr>
          <a:xfrm>
            <a:off x="10983278" y="68756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3CB2591-70B0-3C49-B332-87576C14D778}" type="slidenum">
              <a:rPr lang="zh-CN" altLang="en-US" smtClean="0"/>
            </a:fld>
            <a:endParaRPr lang="en-US" altLang="zh-CN" sz="135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33730" y="2388235"/>
                <a:ext cx="11328400" cy="1753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indent="266700" algn="just">
                  <a:lnSpc>
                    <a:spcPct val="150000"/>
                  </a:lnSpc>
                </a:pPr>
                <a:r>
                  <a:rPr lang="en-US" altLang="zh-CN" sz="2400" b="1" kern="10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 </a:t>
                </a:r>
                <a:r>
                  <a:rPr lang="zh-CN" altLang="en-US" sz="2400" b="1" kern="10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另一种情况：</a:t>
                </a:r>
                <a:r>
                  <a:rPr lang="zh-CN" altLang="zh-CN" sz="2400" b="1" kern="10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如果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测量系统稳定，测量重复性无明显变化，</a:t>
                </a:r>
                <a:r>
                  <a:rPr lang="zh-CN" altLang="en-US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若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i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≥10</a:t>
                </a:r>
                <a:r>
                  <a:rPr lang="zh-CN" altLang="en-US" sz="2400" b="1" kern="1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已知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，则在本次测量时可</a:t>
                </a:r>
                <a:r>
                  <a:rPr lang="zh-CN" altLang="en-US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测</a:t>
                </a:r>
                <a:r>
                  <a:rPr lang="en-US" altLang="zh-CN" sz="2400" b="1" i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次</a:t>
                </a:r>
                <a:r>
                  <a:rPr lang="en-US" altLang="zh-CN" sz="2400" b="1" kern="10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(1≤</a:t>
                </a:r>
                <a:r>
                  <a:rPr lang="en-US" altLang="zh-CN" sz="2400" b="1" i="1" kern="100" dirty="0" err="1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400" b="1" kern="100" dirty="0" err="1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400" b="1" i="1" kern="100" dirty="0" err="1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，以本次测量的算术平均值作为估计值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𝒒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400" b="1" kern="100" dirty="0">
                  <a:solidFill>
                    <a:srgbClr val="0066FF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其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类评定的标准不确定度为</a:t>
                </a:r>
                <a:r>
                  <a:rPr lang="en-US" altLang="zh-CN" sz="24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     </a:t>
                </a:r>
                <a:endParaRPr lang="en-US" altLang="zh-CN" sz="2400" b="1" kern="1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0" y="2388235"/>
                <a:ext cx="11328400" cy="1753235"/>
              </a:xfrm>
              <a:prstGeom prst="rect">
                <a:avLst/>
              </a:prstGeom>
              <a:blipFill rotWithShape="1">
                <a:blip r:embed="rId1"/>
                <a:stretch>
                  <a:fillRect r="-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335280" y="1341120"/>
            <a:ext cx="541020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标准不确定度的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类评定</a:t>
            </a:r>
            <a:endParaRPr lang="zh-CN" altLang="zh-CN" sz="28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791585" y="4077335"/>
                <a:ext cx="5380990" cy="139573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266700" algn="just">
                  <a:lnSpc>
                    <a:spcPct val="150000"/>
                  </a:lnSpc>
                </a:pPr>
                <a:r>
                  <a:rPr lang="en-US" altLang="zh-CN" sz="24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2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𝒒</m:t>
                    </m:r>
                    <m:r>
                      <a:rPr lang="en-US" altLang="zh-CN" sz="2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𝒔</m:t>
                        </m:r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8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CN" sz="28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e>
                        </m:rad>
                      </m:den>
                    </m:f>
                    <m:r>
                      <a:rPr lang="en-US" altLang="zh-CN" sz="2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2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zh-CN" sz="2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zh-CN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</m:sup>
                              <m:e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sz="2800" b="1" i="1" kern="1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kern="1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CN" sz="2800" b="1" i="1" kern="1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̄"/>
                                    <m:ctrlPr>
                                      <a:rPr lang="zh-CN" altLang="zh-CN" sz="2800" b="1" i="1" kern="1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1" i="1" kern="1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𝒒</m:t>
                                    </m:r>
                                  </m:e>
                                </m:acc>
                                <m:sSup>
                                  <m:sSupPr>
                                    <m:ctrlPr>
                                      <a:rPr lang="zh-CN" altLang="zh-CN" sz="2800" b="1" i="1" kern="1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 kern="1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2800" b="1" i="1" kern="1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CN" sz="2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𝒎</m:t>
                            </m:r>
                            <m:d>
                              <m:dPr>
                                <m:ctrlPr>
                                  <a:rPr lang="zh-CN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d>
                          </m:den>
                        </m:f>
                      </m:e>
                    </m:rad>
                  </m:oMath>
                </a14:m>
                <a:endParaRPr lang="en-US" altLang="zh-CN" sz="2800" b="1" i="1" kern="100">
                  <a:solidFill>
                    <a:srgbClr val="FF0000"/>
                  </a:solidFill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585" y="4077335"/>
                <a:ext cx="5380990" cy="13957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660" name="Rectangle 2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1" name="Rectangle 4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6662" name="Rectangle 6"/>
          <p:cNvSpPr>
            <a:spLocks noChangeArrowheads="1"/>
          </p:cNvSpPr>
          <p:nvPr/>
        </p:nvSpPr>
        <p:spPr bwMode="auto"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263525" y="6165215"/>
            <a:ext cx="457200" cy="457200"/>
          </a:xfrm>
        </p:spPr>
        <p:txBody>
          <a:bodyPr/>
          <a:lstStyle/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/>
        </p:nvSpPr>
        <p:spPr>
          <a:xfrm>
            <a:off x="10983278" y="68756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3CB2591-70B0-3C49-B332-87576C14D778}" type="slidenum">
              <a:rPr lang="zh-CN" altLang="en-US" smtClean="0"/>
            </a:fld>
            <a:endParaRPr lang="en-US" altLang="zh-CN" sz="135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7035" y="1480820"/>
            <a:ext cx="541020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标准不确定度的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类评定</a:t>
            </a:r>
            <a:endParaRPr lang="zh-CN" altLang="zh-CN" sz="28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2047" y="2608156"/>
            <a:ext cx="11437725" cy="113505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对于不是由重复观测得到的估计值，无法使用</a:t>
            </a:r>
            <a:r>
              <a:rPr lang="en-US" altLang="zh-CN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类评定方法计算标准不确定度，这是需要先根据情况估计一个概率分布，然后计算标准不确定度，称为</a:t>
            </a:r>
            <a:r>
              <a:rPr lang="en-US" altLang="zh-CN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类不确定度。</a:t>
            </a:r>
            <a:endParaRPr lang="zh-CN" altLang="en-US" sz="24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8757" y="4186843"/>
            <a:ext cx="6170278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zh-CN" sz="24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标准不确定度的</a:t>
            </a:r>
            <a:r>
              <a:rPr lang="en-US" altLang="zh-CN" sz="2400" b="1" kern="100" dirty="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类评定</a:t>
            </a:r>
            <a:r>
              <a:rPr lang="zh-CN" altLang="en-US" sz="24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637580" y="3893855"/>
                <a:ext cx="6170278" cy="1033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indent="266700" algn="just">
                  <a:lnSpc>
                    <a:spcPts val="1600"/>
                  </a:lnSpc>
                </a:pPr>
                <a:r>
                  <a:rPr lang="en-US" altLang="zh-CN" sz="28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b="1" kern="100" dirty="0">
                  <a:solidFill>
                    <a:srgbClr val="0066FF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800" b="1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altLang="zh-CN" sz="2800" b="1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𝒒</m:t>
                      </m:r>
                      <m:r>
                        <a:rPr lang="en-US" altLang="zh-CN" sz="2800" b="1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US" altLang="zh-CN" sz="2800" b="1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580" y="3893855"/>
                <a:ext cx="6170278" cy="1033780"/>
              </a:xfrm>
              <a:prstGeom prst="rect">
                <a:avLst/>
              </a:prstGeom>
              <a:blipFill rotWithShape="1">
                <a:blip r:embed="rId1"/>
                <a:stretch>
                  <a:fillRect l="-7" t="-11981" r="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625340" y="5228347"/>
            <a:ext cx="6170278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上式中</a:t>
            </a:r>
            <a:r>
              <a:rPr lang="en-US" altLang="zh-CN" sz="2000" b="1" i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zh-CN" sz="20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为误差分布的区间半宽</a:t>
            </a:r>
            <a:r>
              <a:rPr lang="zh-CN" altLang="en-US" sz="20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endParaRPr lang="zh-CN" altLang="en-US" sz="2000" b="1" dirty="0">
              <a:solidFill>
                <a:srgbClr val="0066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080051" y="5334720"/>
                <a:ext cx="7685018" cy="307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indent="266700" algn="just">
                  <a:lnSpc>
                    <a:spcPts val="1600"/>
                  </a:lnSpc>
                </a:pPr>
                <a:r>
                  <a:rPr lang="en-US" altLang="zh-CN" sz="2000" b="1" i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0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为包含因子，同被测量值的误差在区间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zh-CN" sz="20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0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zh-CN" altLang="zh-CN" sz="20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en-US" altLang="zh-CN" sz="20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zh-CN" altLang="zh-CN" sz="20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的概率分布有关</a:t>
                </a:r>
                <a:r>
                  <a:rPr lang="en-US" altLang="zh-CN" sz="20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zh-CN" altLang="zh-CN" sz="2000" b="1" kern="100" dirty="0">
                  <a:solidFill>
                    <a:srgbClr val="0066FF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051" y="5334720"/>
                <a:ext cx="7685018" cy="307072"/>
              </a:xfrm>
              <a:prstGeom prst="rect">
                <a:avLst/>
              </a:prstGeom>
              <a:blipFill rotWithShape="1">
                <a:blip r:embed="rId2"/>
                <a:stretch>
                  <a:fillRect l="-2" t="-19673" r="6" b="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29693" y="1555149"/>
            <a:ext cx="4938672" cy="3689074"/>
            <a:chOff x="222639" y="2364585"/>
            <a:chExt cx="4938672" cy="368907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22639" y="2364585"/>
              <a:ext cx="4938672" cy="3154215"/>
            </a:xfrm>
            <a:prstGeom prst="rect">
              <a:avLst/>
            </a:prstGeom>
            <a:noFill/>
          </p:spPr>
        </p:pic>
        <p:sp>
          <p:nvSpPr>
            <p:cNvPr id="13" name="文本框 12"/>
            <p:cNvSpPr txBox="1"/>
            <p:nvPr/>
          </p:nvSpPr>
          <p:spPr>
            <a:xfrm>
              <a:off x="1771170" y="5272708"/>
              <a:ext cx="12640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均匀分布</a:t>
              </a:r>
              <a:r>
                <a:rPr lang="zh-CN" altLang="zh-CN" sz="1800" kern="100" dirty="0">
                  <a:effectLst/>
                  <a:ea typeface="Times New Roman" panose="02020603050405020304" pitchFamily="18" charset="0"/>
                </a:rPr>
                <a:t> </a:t>
              </a:r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571833" y="5741842"/>
                  <a:ext cx="4063894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indent="266700" algn="just">
                    <a:lnSpc>
                      <a:spcPts val="1600"/>
                    </a:lnSpc>
                  </a:pP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，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2000" i="1" kern="1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</m:oMath>
                  </a14:m>
                  <a:r>
                    <a:rPr lang="en-US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0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rad>
                    </m:oMath>
                  </a14:m>
                  <a:r>
                    <a:rPr lang="zh-CN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，</a:t>
                  </a:r>
                  <a:r>
                    <a:rPr lang="en-US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P=0.58</a:t>
                  </a:r>
                  <a:endParaRPr lang="zh-CN" altLang="zh-CN" sz="2000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833" y="5741842"/>
                  <a:ext cx="4063894" cy="31181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/>
          <p:cNvGrpSpPr/>
          <p:nvPr/>
        </p:nvGrpSpPr>
        <p:grpSpPr>
          <a:xfrm>
            <a:off x="4319254" y="1686879"/>
            <a:ext cx="4588917" cy="3670638"/>
            <a:chOff x="5325610" y="2496202"/>
            <a:chExt cx="4588917" cy="367063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325610" y="2496202"/>
              <a:ext cx="4588917" cy="2767362"/>
            </a:xfrm>
            <a:prstGeom prst="rect">
              <a:avLst/>
            </a:prstGeom>
            <a:noFill/>
          </p:spPr>
        </p:pic>
        <p:sp>
          <p:nvSpPr>
            <p:cNvPr id="15" name="文本框 14"/>
            <p:cNvSpPr txBox="1"/>
            <p:nvPr/>
          </p:nvSpPr>
          <p:spPr>
            <a:xfrm>
              <a:off x="6858000" y="5202122"/>
              <a:ext cx="11948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三角分布</a:t>
              </a:r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5601226" y="5737748"/>
                  <a:ext cx="3412720" cy="4290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zh-CN" sz="20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，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a14:m>
                  <a:r>
                    <a:rPr lang="zh-CN" altLang="en-US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，</a:t>
                  </a:r>
                  <a:r>
                    <a:rPr lang="en-US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0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6</m:t>
                          </m:r>
                        </m:e>
                      </m:rad>
                    </m:oMath>
                  </a14:m>
                  <a:r>
                    <a:rPr lang="zh-CN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，</a:t>
                  </a:r>
                  <a:r>
                    <a:rPr lang="en-US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P=0.65</a:t>
                  </a:r>
                  <a:endParaRPr lang="zh-CN" altLang="en-US" sz="20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1226" y="5737748"/>
                  <a:ext cx="3412720" cy="42909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/>
          <p:cNvGrpSpPr/>
          <p:nvPr/>
        </p:nvGrpSpPr>
        <p:grpSpPr>
          <a:xfrm>
            <a:off x="8553156" y="1423342"/>
            <a:ext cx="3709053" cy="3882830"/>
            <a:chOff x="8561850" y="2211901"/>
            <a:chExt cx="3709053" cy="388283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8561850" y="5694621"/>
                  <a:ext cx="370905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zh-CN" sz="20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b="0" i="1" kern="100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，</m:t>
                          </m:r>
                          <m:r>
                            <a:rPr lang="en-US" altLang="zh-CN" sz="2000" b="0" i="1" kern="100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a14:m>
                  <a:r>
                    <a:rPr lang="zh-CN" altLang="en-US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，</a:t>
                  </a:r>
                  <a:r>
                    <a:rPr lang="en-US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0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000" b="0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b="0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58</m:t>
                      </m:r>
                    </m:oMath>
                  </a14:m>
                  <a:r>
                    <a:rPr lang="zh-CN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，</a:t>
                  </a:r>
                  <a:r>
                    <a:rPr lang="en-US" altLang="zh-CN" sz="2000" kern="100" dirty="0">
                      <a:effectLst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P=0.683</a:t>
                  </a:r>
                  <a:endParaRPr lang="en-US" altLang="zh-CN" sz="2000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1850" y="5694621"/>
                  <a:ext cx="3709053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本框 27"/>
            <p:cNvSpPr txBox="1"/>
            <p:nvPr/>
          </p:nvSpPr>
          <p:spPr>
            <a:xfrm>
              <a:off x="9562716" y="5125380"/>
              <a:ext cx="11948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正态</a:t>
              </a:r>
              <a:r>
                <a: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分布</a:t>
              </a:r>
              <a:endParaRPr lang="zh-CN" altLang="en-US" dirty="0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8838377" y="2211901"/>
              <a:ext cx="3156001" cy="2869092"/>
              <a:chOff x="8838377" y="2211901"/>
              <a:chExt cx="3156001" cy="2869092"/>
            </a:xfrm>
          </p:grpSpPr>
          <p:pic>
            <p:nvPicPr>
              <p:cNvPr id="24" name="Picture 45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38377" y="2211901"/>
                <a:ext cx="3156001" cy="28690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26191" y="4726865"/>
                <a:ext cx="457223" cy="330217"/>
              </a:xfrm>
              <a:prstGeom prst="rect">
                <a:avLst/>
              </a:prstGeom>
            </p:spPr>
          </p:pic>
          <p:pic>
            <p:nvPicPr>
              <p:cNvPr id="33" name="图片 3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47022" y="4779606"/>
                <a:ext cx="412771" cy="292115"/>
              </a:xfrm>
              <a:prstGeom prst="rect">
                <a:avLst/>
              </a:prstGeom>
            </p:spPr>
          </p:pic>
        </p:grpSp>
      </p:grpSp>
      <p:sp>
        <p:nvSpPr>
          <p:cNvPr id="36" name="矩形 35"/>
          <p:cNvSpPr/>
          <p:nvPr/>
        </p:nvSpPr>
        <p:spPr>
          <a:xfrm>
            <a:off x="268146" y="1559875"/>
            <a:ext cx="4233902" cy="38693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51133" y="5417816"/>
            <a:ext cx="11379941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需要指出的是，</a:t>
            </a:r>
            <a:r>
              <a:rPr lang="en-US" altLang="zh-CN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评定和</a:t>
            </a:r>
            <a:r>
              <a:rPr lang="en-US" altLang="zh-CN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类评定都是基于概率分布，都是用标准差定量表示不确定度，二者性质相同，可靠度一样，区别仅仅在于评定方法有所不同。</a:t>
            </a:r>
            <a:endParaRPr lang="zh-CN" altLang="en-US" sz="24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263525" y="6165215"/>
            <a:ext cx="457200" cy="457200"/>
          </a:xfrm>
        </p:spPr>
        <p:txBody>
          <a:bodyPr/>
          <a:lstStyle/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"/>
          <p:cNvSpPr/>
          <p:nvPr/>
        </p:nvSpPr>
        <p:spPr>
          <a:xfrm>
            <a:off x="623570" y="909320"/>
            <a:ext cx="70751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被测量值在区间内的概率分布及其包含因子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</a:t>
            </a:r>
            <a:endParaRPr lang="en-US" altLang="zh-CN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199515" y="4736364"/>
                <a:ext cx="3475355" cy="115697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≪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515" y="4736364"/>
                <a:ext cx="3475355" cy="1156970"/>
              </a:xfrm>
              <a:prstGeom prst="rect">
                <a:avLst/>
              </a:prstGeom>
              <a:blipFill rotWithShape="1">
                <a:blip r:embed="rId1"/>
                <a:stretch>
                  <a:fillRect t="-46" b="46"/>
                </a:stretch>
              </a:blip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199515" y="1628775"/>
            <a:ext cx="2808253" cy="4603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sz="2400" b="1" dirty="0"/>
              <a:t>均匀分布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744072" y="1889760"/>
            <a:ext cx="35407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altLang="zh-CN" sz="2400" b="0" dirty="0"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b="0" dirty="0">
                <a:latin typeface="Calibri" panose="020F0502020204030204" pitchFamily="34" charset="0"/>
                <a:ea typeface="宋体" panose="02010600030101010101" pitchFamily="2" charset="-122"/>
              </a:rPr>
              <a:t>类评定的</a:t>
            </a:r>
            <a:r>
              <a:rPr lang="zh-CN" sz="2400" b="0" dirty="0">
                <a:latin typeface="Calibri" panose="020F0502020204030204" pitchFamily="34" charset="0"/>
                <a:ea typeface="宋体" panose="02010600030101010101" pitchFamily="2" charset="-122"/>
              </a:rPr>
              <a:t>标准不确定度</a:t>
            </a:r>
            <a:endParaRPr lang="zh-CN" altLang="en-US" sz="2400" b="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7093790" y="2648415"/>
                <a:ext cx="1663065" cy="78613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𝑢</m:t>
                      </m:r>
                      <m:r>
                        <m:rPr>
                          <m:sty m:val="p"/>
                        </m:rPr>
                        <a:rPr lang="en-US" altLang="zh-CN" sz="2400" i="1" baseline="-250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B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2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790" y="2648415"/>
                <a:ext cx="1663065" cy="786130"/>
              </a:xfrm>
              <a:prstGeom prst="rect">
                <a:avLst/>
              </a:prstGeom>
              <a:blipFill rotWithShape="1">
                <a:blip r:embed="rId2"/>
                <a:stretch>
                  <a:fillRect l="-12" t="-59" r="12" b="-1072"/>
                </a:stretch>
              </a:blip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5591944" y="3766206"/>
            <a:ext cx="510032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altLang="zh-CN" sz="2400" b="0" dirty="0"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b="0" dirty="0">
                <a:latin typeface="Calibri" panose="020F0502020204030204" pitchFamily="34" charset="0"/>
                <a:ea typeface="宋体" panose="02010600030101010101" pitchFamily="2" charset="-122"/>
              </a:rPr>
              <a:t>类评定的</a:t>
            </a:r>
            <a:r>
              <a:rPr lang="zh-CN" sz="2400" b="0" dirty="0">
                <a:latin typeface="Calibri" panose="020F0502020204030204" pitchFamily="34" charset="0"/>
                <a:ea typeface="宋体" panose="02010600030101010101" pitchFamily="2" charset="-122"/>
              </a:rPr>
              <a:t>标准不确定度对应的置信概率为</a:t>
            </a:r>
            <a:endParaRPr lang="zh-CN" sz="2400" b="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6383352" y="4508970"/>
                <a:ext cx="2778760" cy="84772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58</m:t>
                      </m:r>
                    </m:oMath>
                  </m:oMathPara>
                </a14:m>
                <a:endParaRPr lang="en-US" altLang="zh-CN" sz="2400" b="0" i="1" dirty="0" smtClean="0">
                  <a:solidFill>
                    <a:srgbClr val="C0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52" y="4508970"/>
                <a:ext cx="2778760" cy="847725"/>
              </a:xfrm>
              <a:prstGeom prst="rect">
                <a:avLst/>
              </a:prstGeom>
              <a:blipFill rotWithShape="1">
                <a:blip r:embed="rId3"/>
                <a:stretch>
                  <a:fillRect l="-12" t="-55" r="12" b="55"/>
                </a:stretch>
              </a:blip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86" y="2217537"/>
            <a:ext cx="4000775" cy="25530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284131" y="1875536"/>
                <a:ext cx="1118235" cy="44640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US" altLang="zh-CN" sz="2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131" y="1875536"/>
                <a:ext cx="1118235" cy="446405"/>
              </a:xfrm>
              <a:prstGeom prst="rect">
                <a:avLst/>
              </a:prstGeom>
              <a:blipFill rotWithShape="1">
                <a:blip r:embed="rId5"/>
                <a:stretch>
                  <a:fillRect l="-26" t="-85" r="26" b="85"/>
                </a:stretch>
              </a:blip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5735960" y="5749290"/>
            <a:ext cx="5100320" cy="40011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/>
            <a:r>
              <a:rPr lang="zh-CN" altLang="en-US" sz="2000" dirty="0">
                <a:latin typeface="Calibri" panose="020F0502020204030204" pitchFamily="34" charset="0"/>
              </a:rPr>
              <a:t>注意：这个概率不是</a:t>
            </a:r>
            <a:r>
              <a:rPr lang="en-US" altLang="zh-CN" sz="2000" dirty="0">
                <a:latin typeface="Calibri" panose="020F0502020204030204" pitchFamily="34" charset="0"/>
              </a:rPr>
              <a:t>0.68!</a:t>
            </a:r>
            <a:endParaRPr 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35560" y="2996952"/>
            <a:ext cx="1044000" cy="889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263525" y="6165215"/>
            <a:ext cx="457200" cy="457200"/>
          </a:xfrm>
        </p:spPr>
        <p:txBody>
          <a:bodyPr/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 bldLvl="0" animBg="1"/>
      <p:bldP spid="14" grpId="0"/>
      <p:bldP spid="16" grpId="0" bldLvl="0" animBg="1"/>
      <p:bldP spid="20" grpId="0" bldLvl="0" animBg="1"/>
      <p:bldP spid="22" grpId="0" bldLvl="0" animBg="1"/>
      <p:bldP spid="9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308244"/>
            <a:ext cx="617027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直接测量结果的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合成</a:t>
            </a:r>
            <a:r>
              <a:rPr lang="zh-CN" altLang="zh-CN" sz="28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标准不确定度</a:t>
            </a:r>
            <a:endParaRPr lang="zh-CN" altLang="en-US" sz="2800" b="1" dirty="0">
              <a:solidFill>
                <a:srgbClr val="0066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86805" y="1508656"/>
                <a:ext cx="11214846" cy="1271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ctr">
                  <a:lnSpc>
                    <a:spcPct val="150000"/>
                  </a:lnSpc>
                </a:pPr>
                <a:endParaRPr lang="en-US" altLang="zh-CN" sz="1800" b="1" i="1" kern="1050" dirty="0">
                  <a:solidFill>
                    <a:srgbClr val="0066FF"/>
                  </a:solidFill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ct val="150000"/>
                  </a:lnSpc>
                </a:pPr>
                <a:r>
                  <a:rPr lang="zh-CN" altLang="en-US" sz="2400" b="1" kern="1050" dirty="0">
                    <a:solidFill>
                      <a:srgbClr val="0066FF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测量</a:t>
                </a:r>
                <a:r>
                  <a:rPr lang="zh-CN" altLang="en-US" sz="2400" b="1" kern="1050" dirty="0">
                    <a:solidFill>
                      <a:srgbClr val="FF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模型</a:t>
                </a:r>
                <a14:m>
                  <m:oMath xmlns:m="http://schemas.openxmlformats.org/officeDocument/2006/math">
                    <m:r>
                      <a:rPr lang="zh-CN" altLang="en-US" sz="3200" b="1" i="1" kern="105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：</m:t>
                    </m:r>
                    <m:r>
                      <a:rPr lang="en-US" altLang="zh-CN" sz="3200" b="1" i="1" kern="105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US" altLang="zh-CN" sz="28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         </a:t>
                </a:r>
                <a:endParaRPr lang="zh-CN" altLang="zh-CN" sz="2000" b="1" kern="100" dirty="0">
                  <a:solidFill>
                    <a:srgbClr val="0066FF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05" y="1508656"/>
                <a:ext cx="11214846" cy="1271905"/>
              </a:xfrm>
              <a:prstGeom prst="rect">
                <a:avLst/>
              </a:prstGeom>
              <a:blipFill rotWithShape="1">
                <a:blip r:embed="rId1"/>
                <a:stretch>
                  <a:fillRect l="-4" t="-42" r="5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495383" y="2132786"/>
                <a:ext cx="2713990" cy="45974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𝑸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重复</m:t>
                          </m:r>
                        </m:sub>
                      </m:sSub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非</m:t>
                          </m:r>
                          <m:r>
                            <a:rPr lang="zh-CN" altLang="en-US" sz="24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重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复</m:t>
                          </m:r>
                        </m:sub>
                      </m:sSub>
                    </m:oMath>
                  </m:oMathPara>
                </a14:m>
                <a:endParaRPr lang="zh-CN" altLang="en-US" sz="2400" b="1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383" y="2132786"/>
                <a:ext cx="2713990" cy="459740"/>
              </a:xfrm>
              <a:prstGeom prst="rect">
                <a:avLst/>
              </a:prstGeom>
              <a:blipFill rotWithShape="1">
                <a:blip r:embed="rId2"/>
                <a:stretch>
                  <a:fillRect l="-17" t="-99" r="-1129" b="99"/>
                </a:stretch>
              </a:blip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51180" y="2781300"/>
            <a:ext cx="11147425" cy="119888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为简便起见，对于非重复性测量，我们只考虑仪器误差（仪器最大允差），如有必要，还需要考虑修正值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110746" y="4149973"/>
                <a:ext cx="2085340" cy="461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acc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仪</m:t>
                          </m:r>
                        </m:sub>
                      </m:sSub>
                    </m:oMath>
                  </m:oMathPara>
                </a14:m>
                <a:endParaRPr lang="zh-CN" altLang="en-US" sz="2400" b="1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746" y="4149973"/>
                <a:ext cx="2085340" cy="461010"/>
              </a:xfrm>
              <a:prstGeom prst="rect">
                <a:avLst/>
              </a:prstGeom>
              <a:blipFill rotWithShape="1">
                <a:blip r:embed="rId3"/>
                <a:stretch>
                  <a:fillRect l="-25" t="-54" r="25" b="54"/>
                </a:stretch>
              </a:blip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8256270" y="4610797"/>
                <a:ext cx="2719561" cy="847090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仪</m:t>
                              </m:r>
                            </m:sub>
                          </m:sSub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仪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400" i="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70" y="4610797"/>
                <a:ext cx="2719561" cy="847090"/>
              </a:xfrm>
              <a:prstGeom prst="rect">
                <a:avLst/>
              </a:prstGeom>
              <a:blipFill rotWithShape="1">
                <a:blip r:embed="rId4"/>
                <a:stretch>
                  <a:fillRect t="-7" r="18" b="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559873" y="5373345"/>
                <a:ext cx="6107836" cy="960755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solidFill>
                  <a:srgbClr val="80000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zh-CN" alt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zh-CN" altLang="en-US" sz="28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</m:acc>
                            </m:e>
                          </m:d>
                          <m:r>
                            <a:rPr lang="zh-CN" alt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zh-CN" altLang="en-US" sz="28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zh-CN" altLang="en-US" sz="28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仪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zh-CN" altLang="en-US" sz="2800" i="0" dirty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873" y="5373345"/>
                <a:ext cx="6107836" cy="960755"/>
              </a:xfrm>
              <a:prstGeom prst="rect">
                <a:avLst/>
              </a:prstGeom>
              <a:blipFill rotWithShape="1">
                <a:blip r:embed="rId5"/>
                <a:stretch>
                  <a:fillRect l="-109" t="-724" r="-103" b="-597"/>
                </a:stretch>
              </a:blipFill>
              <a:ln w="12700" cap="flat" cmpd="sng" algn="ctr">
                <a:solidFill>
                  <a:srgbClr val="80000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548944" y="1341111"/>
                <a:ext cx="1289988" cy="460375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zh-CN" altLang="en-US" sz="2400" b="1" i="1" dirty="0">
                  <a:solidFill>
                    <a:srgbClr val="0066FF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944" y="1341111"/>
                <a:ext cx="1289988" cy="460375"/>
              </a:xfrm>
              <a:prstGeom prst="rect">
                <a:avLst/>
              </a:prstGeom>
              <a:blipFill rotWithShape="1">
                <a:blip r:embed="rId6"/>
                <a:stretch>
                  <a:fillRect l="-24" t="-136" r="48" b="136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801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14" grpId="0" bldLvl="0" animBg="1"/>
      <p:bldP spid="1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6992" y="1325297"/>
            <a:ext cx="617027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间接</a:t>
            </a:r>
            <a:r>
              <a:rPr lang="zh-CN" altLang="en-US" sz="28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测量结果的</a:t>
            </a:r>
            <a:r>
              <a:rPr lang="zh-CN" alt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合成标准</a:t>
            </a:r>
            <a:r>
              <a:rPr lang="zh-CN" altLang="zh-CN" sz="28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不确定度</a:t>
            </a:r>
            <a:endParaRPr lang="zh-CN" altLang="zh-CN" sz="2800" b="1" kern="100" dirty="0">
              <a:solidFill>
                <a:srgbClr val="0066FF"/>
              </a:solidFill>
              <a:effectLst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51040" y="2378605"/>
                <a:ext cx="11310897" cy="212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间接测量是以直接测量为基础的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若各直接测量量为 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𝒁</m:t>
                    </m:r>
                    <m:r>
                      <a:rPr lang="en-US" altLang="zh-CN" sz="2400" b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，且它们彼此互不相关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它们的估计值依次为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𝒛</m:t>
                    </m:r>
                    <m:r>
                      <a:rPr lang="zh-CN" altLang="zh-CN" sz="2400" b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，则间接测量量的估计值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i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Z 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 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𝒁</m:t>
                    </m:r>
                    <m:r>
                      <a:rPr lang="en-US" altLang="zh-CN" sz="2400" b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ctrlPr>
                          <a:rPr lang="zh-CN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𝒛</m:t>
                        </m:r>
                        <m:r>
                          <a:rPr lang="en-US" altLang="zh-CN" sz="2400" b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⋯</m:t>
                        </m:r>
                      </m:e>
                    </m:d>
                  </m:oMath>
                </a14:m>
                <a:endParaRPr lang="zh-CN" altLang="zh-CN" sz="2400" b="1" kern="100" dirty="0">
                  <a:solidFill>
                    <a:srgbClr val="0066FF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endParaRPr lang="zh-CN" altLang="zh-CN" sz="2000" b="1" kern="100" dirty="0">
                  <a:solidFill>
                    <a:srgbClr val="0066FF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0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    </a:t>
                </a:r>
                <a:endParaRPr lang="en-US" altLang="zh-CN" sz="2000" b="1" kern="100" dirty="0">
                  <a:solidFill>
                    <a:srgbClr val="0066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40" y="2378605"/>
                <a:ext cx="11310897" cy="2122805"/>
              </a:xfrm>
              <a:prstGeom prst="rect">
                <a:avLst/>
              </a:prstGeom>
              <a:blipFill rotWithShape="1">
                <a:blip r:embed="rId1"/>
                <a:stretch>
                  <a:fillRect l="-4" t="-25" r="1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03489" y="4533151"/>
            <a:ext cx="1407160" cy="4603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r>
              <a:rPr lang="zh-CN" altLang="en-US" sz="2400" b="1" dirty="0"/>
              <a:t>测量模型</a:t>
            </a:r>
            <a:endParaRPr lang="zh-CN" alt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591592" y="4509001"/>
                <a:ext cx="2301875" cy="46037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𝐙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𝒛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,⋯)</m:t>
                      </m:r>
                    </m:oMath>
                  </m:oMathPara>
                </a14:m>
                <a:endParaRPr lang="en-US" altLang="zh-CN" sz="2400" b="1" i="1" dirty="0" smtClean="0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592" y="4509001"/>
                <a:ext cx="2301875" cy="460375"/>
              </a:xfrm>
              <a:prstGeom prst="rect">
                <a:avLst/>
              </a:prstGeom>
              <a:blipFill rotWithShape="1">
                <a:blip r:embed="rId2"/>
                <a:stretch>
                  <a:fillRect l="-18" t="-109" r="18" b="109"/>
                </a:stretch>
              </a:blipFill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6992" y="1325297"/>
            <a:ext cx="617027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间接</a:t>
            </a:r>
            <a:r>
              <a:rPr lang="zh-CN" altLang="en-US" sz="28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测量结果的</a:t>
            </a:r>
            <a:r>
              <a:rPr lang="zh-CN" alt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合成标准</a:t>
            </a:r>
            <a:r>
              <a:rPr lang="zh-CN" altLang="zh-CN" sz="28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不确定度</a:t>
            </a:r>
            <a:endParaRPr lang="zh-CN" altLang="zh-CN" sz="2800" b="1" kern="100" dirty="0">
              <a:solidFill>
                <a:srgbClr val="0066FF"/>
              </a:solidFill>
              <a:effectLst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二、不确定度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659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667508" y="1915504"/>
                <a:ext cx="8856983" cy="995680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zh-CN" altLang="en-US" sz="2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num>
                                    <m:den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num>
                                    <m:den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num>
                                    <m:den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rad>
                    </m:oMath>
                  </m:oMathPara>
                </a14:m>
                <a:endParaRPr lang="zh-CN" altLang="en-US" sz="2000" b="1" i="0" dirty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508" y="1915504"/>
                <a:ext cx="8856983" cy="995680"/>
              </a:xfrm>
              <a:prstGeom prst="rect">
                <a:avLst/>
              </a:prstGeom>
              <a:blipFill rotWithShape="1">
                <a:blip r:embed="rId1"/>
                <a:stretch>
                  <a:fillRect l="-7" t="-35" b="35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95221" y="3117028"/>
                <a:ext cx="9599071" cy="995680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zh-CN" altLang="en-US" sz="2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acc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func>
                                        <m:funcPr>
                                          <m:ctrlP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𝒍𝒏</m:t>
                                          </m:r>
                                        </m:fName>
                                        <m: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func>
                                        <m:funcPr>
                                          <m:ctrlP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𝒍𝒏</m:t>
                                          </m:r>
                                        </m:fName>
                                        <m: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func>
                                        <m:funcPr>
                                          <m:ctrlP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𝒍𝒏</m:t>
                                          </m:r>
                                        </m:fName>
                                        <m: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r>
                                        <a:rPr lang="zh-CN" altLang="en-US" sz="2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𝛛</m:t>
                                      </m:r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rad>
                    </m:oMath>
                  </m:oMathPara>
                </a14:m>
                <a:endParaRPr lang="en-US" altLang="zh-CN" sz="2000" b="1" i="1" dirty="0" smtClean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21" y="3117028"/>
                <a:ext cx="9599071" cy="995680"/>
              </a:xfrm>
              <a:prstGeom prst="rect">
                <a:avLst/>
              </a:prstGeom>
              <a:blipFill rotWithShape="1">
                <a:blip r:embed="rId2"/>
                <a:stretch>
                  <a:fillRect l="-6" t="-45" r="3" b="45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>
            <p:custDataLst>
              <p:tags r:id="rId3"/>
            </p:custDataLst>
          </p:nvPr>
        </p:nvGrpSpPr>
        <p:grpSpPr>
          <a:xfrm>
            <a:off x="1988185" y="4343400"/>
            <a:ext cx="8229600" cy="2326005"/>
            <a:chOff x="3131" y="6840"/>
            <a:chExt cx="12960" cy="366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3159" y="7213"/>
                  <a:ext cx="4025" cy="638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14:m>
                    <m:oMath xmlns:m="http://schemas.openxmlformats.org/officeDocument/2006/math">
                      <m:r>
                        <a:rPr lang="zh-CN" altLang="en-US" sz="2000" b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zh-CN" altLang="en-US" sz="2000" b="1" i="1">
                          <a:latin typeface="Cambria Math" panose="02040503050406030204" pitchFamily="18" charset="0"/>
                        </a:rPr>
                        <m:t>的</m:t>
                      </m:r>
                    </m:oMath>
                  </a14:m>
                  <a:r>
                    <a:rPr lang="zh-CN" altLang="en-US" sz="2000" b="1" dirty="0"/>
                    <a:t>灵敏系数</a:t>
                  </a:r>
                  <a:endParaRPr lang="zh-CN" altLang="en-US" sz="2000" b="1" dirty="0"/>
                </a:p>
              </p:txBody>
            </p:sp>
          </mc:Choice>
          <mc:Fallback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5"/>
                  </p:custDataLst>
                </p:nvPr>
              </p:nvSpPr>
              <p:spPr>
                <a:xfrm>
                  <a:off x="3159" y="7213"/>
                  <a:ext cx="4025" cy="638"/>
                </a:xfrm>
                <a:prstGeom prst="rect">
                  <a:avLst/>
                </a:prstGeom>
                <a:blipFill rotWithShape="1">
                  <a:blip r:embed="rId6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6760" y="6873"/>
                  <a:ext cx="1370" cy="1163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0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b="1"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num>
                          <m:den>
                            <m:r>
                              <a:rPr lang="zh-CN" altLang="en-US" sz="2000" b="1" i="0"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den>
                        </m:f>
                      </m:oMath>
                    </m:oMathPara>
                  </a14:m>
                  <a:endParaRPr lang="zh-CN" altLang="en-US" sz="2000" b="1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"/>
                  </p:custDataLst>
                </p:nvPr>
              </p:nvSpPr>
              <p:spPr>
                <a:xfrm>
                  <a:off x="6760" y="6873"/>
                  <a:ext cx="1370" cy="1163"/>
                </a:xfrm>
                <a:prstGeom prst="rect">
                  <a:avLst/>
                </a:prstGeom>
                <a:blipFill rotWithShape="1">
                  <a:blip r:embed="rId9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3131" y="8364"/>
                  <a:ext cx="4025" cy="641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14:m>
                    <m:oMath xmlns:m="http://schemas.openxmlformats.org/officeDocument/2006/math">
                      <m:r>
                        <a:rPr lang="zh-CN" altLang="en-US" sz="2000" b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zh-CN" altLang="en-US" sz="2000" b="1" i="1">
                          <a:latin typeface="Cambria Math" panose="02040503050406030204" pitchFamily="18" charset="0"/>
                        </a:rPr>
                        <m:t>的</m:t>
                      </m:r>
                    </m:oMath>
                  </a14:m>
                  <a:r>
                    <a:rPr lang="zh-CN" altLang="en-US" sz="2000" b="1" dirty="0"/>
                    <a:t>灵敏系数</a:t>
                  </a:r>
                  <a:endParaRPr lang="zh-CN" altLang="en-US" sz="2000" b="1" dirty="0"/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"/>
                  </p:custDataLst>
                </p:nvPr>
              </p:nvSpPr>
              <p:spPr>
                <a:xfrm>
                  <a:off x="3131" y="8364"/>
                  <a:ext cx="4025" cy="641"/>
                </a:xfrm>
                <a:prstGeom prst="rect">
                  <a:avLst/>
                </a:prstGeom>
                <a:blipFill rotWithShape="1">
                  <a:blip r:embed="rId12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6534" y="8137"/>
                  <a:ext cx="1721" cy="114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0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b="1"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num>
                          <m:den>
                            <m:r>
                              <a:rPr lang="zh-CN" altLang="en-US" sz="2000" b="1" i="0"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den>
                        </m:f>
                      </m:oMath>
                    </m:oMathPara>
                  </a14:m>
                  <a:endParaRPr lang="en-US" altLang="zh-CN" sz="2000" b="1" i="1" dirty="0" smtClean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4"/>
                  </p:custDataLst>
                </p:nvPr>
              </p:nvSpPr>
              <p:spPr>
                <a:xfrm>
                  <a:off x="6534" y="8137"/>
                  <a:ext cx="1721" cy="1140"/>
                </a:xfrm>
                <a:prstGeom prst="rect">
                  <a:avLst/>
                </a:prstGeom>
                <a:blipFill rotWithShape="1">
                  <a:blip r:embed="rId15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>
                  <p:custDataLst>
                    <p:tags r:id="rId16"/>
                  </p:custDataLst>
                </p:nvPr>
              </p:nvSpPr>
              <p:spPr>
                <a:xfrm>
                  <a:off x="3358" y="9377"/>
                  <a:ext cx="4025" cy="638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14:m>
                    <m:oMath xmlns:m="http://schemas.openxmlformats.org/officeDocument/2006/math">
                      <m:r>
                        <a:rPr lang="zh-CN" altLang="en-US" sz="2000" b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zh-CN" altLang="en-US" sz="2000" b="1" i="1">
                          <a:latin typeface="Cambria Math" panose="02040503050406030204" pitchFamily="18" charset="0"/>
                        </a:rPr>
                        <m:t>的</m:t>
                      </m:r>
                    </m:oMath>
                  </a14:m>
                  <a:r>
                    <a:rPr lang="zh-CN" altLang="en-US" sz="2000" b="1" dirty="0"/>
                    <a:t>灵敏系数</a:t>
                  </a:r>
                  <a:endParaRPr lang="zh-CN" altLang="en-US" sz="2000" b="1" dirty="0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7"/>
                  </p:custDataLst>
                </p:nvPr>
              </p:nvSpPr>
              <p:spPr>
                <a:xfrm>
                  <a:off x="3358" y="9377"/>
                  <a:ext cx="4025" cy="638"/>
                </a:xfrm>
                <a:prstGeom prst="rect">
                  <a:avLst/>
                </a:prstGeom>
                <a:blipFill rotWithShape="1">
                  <a:blip r:embed="rId18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647" y="9447"/>
                  <a:ext cx="1721" cy="1057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0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b="1"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num>
                          <m:den>
                            <m:r>
                              <a:rPr lang="zh-CN" altLang="en-US" sz="2000" b="1" i="0"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den>
                        </m:f>
                      </m:oMath>
                    </m:oMathPara>
                  </a14:m>
                  <a:endParaRPr lang="en-US" altLang="zh-CN" sz="2000" b="1" i="0" dirty="0" smtClean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647" y="9447"/>
                  <a:ext cx="1721" cy="1057"/>
                </a:xfrm>
                <a:prstGeom prst="rect">
                  <a:avLst/>
                </a:prstGeom>
                <a:blipFill rotWithShape="1">
                  <a:blip r:embed="rId21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10132" y="7100"/>
                  <a:ext cx="4025" cy="64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:r>
                    <a:rPr lang="zh-CN" altLang="en-US" sz="2000" b="1" dirty="0"/>
                    <a:t>贡献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的不确定度</m:t>
                      </m:r>
                    </m:oMath>
                  </a14:m>
                  <a:endParaRPr lang="zh-CN" altLang="en-US" sz="2000" b="1" i="1" dirty="0"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3"/>
                  </p:custDataLst>
                </p:nvPr>
              </p:nvSpPr>
              <p:spPr>
                <a:xfrm>
                  <a:off x="10132" y="7100"/>
                  <a:ext cx="4025" cy="644"/>
                </a:xfrm>
                <a:prstGeom prst="rect">
                  <a:avLst/>
                </a:prstGeom>
                <a:blipFill rotWithShape="1">
                  <a:blip r:embed="rId24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10132" y="8322"/>
                  <a:ext cx="4025" cy="64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:r>
                    <a:rPr lang="zh-CN" altLang="en-US" sz="2000" b="1" dirty="0"/>
                    <a:t>贡献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的不确定度</m:t>
                      </m:r>
                    </m:oMath>
                  </a14:m>
                  <a:endParaRPr lang="zh-CN" altLang="en-US" sz="2000" b="1" i="1" dirty="0"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6"/>
                  </p:custDataLst>
                </p:nvPr>
              </p:nvSpPr>
              <p:spPr>
                <a:xfrm>
                  <a:off x="10132" y="8322"/>
                  <a:ext cx="4025" cy="644"/>
                </a:xfrm>
                <a:prstGeom prst="rect">
                  <a:avLst/>
                </a:prstGeom>
                <a:blipFill rotWithShape="1">
                  <a:blip r:embed="rId24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10132" y="9370"/>
                  <a:ext cx="4025" cy="644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:r>
                    <a:rPr lang="zh-CN" altLang="en-US" sz="2000" b="1" dirty="0"/>
                    <a:t>贡献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的不确定度</m:t>
                      </m:r>
                    </m:oMath>
                  </a14:m>
                  <a:endParaRPr lang="zh-CN" altLang="en-US" sz="2000" b="1" i="1" dirty="0"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8"/>
                  </p:custDataLst>
                </p:nvPr>
              </p:nvSpPr>
              <p:spPr>
                <a:xfrm>
                  <a:off x="10132" y="9370"/>
                  <a:ext cx="4025" cy="644"/>
                </a:xfrm>
                <a:prstGeom prst="rect">
                  <a:avLst/>
                </a:prstGeom>
                <a:blipFill rotWithShape="1">
                  <a:blip r:embed="rId24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>
                  <p:custDataLst>
                    <p:tags r:id="rId29"/>
                  </p:custDataLst>
                </p:nvPr>
              </p:nvSpPr>
              <p:spPr>
                <a:xfrm>
                  <a:off x="13711" y="6840"/>
                  <a:ext cx="2381" cy="842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zh-CN" alt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num>
                        <m:den>
                          <m:r>
                            <a:rPr lang="zh-CN" altLang="en-US" sz="20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a14:m>
                  <a:r>
                    <a:rPr lang="zh-CN" altLang="en-US" sz="2000" b="1" dirty="0">
                      <a:solidFill>
                        <a:srgbClr val="836967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endParaRPr lang="zh-CN" altLang="en-US" sz="2000" b="1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0"/>
                  </p:custDataLst>
                </p:nvPr>
              </p:nvSpPr>
              <p:spPr>
                <a:xfrm>
                  <a:off x="13711" y="6840"/>
                  <a:ext cx="2381" cy="842"/>
                </a:xfrm>
                <a:prstGeom prst="rect">
                  <a:avLst/>
                </a:prstGeom>
                <a:blipFill rotWithShape="1">
                  <a:blip r:embed="rId31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13711" y="8058"/>
                  <a:ext cx="2381" cy="902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zh-CN" alt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num>
                        <m:den>
                          <m:r>
                            <a:rPr lang="zh-CN" altLang="en-US" sz="20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</m:oMath>
                  </a14:m>
                  <a:r>
                    <a:rPr lang="zh-CN" altLang="en-US" sz="2000" b="1" dirty="0">
                      <a:solidFill>
                        <a:srgbClr val="836967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a14:m>
                  <a:endParaRPr lang="en-US" altLang="zh-CN" sz="2000" b="1" i="1" dirty="0" smtClean="0">
                    <a:solidFill>
                      <a:srgbClr val="836967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3"/>
                  </p:custDataLst>
                </p:nvPr>
              </p:nvSpPr>
              <p:spPr>
                <a:xfrm>
                  <a:off x="13711" y="8058"/>
                  <a:ext cx="2381" cy="902"/>
                </a:xfrm>
                <a:prstGeom prst="rect">
                  <a:avLst/>
                </a:prstGeom>
                <a:blipFill rotWithShape="1">
                  <a:blip r:embed="rId34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13711" y="9227"/>
                  <a:ext cx="2381" cy="842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zh-CN" alt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num>
                        <m:den>
                          <m:r>
                            <a:rPr lang="zh-CN" altLang="en-US" sz="20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den>
                      </m:f>
                    </m:oMath>
                  </a14:m>
                  <a:r>
                    <a:rPr lang="zh-CN" altLang="en-US" sz="2000" b="1" dirty="0">
                      <a:solidFill>
                        <a:srgbClr val="836967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zh-CN" alt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</m:oMath>
                  </a14:m>
                  <a:endParaRPr lang="en-US" altLang="zh-CN" sz="2000" b="1" i="1" dirty="0" smtClean="0">
                    <a:solidFill>
                      <a:srgbClr val="836967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6"/>
                  </p:custDataLst>
                </p:nvPr>
              </p:nvSpPr>
              <p:spPr>
                <a:xfrm>
                  <a:off x="13711" y="9227"/>
                  <a:ext cx="2381" cy="842"/>
                </a:xfrm>
                <a:prstGeom prst="rect">
                  <a:avLst/>
                </a:prstGeom>
                <a:blipFill rotWithShape="1">
                  <a:blip r:embed="rId37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文本框 7"/>
          <p:cNvSpPr txBox="1"/>
          <p:nvPr/>
        </p:nvSpPr>
        <p:spPr>
          <a:xfrm>
            <a:off x="623570" y="3068955"/>
            <a:ext cx="8058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或</a:t>
            </a:r>
            <a:endParaRPr lang="zh-CN" altLang="en-US" sz="2400" dirty="0">
              <a:sym typeface="+mn-ea"/>
            </a:endParaRPr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72677" y="1540451"/>
            <a:ext cx="61702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用标准</a:t>
            </a:r>
            <a:r>
              <a:rPr lang="zh-CN" altLang="zh-CN" sz="2800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不确定度表示测量结果</a:t>
            </a:r>
            <a:endParaRPr lang="zh-CN" altLang="zh-CN" sz="2800" b="1" kern="100" dirty="0">
              <a:solidFill>
                <a:srgbClr val="0066FF"/>
              </a:solidFill>
              <a:effectLst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425816" y="3859067"/>
                <a:ext cx="4064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形式</a:t>
                </a:r>
                <a:r>
                  <a:rPr lang="en-US" altLang="zh-CN" sz="2800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</a:t>
                </a:r>
                <a:r>
                  <a:rPr lang="zh-CN" altLang="en-US" sz="2400"/>
                  <a:t>    </a:t>
                </a:r>
                <a:r>
                  <a:rPr lang="en-US" altLang="zh-CN" sz="28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Q=q</a:t>
                </a:r>
                <a:r>
                  <a:rPr lang="zh-CN" altLang="en-US" sz="28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</a:t>
                </a:r>
                <a:r>
                  <a:rPr lang="zh-CN" altLang="zh-CN" sz="2800" b="1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d>
                      <m:dPr>
                        <m:ctrlPr>
                          <a:rPr lang="zh-CN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</m:oMath>
                </a14:m>
                <a:endPara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16" y="3859067"/>
                <a:ext cx="4064000" cy="521970"/>
              </a:xfrm>
              <a:prstGeom prst="rect">
                <a:avLst/>
              </a:prstGeom>
              <a:blipFill rotWithShape="1">
                <a:blip r:embed="rId1"/>
                <a:stretch>
                  <a:fillRect l="-6" t="-33" r="6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713423" y="4855884"/>
            <a:ext cx="1003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为避免与表示高包含概率的扩展不确定度混淆，本课程使用形式</a:t>
            </a:r>
            <a:r>
              <a:rPr lang="en-US" altLang="zh-CN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6671680" y="2348888"/>
            <a:ext cx="3006673" cy="523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=12.5(0.5)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mm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6623037" y="3788436"/>
            <a:ext cx="5309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=(12.5</a:t>
            </a:r>
            <a:r>
              <a:rPr lang="zh-CN" altLang="en-US" sz="2800" b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±</a:t>
            </a: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0.5)mm</a:t>
            </a:r>
            <a:endParaRPr lang="en-US" altLang="zh-CN" sz="2800" b="1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772245" y="2258345"/>
                <a:ext cx="2581275" cy="573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kern="1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altLang="zh-CN" sz="28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𝑸</m:t>
                      </m:r>
                      <m:r>
                        <a:rPr lang="en-US" altLang="zh-CN" sz="28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𝒒</m:t>
                      </m:r>
                      <m:d>
                        <m:dPr>
                          <m:ctrlPr>
                            <a:rPr lang="zh-CN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8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245" y="2258345"/>
                <a:ext cx="2581275" cy="573405"/>
              </a:xfrm>
              <a:prstGeom prst="rect">
                <a:avLst/>
              </a:prstGeom>
              <a:blipFill rotWithShape="1">
                <a:blip r:embed="rId5"/>
                <a:stretch>
                  <a:fillRect l="-18" t="-50" r="18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1451171" y="2295357"/>
            <a:ext cx="1124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形式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694125" y="3017781"/>
                <a:ext cx="2737485" cy="573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kern="10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n-US" altLang="zh-CN" sz="2800" b="1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𝑸</m:t>
                      </m:r>
                      <m:r>
                        <a:rPr lang="en-US" altLang="zh-CN" sz="2800" b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1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𝒒</m:t>
                      </m:r>
                      <m:d>
                        <m:dPr>
                          <m:ctrlPr>
                            <a:rPr lang="zh-CN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800" b="1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b="1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125" y="3017781"/>
                <a:ext cx="2737485" cy="573405"/>
              </a:xfrm>
              <a:prstGeom prst="rect">
                <a:avLst/>
              </a:prstGeom>
              <a:blipFill rotWithShape="1">
                <a:blip r:embed="rId6"/>
                <a:stretch>
                  <a:fillRect l="-17" t="-46" r="17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451171" y="3073287"/>
            <a:ext cx="1124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形式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623037" y="3100348"/>
            <a:ext cx="24769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=12.5(5) mm </a:t>
            </a:r>
            <a:endParaRPr lang="zh-CN" altLang="en-US" sz="2800"/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071495" y="26003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测量结果的表示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advTm="80126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326658" name="Rectangle 2"/>
          <p:cNvSpPr txBox="1">
            <a:spLocks noChangeArrowheads="1"/>
          </p:cNvSpPr>
          <p:nvPr/>
        </p:nvSpPr>
        <p:spPr bwMode="auto">
          <a:xfrm>
            <a:off x="372745" y="33242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测量结果的表示</a:t>
            </a:r>
            <a:endParaRPr lang="zh-CN" altLang="en-US" sz="36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670" y="1052830"/>
            <a:ext cx="54584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用</a:t>
            </a:r>
            <a:r>
              <a:rPr lang="zh-CN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软雅黑" panose="020B0503020204020204" charset="-122"/>
                <a:cs typeface="Times New Roman" panose="02020603050405020304" pitchFamily="18" charset="0"/>
              </a:rPr>
              <a:t>标准不确定度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软雅黑" panose="020B0503020204020204" charset="-122"/>
                <a:cs typeface="Times New Roman" panose="02020603050405020304" pitchFamily="18" charset="0"/>
              </a:rPr>
              <a:t>表示</a:t>
            </a:r>
            <a:endParaRPr lang="zh-CN" altLang="en-US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474909" y="4176253"/>
                <a:ext cx="3096344" cy="504825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:pPr marL="342900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zh-CN" alt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 i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8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8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8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rgbClr val="80000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d>
                      </m:e>
                    </m:d>
                  </m:oMath>
                </a14:m>
                <a:endParaRPr lang="zh-CN" altLang="en-US" sz="2400" i="0" dirty="0">
                  <a:solidFill>
                    <a:srgbClr val="8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909" y="4176253"/>
                <a:ext cx="3096344" cy="504825"/>
              </a:xfrm>
              <a:prstGeom prst="rect">
                <a:avLst/>
              </a:prstGeom>
              <a:blipFill rotWithShape="1">
                <a:blip r:embed="rId1"/>
                <a:stretch>
                  <a:fillRect l="-14" t="-98" r="17" b="98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59396" y="1492703"/>
                <a:ext cx="11053228" cy="1137106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某长度</a:t>
                </a:r>
                <a:r>
                  <a:rPr lang="en-US" altLang="zh-CN" sz="24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的估计值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00</m:t>
                    </m:r>
                    <m:r>
                      <m:rPr>
                        <m:sty m:val="p"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，标准不确定度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02</m:t>
                    </m:r>
                    <m:r>
                      <m:rPr>
                        <m:sty m:val="p"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怎样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用标准不确定度表示测量结果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？</a:t>
                </a:r>
                <a:endParaRPr lang="zh-CN" altLang="zh-CN" sz="24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96" y="1492703"/>
                <a:ext cx="11053228" cy="1137106"/>
              </a:xfrm>
              <a:prstGeom prst="rect">
                <a:avLst/>
              </a:prstGeom>
              <a:blipFill rotWithShape="1">
                <a:blip r:embed="rId2"/>
                <a:stretch>
                  <a:fillRect l="-2" t="-40" b="-478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474909" y="2799455"/>
                <a:ext cx="3323981" cy="460375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:pPr marL="342900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zh-CN" alt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 i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400" i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</m:oMath>
                </a14:m>
                <a:endParaRPr lang="zh-CN" altLang="en-US" sz="2400" i="0" dirty="0">
                  <a:solidFill>
                    <a:srgbClr val="8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909" y="2799455"/>
                <a:ext cx="3323981" cy="460375"/>
              </a:xfrm>
              <a:prstGeom prst="rect">
                <a:avLst/>
              </a:prstGeom>
              <a:blipFill rotWithShape="1">
                <a:blip r:embed="rId3"/>
                <a:stretch>
                  <a:fillRect l="-13" t="-81" r="6" b="8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2979464" y="3429000"/>
                <a:ext cx="3638852" cy="460375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02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2400" i="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464" y="3429000"/>
                <a:ext cx="3638852" cy="460375"/>
              </a:xfrm>
              <a:prstGeom prst="rect">
                <a:avLst/>
              </a:prstGeom>
              <a:blipFill rotWithShape="1">
                <a:blip r:embed="rId4"/>
                <a:stretch>
                  <a:fillRect l="-1" r="1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973800" y="4717716"/>
                <a:ext cx="4482240" cy="1568450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p>
                <a:pPr indent="266700" algn="just">
                  <a:lnSpc>
                    <a:spcPct val="200000"/>
                  </a:lnSpc>
                </a:pPr>
                <a:r>
                  <a:rPr lang="en-US" altLang="zh-CN" sz="24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00</m:t>
                    </m:r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20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00</m:t>
                    </m:r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02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4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800" y="4717716"/>
                <a:ext cx="4482240" cy="1568450"/>
              </a:xfrm>
              <a:prstGeom prst="rect">
                <a:avLst/>
              </a:prstGeom>
              <a:blipFill rotWithShape="1">
                <a:blip r:embed="rId5"/>
                <a:stretch>
                  <a:fillRect l="-5" t="-19" r="14" b="1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2913802" y="5627325"/>
            <a:ext cx="2952328" cy="543016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advTm="801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8" grpId="0" bldLvl="0" animBg="1"/>
      <p:bldP spid="16" grpId="0" bldLvl="0" animBg="1"/>
      <p:bldP spid="17" grpId="0" bldLvl="0" animBg="1"/>
      <p:bldP spid="1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396627" y="3863268"/>
                <a:ext cx="5144746" cy="318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1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24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                           </m:t>
                    </m:r>
                  </m:oMath>
                </a14:m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endParaRPr lang="zh-CN" altLang="en-US" sz="24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627" y="3863268"/>
                <a:ext cx="5144746" cy="318357"/>
              </a:xfrm>
              <a:prstGeom prst="rect">
                <a:avLst/>
              </a:prstGeom>
              <a:blipFill rotWithShape="1">
                <a:blip r:embed="rId1"/>
                <a:stretch>
                  <a:fillRect t="-24112" r="12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505352" y="5068050"/>
            <a:ext cx="10030225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自由度是在进行统计计算时可以自由变化的值的数量，用</a:t>
            </a:r>
            <a:r>
              <a:rPr lang="en-US" altLang="zh-CN" sz="2400" b="1" i="1" kern="100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ν </a:t>
            </a:r>
            <a:r>
              <a:rPr lang="zh-CN" altLang="zh-CN" sz="2400" b="1" kern="100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表示</a:t>
            </a:r>
            <a:r>
              <a:rPr lang="en-US" altLang="zh-CN" sz="2400" b="1" kern="100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</a:t>
            </a:r>
            <a:endParaRPr lang="zh-CN" altLang="zh-CN" sz="2400" b="1" kern="100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9516" y="888770"/>
            <a:ext cx="5809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提升内容</a:t>
            </a:r>
            <a:r>
              <a:rPr lang="en-US" altLang="zh-CN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扩展不确定度</a:t>
            </a:r>
            <a:endParaRPr lang="zh-CN" altLang="en-US" sz="32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230015" y="1777157"/>
                <a:ext cx="11477970" cy="1199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当需要高包含概率的不确定度时，需要将标准不确定度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乘以一个大于</a:t>
                </a:r>
                <a:r>
                  <a:rPr lang="en-US" altLang="zh-CN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r>
                  <a:rPr lang="zh-CN" altLang="en-US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的数字，得到的结果称为扩展不确定度，所乘的大于</a:t>
                </a:r>
                <a:r>
                  <a:rPr lang="en-US" altLang="zh-CN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r>
                  <a:rPr lang="zh-CN" altLang="en-US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的数字称为包含因子，即为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。</a:t>
                </a:r>
                <a:endParaRPr lang="zh-CN" altLang="en-US" sz="2400" b="1">
                  <a:solidFill>
                    <a:srgbClr val="0066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15" y="1777157"/>
                <a:ext cx="11477970" cy="1199687"/>
              </a:xfrm>
              <a:prstGeom prst="rect">
                <a:avLst/>
              </a:prstGeom>
              <a:blipFill rotWithShape="1">
                <a:blip r:embed="rId2"/>
                <a:stretch>
                  <a:fillRect l="-1" t="-36" r="4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1759680" y="432730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包含因子的取值与自由度和包含</a:t>
            </a:r>
            <a:r>
              <a:rPr lang="zh-CN" altLang="en-US" sz="24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概率有关。</a:t>
            </a:r>
            <a:endParaRPr lang="zh-CN" altLang="en-US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-253411" y="2177027"/>
                <a:ext cx="7935186" cy="321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indent="266700" algn="just">
                  <a:lnSpc>
                    <a:spcPts val="1600"/>
                  </a:lnSpc>
                  <a:spcAft>
                    <a:spcPts val="0"/>
                  </a:spcAft>
                </a:pPr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对于</a:t>
                </a:r>
                <a:r>
                  <a:rPr lang="en-US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类评定的标准不确定度</a:t>
                </a:r>
                <a:r>
                  <a:rPr lang="zh-CN" altLang="en-US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，两种情况下</a:t>
                </a:r>
                <a:r>
                  <a:rPr lang="zh-CN" altLang="en-US" sz="2400" b="1" kern="100">
                    <a:solidFill>
                      <a:srgbClr val="0066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𝝂</m:t>
                    </m:r>
                    <m:r>
                      <a:rPr lang="en-US" altLang="zh-CN" sz="2400" b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2400" b="1" kern="100">
                    <a:solidFill>
                      <a:srgbClr val="0066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400" b="1" kern="100">
                  <a:solidFill>
                    <a:srgbClr val="0066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411" y="2177027"/>
                <a:ext cx="7935186" cy="321498"/>
              </a:xfrm>
              <a:prstGeom prst="rect">
                <a:avLst/>
              </a:prstGeom>
              <a:blipFill rotWithShape="1">
                <a:blip r:embed="rId1"/>
                <a:stretch>
                  <a:fillRect l="1" t="-36024" r="2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-253411" y="2585197"/>
                <a:ext cx="11933304" cy="1853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ct val="150000"/>
                  </a:lnSpc>
                </a:pPr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对于</a:t>
                </a:r>
                <a:r>
                  <a:rPr lang="en-US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类评定的标准不确定度，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𝝂</m:t>
                    </m:r>
                    <m:r>
                      <a:rPr lang="en-US" altLang="zh-CN" sz="2400" b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zh-CN" altLang="zh-CN" sz="2400" b="1" i="1" kern="1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400" b="1" i="1" kern="1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b="1" i="1" kern="10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kern="10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b="1" i="1" kern="100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1" i="1" kern="100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 kern="100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zh-CN" sz="2400" b="1" i="1" kern="100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1" i="1" kern="100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 kern="100">
                                            <a:solidFill>
                                              <a:srgbClr val="0066FF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400" b="1" i="1" kern="1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400" b="1" kern="100">
                    <a:solidFill>
                      <a:srgbClr val="0066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400" b="1" i="1" kern="10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b="1" i="1" kern="100" baseline="-2500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的标准差</a:t>
                </a:r>
                <a:r>
                  <a:rPr lang="en-US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.      </a:t>
                </a:r>
                <a:endParaRPr lang="en-US" altLang="zh-CN" sz="2400" b="1" kern="100">
                  <a:solidFill>
                    <a:srgbClr val="0066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ct val="150000"/>
                  </a:lnSpc>
                </a:pPr>
                <a:r>
                  <a:rPr lang="en-US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           </a:t>
                </a:r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通常</a:t>
                </a:r>
                <a14:m>
                  <m:oMath xmlns:m="http://schemas.openxmlformats.org/officeDocument/2006/math">
                    <m:r>
                      <a:rPr lang="en-US" altLang="zh-CN" sz="2400" b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𝝂</m:t>
                    </m:r>
                    <m:r>
                      <a:rPr lang="en-US" altLang="zh-CN" sz="2400" b="1" kern="10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=∞</m:t>
                    </m:r>
                  </m:oMath>
                </a14:m>
                <a:r>
                  <a:rPr lang="en-US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zh-CN" altLang="zh-CN" sz="2400" b="1" kern="100">
                  <a:solidFill>
                    <a:srgbClr val="0066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411" y="2585197"/>
                <a:ext cx="11933304" cy="1853071"/>
              </a:xfrm>
              <a:prstGeom prst="rect">
                <a:avLst/>
              </a:prstGeom>
              <a:blipFill rotWithShape="1">
                <a:blip r:embed="rId2"/>
                <a:stretch>
                  <a:fillRect t="-6" r="3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224665" y="4877806"/>
                <a:ext cx="6014770" cy="11875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400" b="1" kern="100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合成标准不确定度的有效自由度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𝝂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𝒆𝒇𝒇</m:t>
                        </m:r>
                      </m:sub>
                    </m:sSub>
                  </m:oMath>
                </a14:m>
                <a:endParaRPr lang="en-US" altLang="zh-CN" sz="2400" b="1">
                  <a:solidFill>
                    <a:srgbClr val="0066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可以使用</a:t>
                </a:r>
                <a:r>
                  <a:rPr lang="en-US" altLang="zh-CN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Welch-Satterthwaite</a:t>
                </a:r>
                <a:r>
                  <a:rPr lang="zh-CN" altLang="zh-CN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公式得到</a:t>
                </a:r>
                <a:r>
                  <a:rPr lang="zh-CN" altLang="en-US" sz="2400" b="1">
                    <a:solidFill>
                      <a:srgbClr val="0066FF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400" b="1">
                  <a:solidFill>
                    <a:srgbClr val="0066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65" y="4877806"/>
                <a:ext cx="6014770" cy="1187569"/>
              </a:xfrm>
              <a:prstGeom prst="rect">
                <a:avLst/>
              </a:prstGeom>
              <a:blipFill rotWithShape="1">
                <a:blip r:embed="rId3"/>
                <a:stretch>
                  <a:fillRect l="-8" t="-31" r="9" b="-2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159516" y="888770"/>
            <a:ext cx="5809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提升内容</a:t>
            </a:r>
            <a:r>
              <a:rPr lang="en-US" altLang="zh-CN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扩展不确定度</a:t>
            </a:r>
            <a:endParaRPr lang="zh-CN" altLang="en-US" sz="32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6338494" y="4782265"/>
                <a:ext cx="5341399" cy="1684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𝝂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𝒆𝒇𝒇</m:t>
                          </m:r>
                        </m:sub>
                      </m:sSub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zh-CN" altLang="en-US" sz="24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400" b="1" i="0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400" b="1" i="0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𝒄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400" b="1" i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𝝂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400" b="1" i="0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400" b="1" i="0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𝒄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400" b="1" i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𝝂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+⋯</m:t>
                          </m:r>
                        </m:den>
                      </m:f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494" y="4782265"/>
                <a:ext cx="5341399" cy="1684244"/>
              </a:xfrm>
              <a:prstGeom prst="rect">
                <a:avLst/>
              </a:prstGeom>
              <a:blipFill rotWithShape="1">
                <a:blip r:embed="rId4"/>
                <a:stretch>
                  <a:fillRect l="-10" t="-5" r="6" b="-1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867985" y="1057991"/>
                <a:ext cx="2125561" cy="523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d>
                      <m:dPr>
                        <m:ctrlPr>
                          <a:rPr lang="zh-CN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𝒆𝒇𝒇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b="1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985" y="1057991"/>
                <a:ext cx="2125561" cy="523092"/>
              </a:xfrm>
              <a:prstGeom prst="rect">
                <a:avLst/>
              </a:prstGeom>
              <a:blipFill rotWithShape="1">
                <a:blip r:embed="rId1"/>
                <a:stretch>
                  <a:fillRect l="-9" t="-15" r="20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35990" y="2178893"/>
          <a:ext cx="10373448" cy="1616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0787"/>
                <a:gridCol w="740787"/>
                <a:gridCol w="740787"/>
                <a:gridCol w="742002"/>
                <a:gridCol w="742002"/>
                <a:gridCol w="740787"/>
                <a:gridCol w="740787"/>
                <a:gridCol w="740787"/>
                <a:gridCol w="740787"/>
                <a:gridCol w="740787"/>
                <a:gridCol w="740787"/>
                <a:gridCol w="740787"/>
                <a:gridCol w="740787"/>
                <a:gridCol w="740787"/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自由度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ν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2.78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1.984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63.66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9.92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2.626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2.576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709649" y="1831308"/>
            <a:ext cx="6170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b="1" kern="1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</a:t>
            </a:r>
            <a:r>
              <a:rPr lang="en-US" altLang="zh-CN" b="1" kern="1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 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分布在不同概率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 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与自由度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ν 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 err="1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1800" b="1" kern="100" baseline="-25000" dirty="0" err="1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(ν) 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值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806822" y="4085726"/>
                <a:ext cx="10373448" cy="499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简便起见，</a:t>
                </a:r>
                <a:r>
                  <a:rPr lang="zh-CN" altLang="en-US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本课程</a:t>
                </a:r>
                <a:r>
                  <a:rPr lang="zh-CN" altLang="en-US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约定</a:t>
                </a:r>
                <a:r>
                  <a:rPr lang="zh-CN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：当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自由度大于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10 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取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𝟗𝟓</m:t>
                        </m:r>
                      </m:sub>
                    </m:sSub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𝟗𝟔</m:t>
                    </m:r>
                  </m:oMath>
                </a14:m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𝟗𝟗</m:t>
                        </m:r>
                      </m:sub>
                    </m:sSub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𝟓𝟖</m:t>
                    </m:r>
                  </m:oMath>
                </a14:m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22" y="4085726"/>
                <a:ext cx="10373448" cy="499432"/>
              </a:xfrm>
              <a:prstGeom prst="rect">
                <a:avLst/>
              </a:prstGeom>
              <a:blipFill rotWithShape="1">
                <a:blip r:embed="rId2"/>
                <a:stretch>
                  <a:fillRect l="-4" t="-27" r="4" b="-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204778" y="4870889"/>
            <a:ext cx="8260039" cy="58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2400" b="1" kern="10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用扩展</a:t>
            </a:r>
            <a:r>
              <a:rPr lang="zh-CN" altLang="zh-CN" sz="2400" b="1" kern="10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不确定度表示测量结果</a:t>
            </a:r>
            <a:r>
              <a:rPr lang="zh-CN" altLang="en-US" sz="2400" b="1" kern="10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lang="en-US" altLang="zh-CN" sz="2400" kern="105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3075139" y="5544419"/>
                <a:ext cx="48013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kern="105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b="1" i="1" kern="10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altLang="zh-CN" sz="2400" b="1" i="1" kern="10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sz="2400" b="1" i="1" kern="10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±</m:t>
                    </m:r>
                    <m:sSub>
                      <m:sSubPr>
                        <m:ctrlPr>
                          <a:rPr lang="zh-CN" altLang="zh-CN" sz="2400" b="1" i="1" kern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sz="2400" b="1" i="1" kern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zh-CN" altLang="zh-CN" sz="2400" b="1" kern="105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　</a:t>
                </a:r>
                <a:r>
                  <a:rPr lang="en-US" altLang="zh-CN" sz="2400" b="1" i="1" kern="105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400" b="1" kern="105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=0.95/0.99</a:t>
                </a:r>
                <a:r>
                  <a:rPr lang="en-US" altLang="zh-CN" kern="105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	</a:t>
                </a:r>
                <a:endParaRPr lang="zh-CN" altLang="en-US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139" y="5544419"/>
                <a:ext cx="4801314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0" t="-51" r="11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2305210" y="5625947"/>
            <a:ext cx="1214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形式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05210" y="6363691"/>
            <a:ext cx="1214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形式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3990785" y="6296777"/>
                <a:ext cx="26900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kern="105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altLang="zh-CN" sz="2400" b="1" i="1" kern="105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5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sz="2400" b="1" i="1" kern="105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±</m:t>
                    </m:r>
                    <m:sSub>
                      <m:sSubPr>
                        <m:ctrlPr>
                          <a:rPr lang="zh-CN" altLang="zh-CN" sz="2400" b="1" i="1" kern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sz="2400" b="1" i="1" kern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zh-CN" altLang="zh-CN" sz="2400" b="1" kern="105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　</a:t>
                </a:r>
                <a:r>
                  <a:rPr lang="en-US" altLang="zh-CN" sz="2400" b="1" i="1" kern="105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b="1" kern="105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=…</a:t>
                </a:r>
                <a:endParaRPr lang="zh-CN" altLang="en-US" sz="240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785" y="6296777"/>
                <a:ext cx="2690095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7" t="-25" r="2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7530353" y="5590585"/>
            <a:ext cx="338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为简单起见，本课程采用形式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59516" y="404265"/>
            <a:ext cx="5809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提升内容</a:t>
            </a:r>
            <a:r>
              <a:rPr lang="en-US" altLang="zh-CN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32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扩展不确定度</a:t>
            </a:r>
            <a:endParaRPr lang="zh-CN" altLang="en-US" sz="32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80126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52" y="908720"/>
            <a:ext cx="10555173" cy="1352739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09092" y="3153892"/>
          <a:ext cx="10305288" cy="1008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2006"/>
                <a:gridCol w="1472006"/>
                <a:gridCol w="1472006"/>
                <a:gridCol w="1472006"/>
                <a:gridCol w="1472006"/>
                <a:gridCol w="1472006"/>
                <a:gridCol w="1473252"/>
              </a:tblGrid>
              <a:tr h="50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50">
                          <a:effectLst/>
                        </a:rPr>
                        <a:t>测量次数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 dirty="0">
                          <a:effectLst/>
                        </a:rPr>
                        <a:t>1</a:t>
                      </a:r>
                      <a:endParaRPr lang="zh-CN" sz="2000" kern="1050" dirty="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 dirty="0">
                          <a:effectLst/>
                        </a:rPr>
                        <a:t>2</a:t>
                      </a:r>
                      <a:endParaRPr lang="zh-CN" sz="2000" kern="1050" dirty="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3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4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5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6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</a:tr>
              <a:tr h="50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50">
                          <a:effectLst/>
                        </a:rPr>
                        <a:t>直径</a:t>
                      </a:r>
                      <a:r>
                        <a:rPr lang="en-US" sz="2000" kern="1050">
                          <a:effectLst/>
                        </a:rPr>
                        <a:t>d/mm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12.302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12.304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12.301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12.302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>
                          <a:effectLst/>
                        </a:rPr>
                        <a:t>12.301</a:t>
                      </a:r>
                      <a:endParaRPr lang="zh-CN" sz="2000" kern="105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50" dirty="0">
                          <a:effectLst/>
                        </a:rPr>
                        <a:t>12.300</a:t>
                      </a:r>
                      <a:endParaRPr lang="zh-CN" sz="2000" kern="1050" dirty="0">
                        <a:effectLst/>
                        <a:latin typeface="Times New Roman" panose="02020603050405020304" pitchFamily="18" charset="0"/>
                        <a:ea typeface="方正书宋简体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207568" y="2476843"/>
            <a:ext cx="6102350" cy="461665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120"/>
              </a:spcAft>
              <a:tabLst>
                <a:tab pos="2667000" algn="ctr"/>
                <a:tab pos="5067300" algn="r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方正黑体简体"/>
                <a:cs typeface="Times New Roman" panose="02020603050405020304" pitchFamily="18" charset="0"/>
              </a:rPr>
              <a:t>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方正黑体简体"/>
                <a:cs typeface="Arial" panose="020B0604020202020204" pitchFamily="34" charset="0"/>
              </a:rPr>
              <a:t>2.3.1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方正黑体简体"/>
                <a:cs typeface="Times New Roman" panose="02020603050405020304" pitchFamily="18" charset="0"/>
              </a:rPr>
              <a:t>　球体直径测量数据</a:t>
            </a:r>
            <a:endParaRPr lang="zh-CN" altLang="zh-CN" sz="2400" kern="100" dirty="0">
              <a:effectLst/>
              <a:latin typeface="Times New Roman BOLD" panose="02020803070505020304" pitchFamily="18" charset="0"/>
              <a:ea typeface="方正黑体简体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8135" y="4491433"/>
            <a:ext cx="2183118" cy="461665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(1)</a:t>
            </a:r>
            <a:r>
              <a:rPr lang="zh-CN" altLang="en-US" dirty="0"/>
              <a:t>测量模型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79376" y="5112601"/>
                <a:ext cx="3001664" cy="5734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仪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5112601"/>
                <a:ext cx="3001664" cy="573427"/>
              </a:xfrm>
              <a:prstGeom prst="rect">
                <a:avLst/>
              </a:prstGeom>
              <a:blipFill rotWithShape="1">
                <a:blip r:embed="rId2"/>
                <a:stretch>
                  <a:fillRect l="-20" t="-38" r="20" b="42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079776" y="4432225"/>
                <a:ext cx="3312368" cy="46980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indent="266700" algn="just"/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en-US" altLang="zh-CN" sz="24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的标准不确定度</a:t>
                </a:r>
                <a:endParaRPr lang="zh-CN" altLang="zh-CN" sz="24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776" y="4432225"/>
                <a:ext cx="3312368" cy="469809"/>
              </a:xfrm>
              <a:prstGeom prst="rect">
                <a:avLst/>
              </a:prstGeom>
              <a:blipFill rotWithShape="1">
                <a:blip r:embed="rId3"/>
                <a:stretch>
                  <a:fillRect l="-16" t="-119" r="3" b="10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866" y="5082550"/>
            <a:ext cx="2731230" cy="1105307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398" y="4902033"/>
            <a:ext cx="4490621" cy="1412305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190665" y="692329"/>
            <a:ext cx="11327904" cy="25552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767080" y="78105"/>
            <a:ext cx="1945640" cy="66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735" b="1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例</a:t>
            </a:r>
            <a:r>
              <a:rPr lang="en-US" altLang="zh-CN" sz="3735" b="1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</a:t>
            </a:r>
            <a:endParaRPr lang="en-US" altLang="zh-CN" sz="3735" b="1" dirty="0">
              <a:solidFill>
                <a:srgbClr val="0000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5" grpId="0" bldLvl="0" animBg="1"/>
      <p:bldP spid="17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1344" y="980728"/>
            <a:ext cx="4824536" cy="4616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66700" algn="just"/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sz="24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</a:t>
            </a:r>
            <a:r>
              <a:rPr lang="zh-CN" altLang="en-US" sz="24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仪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的标准不确定度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408" y="1565024"/>
            <a:ext cx="5760640" cy="138886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91344" y="3242982"/>
            <a:ext cx="4824536" cy="4616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66700" algn="just"/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en-US" altLang="zh-CN" sz="24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的标准不确定度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335360" y="3772277"/>
                <a:ext cx="8083127" cy="910699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zh-CN" alt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zh-CN" altLang="en-US" sz="18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zh-CN" altLang="en-US" sz="18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1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8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zh-CN" altLang="en-US" sz="18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8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800" i="0">
                                              <a:latin typeface="Cambria Math" panose="02040503050406030204" pitchFamily="18" charset="0"/>
                                            </a:rPr>
                                            <m:t>仪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1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002</m:t>
                      </m:r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zh-CN" altLang="en-US" sz="1800" i="0">
                          <a:latin typeface="Cambria Math" panose="02040503050406030204" pitchFamily="18" charset="0"/>
                        </a:rPr>
                        <m:t>mm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003</m:t>
                      </m:r>
                      <m:r>
                        <m:rPr>
                          <m:sty m:val="p"/>
                        </m:rPr>
                        <a:rPr lang="zh-CN" altLang="en-US" sz="1800" i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3772277"/>
                <a:ext cx="8083127" cy="910699"/>
              </a:xfrm>
              <a:prstGeom prst="rect">
                <a:avLst/>
              </a:prstGeom>
              <a:blipFill rotWithShape="1">
                <a:blip r:embed="rId2"/>
                <a:stretch>
                  <a:fillRect l="-1" t="-41" r="4" b="53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3215680" y="5015761"/>
                <a:ext cx="4576090" cy="1142108"/>
              </a:xfrm>
              <a:prstGeom prst="rect">
                <a:avLst/>
              </a:prstGeom>
              <a:solidFill>
                <a:schemeClr val="lt1"/>
              </a:solid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用标准不确定度表示的结果</a:t>
                </a:r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302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003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endParaRPr lang="zh-CN" altLang="zh-CN" sz="24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5015761"/>
                <a:ext cx="4576090" cy="1142108"/>
              </a:xfrm>
              <a:prstGeom prst="rect">
                <a:avLst/>
              </a:prstGeom>
              <a:blipFill rotWithShape="1">
                <a:blip r:embed="rId3"/>
                <a:stretch>
                  <a:fillRect l="-140" t="-602" r="-132" b="-532"/>
                </a:stretch>
              </a:blip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9" grpId="0" bldLvl="0" animBg="1"/>
      <p:bldP spid="21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63630" y="979650"/>
                <a:ext cx="12028370" cy="1422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用最小分度值为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0.01g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、允差为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0.04 g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电子天平测量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圆柱体的质量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次，示数为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14.00g.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在此次测量之前已经</a:t>
                </a:r>
                <a:r>
                  <a:rPr lang="zh-CN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预先对圆柱体</a:t>
                </a:r>
                <a:r>
                  <a:rPr lang="zh-CN" altLang="en-US" sz="2000" b="1" kern="1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的质量</a:t>
                </a:r>
                <a:r>
                  <a:rPr lang="zh-CN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进行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了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25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次等精度测量，得到的实验标准差</a:t>
                </a:r>
                <a:r>
                  <a:rPr lang="zh-CN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0.0044g. </a:t>
                </a:r>
                <a:r>
                  <a:rPr lang="zh-CN" altLang="en-US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50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41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03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kern="1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mm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kern="10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ℎ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61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23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04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zh-CN" altLang="en-US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利用测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得</a:t>
                </a:r>
                <a:r>
                  <a:rPr lang="zh-CN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的数据计算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该圆柱体的密度，并</a:t>
                </a:r>
                <a:r>
                  <a:rPr lang="zh-CN" altLang="zh-CN" sz="2000" b="1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完整表达测量</a:t>
                </a:r>
                <a:r>
                  <a:rPr lang="zh-CN" altLang="zh-CN" sz="2000" b="1" kern="105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结果</a:t>
                </a:r>
                <a:r>
                  <a:rPr lang="en-US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b="1" kern="1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用合成标准不确定度</a:t>
                </a:r>
                <a:r>
                  <a:rPr lang="en-US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000" b="1" kern="105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000" b="1" kern="10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30" y="979650"/>
                <a:ext cx="12028370" cy="1422762"/>
              </a:xfrm>
              <a:prstGeom prst="rect">
                <a:avLst/>
              </a:prstGeom>
              <a:blipFill rotWithShape="1">
                <a:blip r:embed="rId1"/>
                <a:stretch>
                  <a:fillRect l="-4" t="-34" r="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21597" y="2402412"/>
                <a:ext cx="11298967" cy="4411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质量</a:t>
                </a:r>
                <a:r>
                  <a:rPr lang="en-US" altLang="zh-CN" sz="2000" b="1" i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的标准不确定度</a:t>
                </a:r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测量模型：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zh-CN" altLang="zh-CN" sz="2000" b="1" kern="100" baseline="-250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仪</m:t>
                        </m:r>
                      </m:sub>
                    </m:sSub>
                  </m:oMath>
                </a14:m>
                <a:endParaRPr lang="zh-CN" altLang="zh-CN" sz="2000" b="1" kern="100" baseline="-25000" smtClean="0">
                  <a:effectLst/>
                  <a:latin typeface="Cambria Math" panose="02040503050406030204" pitchFamily="18" charset="0"/>
                  <a:ea typeface="方正黑体简体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式中，</a:t>
                </a:r>
                <a:r>
                  <a:rPr lang="en-US" altLang="zh-CN" sz="2000" b="1" i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="1" kern="100" baseline="-250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为视读质量，</a:t>
                </a:r>
                <a:r>
                  <a:rPr lang="en-US" altLang="zh-CN" sz="2000" b="1" i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000" b="1" kern="100" baseline="-250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仪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是天平的最大允差的影响。</a:t>
                </a:r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150000"/>
                  </a:lnSpc>
                </a:pPr>
                <a:r>
                  <a:rPr lang="en-US" altLang="zh-CN" sz="2000" b="1" i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="1" i="1" kern="100" baseline="-250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=14.00g 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𝟎𝟎𝟒𝟒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e>
                        </m:rad>
                      </m:den>
                    </m:f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𝟎𝟎𝟒𝟒𝐠</m:t>
                    </m:r>
                  </m:oMath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200000"/>
                  </a:lnSpc>
                </a:pPr>
                <a:r>
                  <a:rPr lang="en-US" altLang="zh-CN" sz="2000" b="1" i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000" b="1" kern="100" baseline="-250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仪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=0g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  <m:d>
                      <m:d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zh-CN" altLang="zh-CN" sz="2000" b="1" kern="100" baseline="-250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仪</m:t>
                            </m:r>
                          </m:sub>
                        </m:sSub>
                      </m:e>
                    </m:d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𝟎𝟒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𝟎𝟐𝟑𝐠</m:t>
                    </m:r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       </m:t>
                    </m:r>
                  </m:oMath>
                </a14:m>
                <a:endParaRPr lang="en-US" altLang="zh-CN" sz="2000" b="1" i="1" kern="100" smtClean="0">
                  <a:effectLst/>
                  <a:latin typeface="Cambria Math" panose="02040503050406030204" pitchFamily="18" charset="0"/>
                  <a:ea typeface="方正黑体简体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200000"/>
                  </a:lnSpc>
                </a:pP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 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𝐜</m:t>
                        </m:r>
                      </m:sub>
                    </m:sSub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𝟎𝟎𝟒𝟒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000" b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𝟎𝟐𝟑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𝟎𝟐𝟒𝐠</m:t>
                    </m:r>
                  </m:oMath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𝒎</m:t>
                      </m:r>
                      <m:r>
                        <a:rPr lang="en-US" altLang="zh-CN" sz="2000" b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𝟏𝟒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b="1" i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𝟎𝟎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b="1" i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b="1" i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𝟎𝟑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000" b="1" i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𝐠</m:t>
                      </m:r>
                    </m:oMath>
                  </m:oMathPara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97" y="2402412"/>
                <a:ext cx="11298967" cy="4411980"/>
              </a:xfrm>
              <a:prstGeom prst="rect">
                <a:avLst/>
              </a:prstGeom>
              <a:blipFill rotWithShape="1">
                <a:blip r:embed="rId2"/>
                <a:stretch>
                  <a:fillRect l="-3" t="-5" r="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190665" y="692329"/>
            <a:ext cx="11327904" cy="25552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767080" y="78105"/>
            <a:ext cx="1945640" cy="66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735" b="1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例</a:t>
            </a:r>
            <a:r>
              <a:rPr lang="en-US" altLang="zh-CN" sz="3735" b="1" dirty="0">
                <a:solidFill>
                  <a:srgbClr val="0000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</a:t>
            </a:r>
            <a:endParaRPr lang="en-US" altLang="zh-CN" sz="3735" b="1" dirty="0">
              <a:solidFill>
                <a:srgbClr val="0000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advTm="80126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22729" y="954007"/>
                <a:ext cx="12793916" cy="5808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</a:pP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2.  </a:t>
                </a:r>
                <a:r>
                  <a:rPr lang="en-US" altLang="zh-CN" sz="2000" b="1" i="1" kern="1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000" b="1" i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b="1" i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h</a:t>
                </a:r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𝟒𝟏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𝟎𝟑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mm</a:t>
                </a:r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marL="266700" algn="just">
                  <a:lnSpc>
                    <a:spcPct val="150000"/>
                  </a:lnSpc>
                </a:pPr>
                <a:r>
                  <a:rPr lang="en-US" altLang="zh-CN" sz="2000" b="1" kern="10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𝒉</m:t>
                    </m:r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𝟔𝟏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𝟐𝟑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𝟎𝟒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𝐦𝐦</m:t>
                    </m:r>
                  </m:oMath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50000"/>
                  </a:lnSpc>
                </a:pP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3. </a:t>
                </a: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密度及其合成标准不确定度</a:t>
                </a:r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𝝆</m:t>
                    </m:r>
                    <m:r>
                      <a:rPr lang="en-US" altLang="zh-CN" sz="2000" b="1" i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𝒉</m:t>
                        </m:r>
                      </m:den>
                    </m:f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𝟏𝟒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𝟎𝟎</m:t>
                        </m:r>
                      </m:num>
                      <m:den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𝟏𝟒𝟐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𝟓𝟎</m:t>
                            </m:r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𝟒𝟏</m:t>
                            </m:r>
                          </m:e>
                          <m:sup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000" b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𝟔𝟏</m:t>
                        </m:r>
                        <m:r>
                          <a:rPr lang="en-US" altLang="zh-CN" sz="2000" b="1" kern="10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𝟐𝟑</m:t>
                        </m:r>
                      </m:den>
                    </m:f>
                    <m:r>
                      <a:rPr lang="en-US" altLang="zh-CN" sz="2000" b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0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𝟏𝟒𝟓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𝟒</m:t>
                        </m:r>
                      </m:sup>
                    </m:sSup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𝐠</m:t>
                    </m:r>
                    <m:r>
                      <a:rPr lang="en-US" altLang="zh-CN" sz="2000" b="1" kern="10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𝐦𝐦</m:t>
                        </m:r>
                      </m:e>
                      <m:sup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r>
                  <a:rPr lang="en-US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𝝆</m:t>
                    </m:r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𝝆</m:t>
                    </m:r>
                    <m:r>
                      <a:rPr lang="en-US" altLang="zh-CN" sz="2000" b="1" i="1" kern="100" smtClean="0">
                        <a:effectLst/>
                        <a:latin typeface="Cambria Math" panose="02040503050406030204" pitchFamily="18" charset="0"/>
                        <a:ea typeface="方正黑体简体"/>
                        <a:cs typeface="Times New Roman" panose="020206030504050203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zh-CN" altLang="zh-CN" sz="20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0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𝒍𝒏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𝝆</m:t>
                                    </m:r>
                                  </m:num>
                                  <m:den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𝒎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zh-CN" altLang="zh-CN" sz="20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𝐮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𝐜</m:t>
                                    </m:r>
                                  </m:sub>
                                </m:sSub>
                                <m:r>
                                  <a:rPr lang="en-US" altLang="zh-CN" sz="2000" b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𝒎</m:t>
                                </m:r>
                                <m:r>
                                  <a:rPr lang="en-US" altLang="zh-CN" sz="2000" b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0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𝒍𝒏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𝝆</m:t>
                                    </m:r>
                                  </m:num>
                                  <m:den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𝒅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zh-CN" altLang="zh-CN" sz="20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𝐜</m:t>
                                    </m:r>
                                  </m:sub>
                                </m:sSub>
                                <m:r>
                                  <a:rPr lang="en-US" altLang="zh-CN" sz="2000" b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000" b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000" b="1" i="1" kern="100" smtClean="0">
                            <a:effectLst/>
                            <a:latin typeface="Cambria Math" panose="02040503050406030204" pitchFamily="18" charset="0"/>
                            <a:ea typeface="方正黑体简体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0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0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𝒍𝒏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𝝆</m:t>
                                    </m:r>
                                  </m:num>
                                  <m:den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𝝏</m:t>
                                    </m:r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𝒉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zh-CN" altLang="zh-CN" sz="20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方正黑体简体"/>
                                        <a:cs typeface="Times New Roman" panose="02020603050405020304" pitchFamily="18" charset="0"/>
                                      </a:rPr>
                                      <m:t>𝐜</m:t>
                                    </m:r>
                                  </m:sub>
                                </m:sSub>
                                <m:r>
                                  <a:rPr lang="en-US" altLang="zh-CN" sz="2000" b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1" i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𝒉</m:t>
                                </m:r>
                                <m:r>
                                  <a:rPr lang="en-US" altLang="zh-CN" sz="2000" b="1" kern="100" smtClean="0">
                                    <a:effectLst/>
                                    <a:latin typeface="Cambria Math" panose="02040503050406030204" pitchFamily="18" charset="0"/>
                                    <a:ea typeface="方正黑体简体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b="1" i="1" kern="100" smtClean="0">
                                <a:effectLst/>
                                <a:latin typeface="Cambria Math" panose="02040503050406030204" pitchFamily="18" charset="0"/>
                                <a:ea typeface="方正黑体简体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𝟏𝟒𝟓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zh-CN" altLang="zh-CN" sz="20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zh-CN" altLang="zh-CN" sz="20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sz="2000" b="1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0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sz="2000" b="1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𝟎𝟑</m:t>
                                      </m:r>
                                    </m:num>
                                    <m:den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𝟏𝟒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𝟎𝟎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000" b="1" i="1" kern="100" smtClean="0">
                                  <a:effectLst/>
                                  <a:latin typeface="Cambria Math" panose="02040503050406030204" pitchFamily="18" charset="0"/>
                                  <a:ea typeface="方正黑体简体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2000" b="1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0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kern="100" smtClean="0">
                                      <a:effectLst/>
                                      <a:latin typeface="Cambria Math" panose="02040503050406030204" pitchFamily="18" charset="0"/>
                                      <a:ea typeface="方正黑体简体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000" b="1" i="1" kern="100" smtClean="0">
                                      <a:effectLst/>
                                      <a:latin typeface="Cambria Math" panose="02040503050406030204" pitchFamily="18" charset="0"/>
                                      <a:ea typeface="方正黑体简体"/>
                                      <a:cs typeface="Times New Roman" panose="02020603050405020304" pitchFamily="18" charset="0"/>
                                    </a:rPr>
                                    <m:t>×</m:t>
                                  </m:r>
                                  <m:f>
                                    <m:fPr>
                                      <m:ctrlPr>
                                        <a:rPr lang="zh-CN" altLang="zh-CN" sz="2000" b="1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𝟎𝟑</m:t>
                                      </m:r>
                                    </m:num>
                                    <m:den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𝟓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𝟒𝟏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000" b="1" i="1" kern="100" smtClean="0">
                                  <a:effectLst/>
                                  <a:latin typeface="Cambria Math" panose="02040503050406030204" pitchFamily="18" charset="0"/>
                                  <a:ea typeface="方正黑体简体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2000" b="1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0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sz="2000" b="1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𝟎𝟒</m:t>
                                      </m:r>
                                    </m:num>
                                    <m:den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𝟔𝟏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sz="20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方正黑体简体"/>
                                          <a:cs typeface="Times New Roman" panose="02020603050405020304" pitchFamily="18" charset="0"/>
                                        </a:rPr>
                                        <m:t>𝟐𝟑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000" b="1" i="1" kern="100" smtClean="0">
                                  <a:effectLst/>
                                  <a:latin typeface="Cambria Math" panose="02040503050406030204" pitchFamily="18" charset="0"/>
                                  <a:ea typeface="方正黑体简体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𝟎𝟎𝟑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zh-CN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𝐠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zh-CN" altLang="zh-CN" sz="20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𝐦𝐦</m:t>
                          </m:r>
                        </m:e>
                        <m:sup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𝝆</m:t>
                      </m:r>
                      <m:r>
                        <a:rPr lang="en-US" altLang="zh-CN" sz="2000" b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𝟏𝟒𝟓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𝟎𝟑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zh-CN" altLang="zh-CN" sz="20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altLang="zh-CN" sz="2000" b="1" i="1" kern="100" smtClean="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𝐠</m:t>
                      </m:r>
                      <m:r>
                        <a:rPr lang="en-US" altLang="zh-CN" sz="2000" b="1" kern="100">
                          <a:effectLst/>
                          <a:latin typeface="Cambria Math" panose="02040503050406030204" pitchFamily="18" charset="0"/>
                          <a:ea typeface="方正黑体简体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zh-CN" altLang="zh-CN" sz="20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𝐦𝐦</m:t>
                          </m:r>
                        </m:e>
                        <m:sup>
                          <m:r>
                            <a:rPr lang="en-US" altLang="zh-CN" sz="2000" b="1" i="1" kern="100" smtClean="0">
                              <a:effectLst/>
                              <a:latin typeface="Cambria Math" panose="02040503050406030204" pitchFamily="18" charset="0"/>
                              <a:ea typeface="方正黑体简体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29" y="954007"/>
                <a:ext cx="12793916" cy="5808345"/>
              </a:xfrm>
              <a:prstGeom prst="rect">
                <a:avLst/>
              </a:prstGeom>
              <a:blipFill rotWithShape="1">
                <a:blip r:embed="rId1"/>
                <a:stretch>
                  <a:fillRect l="-1" t="-4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199786" y="933557"/>
            <a:ext cx="6969048" cy="792163"/>
          </a:xfrm>
          <a:prstGeom prst="rect">
            <a:avLst/>
          </a:prstGeom>
          <a:noFill/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有效数字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位数与仪器精度有关系吗？</a:t>
            </a:r>
            <a:endParaRPr lang="en-US" alt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7" r="4579" b="16342"/>
          <a:stretch>
            <a:fillRect/>
          </a:stretch>
        </p:blipFill>
        <p:spPr bwMode="auto">
          <a:xfrm>
            <a:off x="1579245" y="5199170"/>
            <a:ext cx="3049588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5494020" y="1706670"/>
            <a:ext cx="38877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对同一测量对象，测量仪器精度越高，得到的有效数字位数越多！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30719"/>
          <p:cNvGrpSpPr/>
          <p:nvPr/>
        </p:nvGrpSpPr>
        <p:grpSpPr bwMode="auto">
          <a:xfrm>
            <a:off x="1102995" y="2179745"/>
            <a:ext cx="4171950" cy="895350"/>
            <a:chOff x="1547664" y="2636912"/>
            <a:chExt cx="4690621" cy="954455"/>
          </a:xfrm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1547664" y="2996952"/>
              <a:ext cx="4690621" cy="50405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>
                <a:latin typeface="Times" panose="02020603050405020304" pitchFamily="18" charset="0"/>
              </a:endParaRPr>
            </a:p>
          </p:txBody>
        </p:sp>
        <p:cxnSp>
          <p:nvCxnSpPr>
            <p:cNvPr id="11" name="直接连接符 5"/>
            <p:cNvCxnSpPr>
              <a:cxnSpLocks noChangeShapeType="1"/>
            </p:cNvCxnSpPr>
            <p:nvPr/>
          </p:nvCxnSpPr>
          <p:spPr bwMode="auto">
            <a:xfrm>
              <a:off x="1887980" y="2996952"/>
              <a:ext cx="0" cy="3858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3"/>
            <p:cNvCxnSpPr>
              <a:cxnSpLocks noChangeShapeType="1"/>
            </p:cNvCxnSpPr>
            <p:nvPr/>
          </p:nvCxnSpPr>
          <p:spPr bwMode="auto">
            <a:xfrm>
              <a:off x="2104004" y="3004916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15"/>
            <p:cNvCxnSpPr>
              <a:cxnSpLocks noChangeShapeType="1"/>
            </p:cNvCxnSpPr>
            <p:nvPr/>
          </p:nvCxnSpPr>
          <p:spPr bwMode="auto">
            <a:xfrm>
              <a:off x="2320028" y="3004916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6"/>
            <p:cNvCxnSpPr>
              <a:cxnSpLocks noChangeShapeType="1"/>
            </p:cNvCxnSpPr>
            <p:nvPr/>
          </p:nvCxnSpPr>
          <p:spPr bwMode="auto">
            <a:xfrm>
              <a:off x="2536052" y="3004916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7"/>
            <p:cNvCxnSpPr>
              <a:cxnSpLocks noChangeShapeType="1"/>
            </p:cNvCxnSpPr>
            <p:nvPr/>
          </p:nvCxnSpPr>
          <p:spPr bwMode="auto">
            <a:xfrm>
              <a:off x="2752076" y="3004916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8"/>
            <p:cNvCxnSpPr>
              <a:cxnSpLocks noChangeShapeType="1"/>
            </p:cNvCxnSpPr>
            <p:nvPr/>
          </p:nvCxnSpPr>
          <p:spPr bwMode="auto">
            <a:xfrm>
              <a:off x="4264244" y="3000934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9"/>
            <p:cNvCxnSpPr>
              <a:cxnSpLocks noChangeShapeType="1"/>
            </p:cNvCxnSpPr>
            <p:nvPr/>
          </p:nvCxnSpPr>
          <p:spPr bwMode="auto">
            <a:xfrm>
              <a:off x="4048220" y="3009318"/>
              <a:ext cx="0" cy="37347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20"/>
            <p:cNvCxnSpPr>
              <a:cxnSpLocks noChangeShapeType="1"/>
            </p:cNvCxnSpPr>
            <p:nvPr/>
          </p:nvCxnSpPr>
          <p:spPr bwMode="auto">
            <a:xfrm>
              <a:off x="3832196" y="3000934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21"/>
            <p:cNvCxnSpPr>
              <a:cxnSpLocks noChangeShapeType="1"/>
            </p:cNvCxnSpPr>
            <p:nvPr/>
          </p:nvCxnSpPr>
          <p:spPr bwMode="auto">
            <a:xfrm>
              <a:off x="3400148" y="3000934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22"/>
            <p:cNvCxnSpPr>
              <a:cxnSpLocks noChangeShapeType="1"/>
            </p:cNvCxnSpPr>
            <p:nvPr/>
          </p:nvCxnSpPr>
          <p:spPr bwMode="auto">
            <a:xfrm>
              <a:off x="3184124" y="3000934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23"/>
            <p:cNvCxnSpPr>
              <a:cxnSpLocks noChangeShapeType="1"/>
            </p:cNvCxnSpPr>
            <p:nvPr/>
          </p:nvCxnSpPr>
          <p:spPr bwMode="auto">
            <a:xfrm>
              <a:off x="2968100" y="3004916"/>
              <a:ext cx="0" cy="24406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24"/>
            <p:cNvCxnSpPr>
              <a:cxnSpLocks noChangeShapeType="1"/>
            </p:cNvCxnSpPr>
            <p:nvPr/>
          </p:nvCxnSpPr>
          <p:spPr bwMode="auto">
            <a:xfrm>
              <a:off x="3616172" y="3004916"/>
              <a:ext cx="0" cy="14799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TextBox 26"/>
            <p:cNvSpPr txBox="1">
              <a:spLocks noChangeArrowheads="1"/>
            </p:cNvSpPr>
            <p:nvPr/>
          </p:nvSpPr>
          <p:spPr bwMode="auto">
            <a:xfrm>
              <a:off x="1670526" y="3198125"/>
              <a:ext cx="3016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0</a:t>
              </a:r>
              <a:endParaRPr lang="zh-CN" altLang="en-US" sz="1800"/>
            </a:p>
          </p:txBody>
        </p:sp>
        <p:sp>
          <p:nvSpPr>
            <p:cNvPr id="24" name="TextBox 32"/>
            <p:cNvSpPr txBox="1">
              <a:spLocks noChangeArrowheads="1"/>
            </p:cNvSpPr>
            <p:nvPr/>
          </p:nvSpPr>
          <p:spPr bwMode="auto">
            <a:xfrm>
              <a:off x="3914222" y="3198125"/>
              <a:ext cx="351764" cy="393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1</a:t>
              </a:r>
              <a:endParaRPr lang="zh-CN" altLang="en-US" sz="1800"/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890358" y="2636912"/>
              <a:ext cx="1745596" cy="3604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Times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6027193" y="2456873"/>
            <a:ext cx="995785" cy="498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71870" y="4007657"/>
            <a:ext cx="1124026" cy="498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8.2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73458" y="5447519"/>
            <a:ext cx="1252266" cy="498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8.22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8"/>
          <p:cNvSpPr txBox="1">
            <a:spLocks noChangeArrowheads="1"/>
          </p:cNvSpPr>
          <p:nvPr/>
        </p:nvSpPr>
        <p:spPr bwMode="auto">
          <a:xfrm>
            <a:off x="3327083" y="2698857"/>
            <a:ext cx="492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cm</a:t>
            </a:r>
            <a:endParaRPr lang="zh-CN" altLang="en-US" sz="180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6" b="3722"/>
          <a:stretch>
            <a:fillRect/>
          </a:stretch>
        </p:blipFill>
        <p:spPr bwMode="auto">
          <a:xfrm>
            <a:off x="1522095" y="3335445"/>
            <a:ext cx="28416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三、有效数字的运算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32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 animBg="1"/>
      <p:bldP spid="27" grpId="1" bldLvl="0" animBg="1"/>
      <p:bldP spid="28" grpId="0" bldLvl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1333500" y="1905682"/>
            <a:ext cx="6211888" cy="323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记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7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光速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=30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万公里每秒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7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也可以</a:t>
            </a:r>
            <a:r>
              <a:rPr lang="zh-CN" altLang="en-US" sz="2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写成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=3.0×10</a:t>
            </a:r>
            <a:r>
              <a:rPr lang="en-US" altLang="zh-CN" sz="2400" baseline="30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km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/s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=3.0×10</a:t>
            </a:r>
            <a:r>
              <a:rPr lang="en-US" altLang="zh-CN" sz="2400" baseline="30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/s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7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例：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电子电量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lang="en-US" altLang="zh-CN" sz="2400" i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= 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1.602176634×10</a:t>
            </a:r>
            <a:r>
              <a:rPr lang="en-US" altLang="zh-CN" sz="2400" b="1" baseline="30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-19 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3"/>
          <p:cNvGraphicFramePr>
            <a:graphicFrameLocks noChangeAspect="1"/>
          </p:cNvGraphicFramePr>
          <p:nvPr/>
        </p:nvGraphicFramePr>
        <p:xfrm>
          <a:off x="2012123" y="2008750"/>
          <a:ext cx="397986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24" name="" r:id="rId1" imgW="1359535" imgH="215900" progId="Equation.3">
                  <p:embed/>
                </p:oleObj>
              </mc:Choice>
              <mc:Fallback>
                <p:oleObj name="" r:id="rId1" imgW="1359535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123" y="2008750"/>
                        <a:ext cx="3979863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6992" y="1031155"/>
            <a:ext cx="2899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、科学计数法</a:t>
            </a:r>
            <a:endParaRPr lang="zh-CN" altLang="en-US" sz="2800" b="1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三、有效数字的运算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advTm="80126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204721" y="823629"/>
            <a:ext cx="6684963" cy="7921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altLang="zh-CN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zh-CN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尾数舍入规则</a:t>
            </a:r>
            <a:r>
              <a:rPr lang="zh-CN" altLang="en-US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舍六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入五凑偶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3"/>
          <p:cNvSpPr txBox="1">
            <a:spLocks noRot="1" noChangeArrowheads="1"/>
          </p:cNvSpPr>
          <p:nvPr/>
        </p:nvSpPr>
        <p:spPr bwMode="auto">
          <a:xfrm>
            <a:off x="549129" y="4809057"/>
            <a:ext cx="10462092" cy="33512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例：将下列数据保留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位有效数字：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0.050849—5.08×10</a:t>
            </a:r>
            <a:r>
              <a:rPr lang="en-US" altLang="zh-CN" sz="2400" b="1" baseline="30000">
                <a:latin typeface="微软雅黑" panose="020B0503020204020204" charset="-122"/>
                <a:ea typeface="微软雅黑" panose="020B0503020204020204" charset="-122"/>
              </a:rPr>
              <a:t>-2        </a:t>
            </a:r>
            <a:r>
              <a:rPr lang="en-US" altLang="zh-CN" sz="2400" b="1" baseline="30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6.2050 —6.20                  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780.51 —781                   780.499—780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defRPr/>
            </a:pP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-1" y="1508656"/>
            <a:ext cx="12504671" cy="325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zh-CN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５则舍去，保留数字不变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lang="zh-CN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５则进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，保留数字的末位数字加１</a:t>
            </a:r>
            <a:r>
              <a:rPr lang="zh-CN" altLang="en-US" sz="2400" dirty="0">
                <a:solidFill>
                  <a:srgbClr val="0066FF"/>
                </a:solidFill>
              </a:rPr>
              <a:t>；</a:t>
            </a:r>
            <a:endParaRPr lang="en-US" altLang="zh-CN" sz="2400" dirty="0">
              <a:solidFill>
                <a:srgbClr val="0066FF"/>
              </a:solidFill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５，且其后有非０数字时进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，保留数字的末位数字加１；</a:t>
            </a:r>
            <a:endParaRPr lang="en-US" altLang="zh-CN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５，且其后无数字或皆为０时，若所保留的末位数字为奇数则进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，若所保留的末位数字为偶数则舍去。</a:t>
            </a:r>
            <a:endParaRPr lang="zh-CN" altLang="en-US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23697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三、有效数字的运算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advTm="80126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66992" y="1891335"/>
            <a:ext cx="5919574" cy="3894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67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四条总原则：</a:t>
            </a:r>
            <a:endParaRPr lang="en-US" altLang="zh-CN" sz="28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）准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※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准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准 </a:t>
            </a:r>
            <a:endParaRPr lang="en-US" altLang="zh-CN" sz="28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）准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※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  <a:endParaRPr lang="en-US" altLang="zh-CN" sz="28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）可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※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  <a:endParaRPr lang="en-US" altLang="zh-CN" sz="28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）进位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准</a:t>
            </a:r>
            <a:endParaRPr lang="en-US" altLang="zh-CN" sz="28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注：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 ※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代表四则运算</a:t>
            </a:r>
            <a:endParaRPr lang="zh-CN" altLang="en-US" sz="28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204721" y="823629"/>
            <a:ext cx="6684963" cy="7921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altLang="zh-CN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、运算规则：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699857" y="1067151"/>
            <a:ext cx="8229600" cy="11430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latin typeface="微软雅黑" panose="020B0503020204020204" charset="-122"/>
                <a:ea typeface="微软雅黑" panose="020B0503020204020204" charset="-122"/>
              </a:rPr>
              <a:t>加减法：</a:t>
            </a:r>
            <a:endParaRPr lang="zh-CN" altLang="en-US" sz="2800" b="1" kern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4242782" y="5367688"/>
            <a:ext cx="72866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关键：结果中最高位可疑数字位置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:   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向左看齐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对象 4"/>
          <p:cNvGraphicFramePr>
            <a:graphicFrameLocks noChangeAspect="1"/>
          </p:cNvGraphicFramePr>
          <p:nvPr/>
        </p:nvGraphicFramePr>
        <p:xfrm>
          <a:off x="3957032" y="2010126"/>
          <a:ext cx="2714625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24" name="" r:id="rId1" imgW="571500" imgH="685800" progId="Equation.DSMT4">
                  <p:embed/>
                </p:oleObj>
              </mc:Choice>
              <mc:Fallback>
                <p:oleObj name="" r:id="rId1" imgW="571500" imgH="685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032" y="2010126"/>
                        <a:ext cx="2714625" cy="27146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7171720" y="2432401"/>
            <a:ext cx="40927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原始数据最后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位为可疑数字</a:t>
            </a:r>
            <a:endParaRPr lang="zh-CN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7397048" y="4403886"/>
            <a:ext cx="3164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结果保留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位可疑数字</a:t>
            </a:r>
            <a:endParaRPr lang="zh-CN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" name="对象 3"/>
          <p:cNvGraphicFramePr>
            <a:graphicFrameLocks noChangeAspect="1"/>
          </p:cNvGraphicFramePr>
          <p:nvPr/>
        </p:nvGraphicFramePr>
        <p:xfrm>
          <a:off x="6816725" y="3433763"/>
          <a:ext cx="54625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638935" imgH="228600" progId="Equation.3">
                  <p:embed/>
                </p:oleObj>
              </mc:Choice>
              <mc:Fallback>
                <p:oleObj name="" r:id="rId3" imgW="1638935" imgH="2286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3433763"/>
                        <a:ext cx="546258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三、有效数字的运算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advTm="80126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2"/>
          <p:cNvGraphicFramePr>
            <a:graphicFrameLocks noChangeAspect="1"/>
          </p:cNvGraphicFramePr>
          <p:nvPr/>
        </p:nvGraphicFramePr>
        <p:xfrm>
          <a:off x="1298575" y="2044700"/>
          <a:ext cx="2417763" cy="327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24" name="" r:id="rId1" imgW="673100" imgH="1193800" progId="Equation.DSMT4">
                  <p:embed/>
                </p:oleObj>
              </mc:Choice>
              <mc:Fallback>
                <p:oleObj name="" r:id="rId1" imgW="673100" imgH="1193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2044700"/>
                        <a:ext cx="2417763" cy="32734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39917" y="5685943"/>
            <a:ext cx="52863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关键：结果中最高位可疑数字位数</a:t>
            </a:r>
            <a:endParaRPr lang="en-US" altLang="zh-CN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方法：向少看齐 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583042" y="2256943"/>
            <a:ext cx="40927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原始数据最后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位为可疑数字</a:t>
            </a:r>
            <a:endParaRPr lang="zh-CN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692901" y="4730417"/>
            <a:ext cx="3164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结果保留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位可疑数字</a:t>
            </a:r>
            <a:endParaRPr lang="zh-CN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446229" y="1251039"/>
            <a:ext cx="8229600" cy="11430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latin typeface="微软雅黑" panose="020B0503020204020204" charset="-122"/>
                <a:ea typeface="微软雅黑" panose="020B0503020204020204" charset="-122"/>
              </a:rPr>
              <a:t>乘除法：</a:t>
            </a:r>
            <a:endParaRPr lang="zh-CN" altLang="en-US" sz="2800" b="1" kern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对象 4"/>
              <p:cNvSpPr txBox="1"/>
              <p:nvPr/>
            </p:nvSpPr>
            <p:spPr bwMode="auto">
              <a:xfrm>
                <a:off x="4561028" y="3193447"/>
                <a:ext cx="7485197" cy="12705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4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123</m:t>
                      </m:r>
                      <m:r>
                        <a:rPr lang="zh-CN" altLang="en-US" sz="4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4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45</m:t>
                      </m:r>
                      <m:r>
                        <a:rPr lang="zh-CN" altLang="en-US" sz="4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4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sz="4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ctrlPr>
                            <a:rPr lang="zh-CN" altLang="en-US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4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bar>
                      <m:r>
                        <a:rPr lang="zh-CN" altLang="en-US" sz="4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4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4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4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4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1028" y="3193447"/>
                <a:ext cx="7485197" cy="1270516"/>
              </a:xfrm>
              <a:prstGeom prst="rect">
                <a:avLst/>
              </a:prstGeom>
              <a:blipFill rotWithShape="1">
                <a:blip r:embed="rId3"/>
                <a:stretch>
                  <a:fillRect l="-6" t="-3" r="4" b="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三、有效数字的运算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advTm="80126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1262461" y="1041455"/>
            <a:ext cx="4729163" cy="79057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乘方、开方</a:t>
            </a:r>
            <a:endParaRPr lang="en-US" altLang="zh-CN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8"/>
          <p:cNvSpPr txBox="1">
            <a:spLocks noChangeArrowheads="1"/>
          </p:cNvSpPr>
          <p:nvPr/>
        </p:nvSpPr>
        <p:spPr bwMode="auto">
          <a:xfrm>
            <a:off x="2992119" y="1260535"/>
            <a:ext cx="39544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有效数字位数与底数的相同</a:t>
            </a:r>
            <a:endParaRPr kumimoji="1"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119" y="2083239"/>
            <a:ext cx="3219907" cy="58227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655" y="2083239"/>
            <a:ext cx="3290478" cy="5192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5117" y="3021148"/>
            <a:ext cx="10773015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0066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对数函数、指数函数和三角函数可在其存疑位增加</a:t>
            </a:r>
            <a:r>
              <a:rPr lang="en-US" altLang="zh-CN" sz="2400" b="1" kern="100" dirty="0">
                <a:solidFill>
                  <a:srgbClr val="0066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zh-CN" sz="2400" b="1" kern="100" dirty="0">
                <a:solidFill>
                  <a:srgbClr val="0066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和减少</a:t>
            </a:r>
            <a:r>
              <a:rPr lang="en-US" altLang="zh-CN" sz="2400" b="1" kern="100" dirty="0">
                <a:solidFill>
                  <a:srgbClr val="0066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zh-CN" sz="2400" b="1" kern="100" dirty="0">
                <a:solidFill>
                  <a:srgbClr val="0066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来计算其值，根据其数据的变化确定它的有效数字的位数</a:t>
            </a:r>
            <a:r>
              <a:rPr lang="en-US" altLang="zh-CN" sz="2400" b="1" kern="100" dirty="0">
                <a:solidFill>
                  <a:srgbClr val="0066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. </a:t>
            </a:r>
            <a:endParaRPr lang="zh-CN" altLang="en-US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9930" y="4288028"/>
            <a:ext cx="10423391" cy="1769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ln47.23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存疑位为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0.01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ln47.24=3.855</a:t>
            </a:r>
            <a:r>
              <a:rPr lang="en-US" altLang="zh-CN" sz="2400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ln47.23=3.855</a:t>
            </a:r>
            <a:r>
              <a:rPr lang="en-US" altLang="zh-CN" sz="2400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ln47.22=3.854</a:t>
            </a:r>
            <a:r>
              <a:rPr lang="en-US" altLang="zh-CN" sz="2400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结果从万分位开始变化，因此结果应为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ln47.23=3.8550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三、有效数字的运算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6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9"/>
          <p:cNvSpPr txBox="1">
            <a:spLocks noChangeArrowheads="1"/>
          </p:cNvSpPr>
          <p:nvPr/>
        </p:nvSpPr>
        <p:spPr bwMode="auto">
          <a:xfrm>
            <a:off x="5910211" y="2169923"/>
            <a:ext cx="21355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取成</a:t>
            </a:r>
            <a:r>
              <a:rPr lang="en-US" altLang="zh-CN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1.983</a:t>
            </a:r>
            <a:endParaRPr lang="zh-CN" altLang="en-US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964842" y="1097280"/>
            <a:ext cx="4729163" cy="7921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指数函数</a:t>
            </a:r>
            <a:endParaRPr lang="en-US" altLang="zh-CN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2372341" y="1324187"/>
            <a:ext cx="3878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与指数小数点后的位数相同</a:t>
            </a:r>
            <a:endParaRPr kumimoji="1"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047" y="2219124"/>
            <a:ext cx="3926164" cy="585267"/>
          </a:xfrm>
          <a:prstGeom prst="rect">
            <a:avLst/>
          </a:prstGeom>
        </p:spPr>
      </p:pic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807540" y="3429000"/>
            <a:ext cx="4729163" cy="7921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三角函数</a:t>
            </a:r>
            <a:endParaRPr lang="en-US" altLang="zh-CN" sz="24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2149505" y="3629281"/>
            <a:ext cx="3263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与角度的有效位数相同</a:t>
            </a:r>
            <a:endParaRPr kumimoji="1"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7"/>
          <p:cNvSpPr txBox="1">
            <a:spLocks noChangeArrowheads="1"/>
          </p:cNvSpPr>
          <p:nvPr/>
        </p:nvSpPr>
        <p:spPr>
          <a:xfrm>
            <a:off x="640052" y="5775432"/>
            <a:ext cx="8686800" cy="7921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数学和物理学常数不列入有效数字运算法则</a:t>
            </a:r>
            <a:endParaRPr lang="en-US" altLang="zh-CN" sz="32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781455" y="4845771"/>
                <a:ext cx="563747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33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</m:func>
                  </m:oMath>
                </a14:m>
                <a:r>
                  <a:rPr lang="en-US" altLang="zh-CN" sz="3200"/>
                  <a:t>=</a:t>
                </a:r>
                <a:r>
                  <a:rPr lang="en-US" altLang="zh-CN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0.7139</a:t>
                </a:r>
                <a:endParaRPr lang="zh-CN" altLang="en-US" sz="3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455" y="4845771"/>
                <a:ext cx="5637473" cy="584775"/>
              </a:xfrm>
              <a:prstGeom prst="rect">
                <a:avLst/>
              </a:prstGeom>
              <a:blipFill rotWithShape="1">
                <a:blip r:embed="rId2"/>
                <a:stretch>
                  <a:fillRect l="-1" t="-15" r="1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三、有效数字的运算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165215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801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23697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四、测量结果的书写规则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335874" name="TextBox 11"/>
          <p:cNvSpPr txBox="1">
            <a:spLocks noChangeArrowheads="1"/>
          </p:cNvSpPr>
          <p:nvPr/>
        </p:nvSpPr>
        <p:spPr bwMode="auto">
          <a:xfrm>
            <a:off x="2163445" y="1823720"/>
            <a:ext cx="7855585" cy="4276725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</a:ln>
        </p:spPr>
        <p:txBody>
          <a:bodyPr wrap="square">
            <a:spAutoFit/>
          </a:bodyPr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chemeClr val="tx1"/>
                </a:solidFill>
              </a:rPr>
              <a:t>不确定度保留</a:t>
            </a:r>
            <a:r>
              <a:rPr lang="en-US" altLang="zh-CN" sz="2400" b="1">
                <a:solidFill>
                  <a:schemeClr val="tx1"/>
                </a:solidFill>
              </a:rPr>
              <a:t>1~2</a:t>
            </a:r>
            <a:r>
              <a:rPr lang="zh-CN" altLang="en-US" sz="2400" b="1">
                <a:solidFill>
                  <a:schemeClr val="tx1"/>
                </a:solidFill>
              </a:rPr>
              <a:t>位有效数字，</a:t>
            </a:r>
            <a:r>
              <a:rPr lang="zh-CN" altLang="en-US" sz="2400" b="1">
                <a:solidFill>
                  <a:srgbClr val="FF0000"/>
                </a:solidFill>
              </a:rPr>
              <a:t>多余尾数只入不舍</a:t>
            </a:r>
            <a:endParaRPr lang="en-US" altLang="zh-CN" sz="2400" b="1">
              <a:solidFill>
                <a:srgbClr val="FF0000"/>
              </a:solidFill>
            </a:endParaRP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chemeClr val="tx1"/>
                </a:solidFill>
              </a:rPr>
              <a:t>相对不确定度保留</a:t>
            </a:r>
            <a:r>
              <a:rPr lang="en-US" altLang="zh-CN" sz="2400" b="1">
                <a:solidFill>
                  <a:schemeClr val="tx1"/>
                </a:solidFill>
              </a:rPr>
              <a:t>2</a:t>
            </a:r>
            <a:r>
              <a:rPr lang="zh-CN" altLang="en-US" sz="2400" b="1">
                <a:solidFill>
                  <a:schemeClr val="tx1"/>
                </a:solidFill>
              </a:rPr>
              <a:t>位有效数字，</a:t>
            </a:r>
            <a:r>
              <a:rPr lang="zh-CN" altLang="en-US" sz="2400" b="1">
                <a:solidFill>
                  <a:srgbClr val="FF0000"/>
                </a:solidFill>
              </a:rPr>
              <a:t>多余尾数只入不舍</a:t>
            </a:r>
            <a:endParaRPr lang="en-US" altLang="zh-CN" sz="2400" b="1">
              <a:solidFill>
                <a:srgbClr val="FF0000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chemeClr val="tx1"/>
                </a:solidFill>
              </a:rPr>
              <a:t> 算术平均值的最后一位有效数字和不确定度的最后一 位有效数字的数位要一致，</a:t>
            </a:r>
            <a:r>
              <a:rPr lang="zh-CN" altLang="en-US" sz="2400" b="1">
                <a:solidFill>
                  <a:srgbClr val="FF0000"/>
                </a:solidFill>
              </a:rPr>
              <a:t>多余尾数按</a:t>
            </a:r>
            <a:r>
              <a:rPr lang="en-US" altLang="zh-CN" sz="2400" b="1">
                <a:solidFill>
                  <a:srgbClr val="FF0000"/>
                </a:solidFill>
              </a:rPr>
              <a:t>4</a:t>
            </a:r>
            <a:r>
              <a:rPr lang="zh-CN" altLang="en-US" sz="2400" b="1">
                <a:solidFill>
                  <a:srgbClr val="FF0000"/>
                </a:solidFill>
              </a:rPr>
              <a:t>舍</a:t>
            </a:r>
            <a:r>
              <a:rPr lang="en-US" altLang="zh-CN" sz="2400" b="1">
                <a:solidFill>
                  <a:srgbClr val="FF0000"/>
                </a:solidFill>
              </a:rPr>
              <a:t>6</a:t>
            </a:r>
            <a:r>
              <a:rPr lang="zh-CN" altLang="en-US" sz="2400" b="1">
                <a:solidFill>
                  <a:srgbClr val="FF0000"/>
                </a:solidFill>
              </a:rPr>
              <a:t>入</a:t>
            </a:r>
            <a:r>
              <a:rPr lang="en-US" altLang="zh-CN" sz="2400" b="1">
                <a:solidFill>
                  <a:srgbClr val="FF0000"/>
                </a:solidFill>
              </a:rPr>
              <a:t>5</a:t>
            </a:r>
            <a:r>
              <a:rPr lang="zh-CN" altLang="en-US" sz="2400" b="1">
                <a:solidFill>
                  <a:srgbClr val="FF0000"/>
                </a:solidFill>
              </a:rPr>
              <a:t>凑偶</a:t>
            </a:r>
            <a:endParaRPr lang="en-US" altLang="zh-CN" sz="2400" b="1">
              <a:solidFill>
                <a:srgbClr val="FF0000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chemeClr val="tx1"/>
                </a:solidFill>
              </a:rPr>
              <a:t> 完整表达式使用科学记数时，算术平均值与不确定度都需要使用科学记数，且它们的数量级部分幂指数要统一并提到括号外面书写。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Tm="80126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01290" y="1738196"/>
                <a:ext cx="6170278" cy="3441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1600"/>
                  </a:lnSpc>
                </a:pPr>
                <a:r>
                  <a:rPr lang="zh-CN" altLang="zh-CN" sz="2400" b="1" kern="10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标准不确定度</a:t>
                </a:r>
                <a14:m>
                  <m:oMath xmlns:m="http://schemas.openxmlformats.org/officeDocument/2006/math">
                    <m:r>
                      <a:rPr lang="zh-CN" altLang="en-US" sz="2400" b="1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：</m:t>
                    </m:r>
                    <m:r>
                      <a:rPr lang="en-US" altLang="zh-CN" sz="2400" b="1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zh-CN" altLang="en-US" sz="24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0" y="1738196"/>
                <a:ext cx="6170278" cy="344197"/>
              </a:xfrm>
              <a:prstGeom prst="rect">
                <a:avLst/>
              </a:prstGeom>
              <a:blipFill rotWithShape="1">
                <a:blip r:embed="rId1"/>
                <a:stretch>
                  <a:fillRect l="-9" t="-41568" r="9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601290" y="2076434"/>
                <a:ext cx="8656063" cy="13232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400" b="1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扩展不确定度</a:t>
                </a:r>
                <a:r>
                  <a:rPr lang="zh-CN" altLang="en-US" sz="2400" b="1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2400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 kern="105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CN" sz="2400" i="1" kern="105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5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 kern="105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±</m:t>
                    </m:r>
                    <m:sSub>
                      <m:sSubPr>
                        <m:ctrlPr>
                          <a:rPr lang="zh-CN" altLang="zh-CN" sz="2400" i="1" kern="10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5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 kern="105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zh-CN" sz="2400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　</a:t>
                </a:r>
                <a:r>
                  <a:rPr lang="en-US" altLang="zh-CN" sz="2400" i="1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400" kern="105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=0.95/0.99	</a:t>
                </a:r>
                <a:endParaRPr lang="en-US" altLang="zh-CN" sz="2400" kern="1050"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</a:pPr>
                <a:r>
                  <a:rPr lang="zh-CN" altLang="zh-CN" sz="2400" b="1" kern="105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相对</a:t>
                </a:r>
                <a:r>
                  <a:rPr lang="zh-CN" altLang="zh-CN" sz="2400" b="1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不确定度</a:t>
                </a:r>
                <a:r>
                  <a:rPr lang="zh-CN" altLang="en-US" sz="2400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2400" kern="1050" dirty="0"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5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 kern="105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𝑟𝑃</m:t>
                        </m:r>
                      </m:sub>
                    </m:sSub>
                    <m:r>
                      <a:rPr lang="en-US" altLang="zh-CN" sz="2400" i="1" kern="105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5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 kern="105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 kern="10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5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 kern="105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kern="105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 kern="105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400" i="1" kern="105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100</m:t>
                    </m:r>
                    <m:r>
                      <a:rPr lang="en-US" altLang="zh-CN" sz="2400" i="1" kern="105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endParaRPr lang="zh-CN" altLang="en-US" sz="24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0" y="2076434"/>
                <a:ext cx="8656063" cy="1323247"/>
              </a:xfrm>
              <a:prstGeom prst="rect">
                <a:avLst/>
              </a:prstGeom>
              <a:blipFill rotWithShape="1">
                <a:blip r:embed="rId2"/>
                <a:stretch>
                  <a:fillRect l="-7" t="-47" r="4" b="-5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78599" y="4474853"/>
                <a:ext cx="10363826" cy="2106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ct val="150000"/>
                  </a:lnSpc>
                  <a:spcBef>
                    <a:spcPts val="150"/>
                  </a:spcBef>
                  <a:spcAft>
                    <a:spcPts val="150"/>
                  </a:spcAft>
                  <a:tabLst>
                    <a:tab pos="2654300" algn="ctr"/>
                    <a:tab pos="5175885" algn="r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d>
                      <m:dPr>
                        <m:ctrlPr>
                          <a:rPr lang="zh-CN" altLang="zh-C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d>
                  </m:oMath>
                </a14:m>
                <a:r>
                  <a:rPr lang="zh-CN" altLang="en-US" sz="28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、</a:t>
                </a:r>
                <a:r>
                  <a:rPr lang="zh-CN" altLang="zh-CN" sz="2800" b="1" kern="105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5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5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sz="2800" b="1" i="1" kern="105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zh-CN" altLang="en-US" sz="28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取</a:t>
                </a:r>
                <a:r>
                  <a:rPr lang="en-US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～</a:t>
                </a:r>
                <a:r>
                  <a:rPr lang="en-US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位有效数字，多余的数位按照</a:t>
                </a:r>
                <a:r>
                  <a:rPr lang="en-US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只入不舍</a:t>
                </a:r>
                <a:r>
                  <a:rPr lang="en-US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”</a:t>
                </a:r>
                <a:endParaRPr lang="en-US" altLang="zh-CN" sz="2400" b="1" kern="1050" dirty="0">
                  <a:solidFill>
                    <a:srgbClr val="0066FF"/>
                  </a:solidFill>
                  <a:effectLst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ct val="150000"/>
                  </a:lnSpc>
                  <a:spcBef>
                    <a:spcPts val="150"/>
                  </a:spcBef>
                  <a:spcAft>
                    <a:spcPts val="150"/>
                  </a:spcAft>
                  <a:tabLst>
                    <a:tab pos="2654300" algn="ctr"/>
                    <a:tab pos="5175885" algn="r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50" smtClean="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5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zh-CN" sz="2800" b="1" i="1" kern="105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𝒓𝑷</m:t>
                        </m:r>
                      </m:sub>
                    </m:sSub>
                    <m:r>
                      <a:rPr lang="en-US" altLang="zh-CN" sz="2800" b="1" i="1" kern="105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b="1" i="1" kern="105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𝒑</m:t>
                    </m:r>
                    <m:r>
                      <a:rPr lang="en-US" altLang="zh-CN" sz="2800" b="1" i="1" kern="1050">
                        <a:solidFill>
                          <a:srgbClr val="0066FF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2800" b="1" i="1" kern="105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r>
                  <a:rPr lang="zh-CN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取</a:t>
                </a:r>
                <a:r>
                  <a:rPr lang="en-US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位有效数字</a:t>
                </a:r>
                <a:r>
                  <a:rPr lang="en-US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en-US" altLang="zh-CN" sz="2400" b="1" kern="100" dirty="0">
                  <a:solidFill>
                    <a:srgbClr val="0066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ct val="150000"/>
                  </a:lnSpc>
                  <a:spcBef>
                    <a:spcPts val="150"/>
                  </a:spcBef>
                  <a:spcAft>
                    <a:spcPts val="150"/>
                  </a:spcAft>
                  <a:tabLst>
                    <a:tab pos="2654300" algn="ctr"/>
                    <a:tab pos="5175885" algn="r"/>
                  </a:tabLs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800" b="1" i="1" kern="1050" smtClean="0">
                            <a:solidFill>
                              <a:srgbClr val="0066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kern="105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acc>
                  </m:oMath>
                </a14:m>
                <a:r>
                  <a:rPr lang="zh-CN" altLang="en-US" sz="28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400" b="1" kern="105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与</a:t>
                </a:r>
                <a:r>
                  <a:rPr lang="zh-CN" altLang="zh-CN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不确定度末位</a:t>
                </a:r>
                <a:r>
                  <a:rPr lang="zh-CN" altLang="en-US" sz="2400" b="1" kern="105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对齐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 </a:t>
                </a:r>
                <a:r>
                  <a:rPr lang="en-US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400" b="1" kern="100" dirty="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四舍六</a:t>
                </a:r>
                <a:r>
                  <a:rPr lang="zh-CN" altLang="zh-CN" sz="2400" b="1" kern="10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入五</a:t>
                </a:r>
                <a:r>
                  <a:rPr lang="zh-CN" altLang="en-US" sz="2400" b="1" kern="10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凑偶</a:t>
                </a:r>
                <a:r>
                  <a:rPr lang="en-US" altLang="zh-CN" sz="2400" b="1" kern="100">
                    <a:solidFill>
                      <a:srgbClr val="0066FF"/>
                    </a:solidFill>
                    <a:effectLst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”</a:t>
                </a:r>
                <a:endPara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99" y="4474853"/>
                <a:ext cx="10363826" cy="2106930"/>
              </a:xfrm>
              <a:prstGeom prst="rect">
                <a:avLst/>
              </a:prstGeom>
              <a:blipFill rotWithShape="1">
                <a:blip r:embed="rId3"/>
                <a:stretch>
                  <a:fillRect l="-1"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215500" y="90826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结果表示形式</a:t>
            </a:r>
            <a:endParaRPr lang="zh-CN" altLang="en-US" sz="28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5500" y="3737919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charset="-122"/>
                <a:ea typeface="微软雅黑" panose="020B0503020204020204" charset="-122"/>
              </a:rPr>
              <a:t>有效数字位取舍原则</a:t>
            </a:r>
            <a:endParaRPr lang="zh-CN" altLang="en-US" sz="2800" b="1" dirty="0">
              <a:solidFill>
                <a:srgbClr val="006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263525" y="623697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marL="0" algn="ctr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4F84A9E-535E-4D77-B984-2902395B35AE}" type="slidenum">
              <a:rPr lang="zh-CN" altLang="en-US" smtClean="0"/>
            </a:fld>
            <a:endParaRPr lang="zh-CN" altLang="en-US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082925" y="214313"/>
            <a:ext cx="551338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四、测量结果的书写规则</a:t>
            </a:r>
            <a:endParaRPr lang="zh-CN" altLang="en-US" sz="3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advTm="80126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92C0BD-8685-42AE-A7CF-569ADDB51AB3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26933" y="2564448"/>
            <a:ext cx="8215312" cy="35998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/>
              <a:t> 第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）、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）、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6</a:t>
            </a:r>
            <a:r>
              <a:rPr lang="zh-CN" altLang="en-US" sz="2800" b="1" dirty="0" smtClean="0"/>
              <a:t>。</a:t>
            </a:r>
            <a:endParaRPr lang="en-US" altLang="zh-CN" sz="32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/>
              <a:t>第二周实验</a:t>
            </a:r>
            <a:r>
              <a:rPr lang="zh-CN" altLang="en-US" sz="2800" b="1" dirty="0" smtClean="0"/>
              <a:t>在</a:t>
            </a:r>
            <a:r>
              <a:rPr lang="en-US" altLang="zh-CN" sz="2800" b="1" dirty="0" smtClean="0"/>
              <a:t>DS1321</a:t>
            </a:r>
            <a:r>
              <a:rPr lang="zh-CN" altLang="en-US" sz="2800" b="1" dirty="0" smtClean="0"/>
              <a:t>室</a:t>
            </a:r>
            <a:r>
              <a:rPr lang="zh-CN" altLang="en-US" sz="2800" b="1" dirty="0"/>
              <a:t>，下去</a:t>
            </a:r>
            <a:r>
              <a:rPr lang="zh-CN" altLang="en-US" sz="2800" b="1" dirty="0" smtClean="0"/>
              <a:t>预习</a:t>
            </a:r>
            <a:r>
              <a:rPr lang="en-US" sz="2800" b="1" dirty="0" smtClean="0"/>
              <a:t>7.1</a:t>
            </a:r>
            <a:r>
              <a:rPr lang="zh-CN" altLang="en-US" sz="2800" b="1" dirty="0" smtClean="0"/>
              <a:t>密立根油</a:t>
            </a:r>
            <a:endParaRPr lang="zh-CN" altLang="en-US" sz="2800" b="1" dirty="0" smtClean="0"/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/>
              <a:t>   </a:t>
            </a:r>
            <a:r>
              <a:rPr lang="zh-CN" altLang="en-US" sz="2800" b="1" dirty="0" smtClean="0"/>
              <a:t>滴法测基本电荷。</a:t>
            </a:r>
            <a:endParaRPr lang="zh-CN" altLang="en-US" sz="2800" b="1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/>
              <a:t>第二周上课前交本周作业</a:t>
            </a:r>
            <a:r>
              <a:rPr lang="zh-CN" altLang="en-US" sz="2800" b="1" dirty="0" smtClean="0"/>
              <a:t>，下周检查</a:t>
            </a:r>
            <a:r>
              <a:rPr lang="zh-CN" altLang="en-US" sz="2800" b="1" dirty="0"/>
              <a:t>预习报告。</a:t>
            </a:r>
            <a:endParaRPr lang="zh-CN" altLang="en-US" sz="2800" b="1" dirty="0"/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endParaRPr lang="en-US" altLang="zh-CN" sz="3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42019" name="矩形 4"/>
          <p:cNvSpPr>
            <a:spLocks noChangeArrowheads="1"/>
          </p:cNvSpPr>
          <p:nvPr/>
        </p:nvSpPr>
        <p:spPr bwMode="auto">
          <a:xfrm>
            <a:off x="4238625" y="857250"/>
            <a:ext cx="3469005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</a:rPr>
              <a:t>作业：</a:t>
            </a:r>
            <a:r>
              <a:rPr lang="zh-CN" altLang="en-US" sz="3200" b="1" dirty="0" smtClean="0">
                <a:solidFill>
                  <a:schemeClr val="tx1"/>
                </a:solidFill>
              </a:rPr>
              <a:t>练习题 </a:t>
            </a:r>
            <a:r>
              <a:rPr lang="en-US" altLang="zh-CN" sz="3200" b="1" dirty="0" smtClean="0">
                <a:solidFill>
                  <a:schemeClr val="tx1"/>
                </a:solidFill>
              </a:rPr>
              <a:t>P36</a:t>
            </a:r>
            <a:endParaRPr lang="en-US" altLang="zh-CN" sz="32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6"/>
          <p:cNvSpPr txBox="1">
            <a:spLocks noChangeArrowheads="1"/>
          </p:cNvSpPr>
          <p:nvPr/>
        </p:nvSpPr>
        <p:spPr bwMode="gray">
          <a:xfrm>
            <a:off x="3329759" y="3505196"/>
            <a:ext cx="6064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800"/>
              </a:spcBef>
              <a:buFont typeface="Arial" panose="020B0604020202020204" pitchFamily="34" charset="0"/>
              <a:defRPr sz="1600" b="1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2pPr>
            <a:lvl3pPr marL="11430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3pPr>
            <a:lvl4pPr marL="16002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4pPr>
            <a:lvl5pPr marL="20574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</a:t>
            </a:r>
            <a:endParaRPr kumimoji="0" lang="en-US" altLang="zh-CN" sz="24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title"/>
          </p:nvPr>
        </p:nvSpPr>
        <p:spPr>
          <a:xfrm>
            <a:off x="2238348" y="2209795"/>
            <a:ext cx="8286808" cy="504825"/>
          </a:xfrm>
        </p:spPr>
        <p:txBody>
          <a:bodyPr/>
          <a:lstStyle/>
          <a:p>
            <a:pPr marL="342900" indent="-342900" algn="l"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原理清楚，公式正确，图形正确，文字说明齐全</a:t>
            </a:r>
            <a:r>
              <a:rPr lang="en-US" altLang="zh-CN" sz="2800" b="1" dirty="0" smtClean="0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68" name="Text Box 14"/>
          <p:cNvSpPr txBox="1">
            <a:spLocks noChangeArrowheads="1"/>
          </p:cNvSpPr>
          <p:nvPr/>
        </p:nvSpPr>
        <p:spPr bwMode="gray">
          <a:xfrm>
            <a:off x="3466284" y="2628896"/>
            <a:ext cx="3524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800"/>
              </a:spcBef>
              <a:buFont typeface="Arial" panose="020B0604020202020204" pitchFamily="34" charset="0"/>
              <a:defRPr sz="1600" b="1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2pPr>
            <a:lvl3pPr marL="11430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3pPr>
            <a:lvl4pPr marL="16002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4pPr>
            <a:lvl5pPr marL="20574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0" lang="en-US" altLang="zh-CN" sz="24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 bwMode="auto">
          <a:xfrm>
            <a:off x="2309786" y="2995613"/>
            <a:ext cx="821537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9pPr>
          </a:lstStyle>
          <a:p>
            <a:pPr marL="342900" indent="-342900" algn="l"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数据记录表格正确，数据规范，数据有单位</a:t>
            </a:r>
            <a:r>
              <a:rPr lang="en-US" altLang="zh-CN" sz="2800" b="1" dirty="0" smtClean="0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2309786" y="3852869"/>
            <a:ext cx="6024661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9pPr>
          </a:lstStyle>
          <a:p>
            <a:pPr marL="342900" indent="-342900" algn="l"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实验步骤清楚，关键步骤描述正确</a:t>
            </a:r>
            <a:r>
              <a:rPr lang="en-US" altLang="zh-CN" sz="2800" b="1" dirty="0" smtClean="0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2309786" y="4995877"/>
            <a:ext cx="785818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/>
              </a:defRPr>
            </a:lvl9pPr>
          </a:lstStyle>
          <a:p>
            <a:pPr marL="342900" indent="-342900" algn="l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数据处理过程详细，公式数据带入正确，用完整表达式表示测量结果。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3167042" y="357166"/>
            <a:ext cx="605282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800"/>
              </a:spcBef>
              <a:buFont typeface="Arial" panose="020B0604020202020204" pitchFamily="34" charset="0"/>
              <a:defRPr sz="1600" b="1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2pPr>
            <a:lvl3pPr marL="11430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3pPr>
            <a:lvl4pPr marL="16002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4pPr>
            <a:lvl5pPr marL="20574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dirty="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、实验报告撰写总体要求</a:t>
            </a:r>
            <a:endParaRPr lang="zh-CN" altLang="en-US" sz="4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3809984" y="214290"/>
            <a:ext cx="4754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800"/>
              </a:spcBef>
              <a:buFont typeface="Arial" panose="020B0604020202020204" pitchFamily="34" charset="0"/>
              <a:defRPr sz="1600" b="1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2pPr>
            <a:lvl3pPr marL="11430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3pPr>
            <a:lvl4pPr marL="16002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4pPr>
            <a:lvl5pPr marL="2057400" indent="-228600" eaLnBrk="0" hangingPunct="0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Franklin Gothic Book" panose="020B05030201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实验报告撰写总体要求</a:t>
            </a:r>
            <a:endParaRPr lang="zh-CN" altLang="en-US" sz="36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ine 79"/>
          <p:cNvSpPr>
            <a:spLocks noChangeShapeType="1"/>
          </p:cNvSpPr>
          <p:nvPr/>
        </p:nvSpPr>
        <p:spPr bwMode="auto">
          <a:xfrm flipV="1">
            <a:off x="2063750" y="928688"/>
            <a:ext cx="8064500" cy="238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TABLE_BEAUTIFY" val="smartTable{f40ea50c-1958-4e23-9597-d9bbe644cd02}"/>
  <p:tag name="TABLE_ENDDRAG_ORIGIN_RECT" val="761*372"/>
  <p:tag name="TABLE_ENDDRAG_RECT" val="150*117*761*372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UNIT_TABLE_BEAUTIFY" val="smartTable{9499eed0-b7ae-47ad-a9c0-7e3249a00b01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24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25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26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27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28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29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30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31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32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33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34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35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551.2999212598426}"/>
</p:tagLst>
</file>

<file path=ppt/tags/tag36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37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38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39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0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1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2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3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4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5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6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7.xml><?xml version="1.0" encoding="utf-8"?>
<p:tagLst xmlns:p="http://schemas.openxmlformats.org/presentationml/2006/main">
  <p:tag name="KSO_WM_DIAGRAM_VIRTUALLY_FRAME" val="{&quot;height&quot;:219.97007874015748,&quot;left&quot;:88.75992125984251,&quot;top&quot;:308.7422047244094,&quot;width&quot;:715.8421259842519}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PP_MARK_KEY" val="44c5c4b7-02fb-4a1b-a1c1-e8a1b749a251"/>
  <p:tag name="COMMONDATA" val="eyJoZGlkIjoiMDJkNTM0YTYzMTY3YTFlZTUxYTA5NWYzMWI3NzUzMTMifQ=="/>
  <p:tag name="commondata" val="eyJoZGlkIjoiNjM3MTQ4MGJjOTZlNjQzZTNhMzM2MDdjMWJhODk5M2QifQ=="/>
  <p:tag name="resource_record_key" val="{&quot;13&quot;:[4364974]}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复活节模板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复活节模板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7961" dir="2700000" algn="ctr" rotWithShape="0">
            <a:schemeClr val="accent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Lucida Sans Unicode" panose="020B0602030504020204" pitchFamily="34" charset="0"/>
            <a:ea typeface="Gulim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7961" dir="2700000" algn="ctr" rotWithShape="0">
            <a:schemeClr val="accent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Lucida Sans Unicode" panose="020B0602030504020204" pitchFamily="34" charset="0"/>
            <a:ea typeface="Gulim" panose="020B0600000101010101" pitchFamily="34" charset="-127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8631</Words>
  <Application>WPS 演示</Application>
  <PresentationFormat>全屏显示(4:3)</PresentationFormat>
  <Paragraphs>1022</Paragraphs>
  <Slides>49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49</vt:i4>
      </vt:variant>
    </vt:vector>
  </HeadingPairs>
  <TitlesOfParts>
    <vt:vector size="93" baseType="lpstr">
      <vt:lpstr>Arial</vt:lpstr>
      <vt:lpstr>宋体</vt:lpstr>
      <vt:lpstr>Wingdings</vt:lpstr>
      <vt:lpstr>Lucida Sans Unicode</vt:lpstr>
      <vt:lpstr>Gulim</vt:lpstr>
      <vt:lpstr>Malgun Gothic</vt:lpstr>
      <vt:lpstr>Calibri</vt:lpstr>
      <vt:lpstr>微软雅黑</vt:lpstr>
      <vt:lpstr>Franklin Gothic Book</vt:lpstr>
      <vt:lpstr>幼圆</vt:lpstr>
      <vt:lpstr>Wingdings 2</vt:lpstr>
      <vt:lpstr>华文隶书</vt:lpstr>
      <vt:lpstr>Times New Roman</vt:lpstr>
      <vt:lpstr>华文楷体</vt:lpstr>
      <vt:lpstr>黑体</vt:lpstr>
      <vt:lpstr>楷体_GB2312</vt:lpstr>
      <vt:lpstr>新宋体</vt:lpstr>
      <vt:lpstr>华文中宋</vt:lpstr>
      <vt:lpstr>Arial Unicode MS</vt:lpstr>
      <vt:lpstr>Perpetua</vt:lpstr>
      <vt:lpstr>Verdana</vt:lpstr>
      <vt:lpstr>Symbol</vt:lpstr>
      <vt:lpstr>Cambria Math</vt:lpstr>
      <vt:lpstr>MS Mincho</vt:lpstr>
      <vt:lpstr>仿宋</vt:lpstr>
      <vt:lpstr>Tahoma</vt:lpstr>
      <vt:lpstr>Verdana</vt:lpstr>
      <vt:lpstr>Wingdings</vt:lpstr>
      <vt:lpstr>Segoe Print</vt:lpstr>
      <vt:lpstr>方正书宋简体</vt:lpstr>
      <vt:lpstr>方正黑体简体</vt:lpstr>
      <vt:lpstr>Times New Roman BOLD</vt:lpstr>
      <vt:lpstr>Times</vt:lpstr>
      <vt:lpstr>Times</vt:lpstr>
      <vt:lpstr>Franklin Gothic Book</vt:lpstr>
      <vt:lpstr>隶书</vt:lpstr>
      <vt:lpstr>复活节模板</vt:lpstr>
      <vt:lpstr>平衡</vt:lpstr>
      <vt:lpstr>1_平衡</vt:lpstr>
      <vt:lpstr>PBrush</vt:lpstr>
      <vt:lpstr>Equation.3</vt:lpstr>
      <vt:lpstr>Equation.DSMT4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原理清楚，公式正确，图形正确，文字说明齐全;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dhc</dc:creator>
  <cp:lastModifiedBy>HONOR</cp:lastModifiedBy>
  <cp:revision>917</cp:revision>
  <dcterms:created xsi:type="dcterms:W3CDTF">2014-11-22T08:30:00Z</dcterms:created>
  <dcterms:modified xsi:type="dcterms:W3CDTF">2026-03-03T07:57:10Z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9AD76DF3F704457890293C97C4F75AFA_13</vt:lpwstr>
  </property>
</Properties>
</file>